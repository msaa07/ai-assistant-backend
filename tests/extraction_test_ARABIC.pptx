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bar"/>
        <c:grouping val="clustered"/>
        <c:varyColors val="0"/>
        <c:ser>
          <c:idx val="0"/>
          <c:order val="0"/>
          <c:tx>
            <c:strRef>
              <c:f>Sheet1!$B$1</c:f>
              <c:strCache>
                <c:ptCount val="1"/>
                <c:pt idx="0">
                  <c:v>log₁₀(|القيمة بوحدات SI|)</c:v>
                </c:pt>
              </c:strCache>
            </c:strRef>
          </c:tx>
          <c:spPr>
            <a:solidFill>
              <a:srgbClr val="0B3D2E"/>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cat>
            <c:multiLvlStrRef>
              <c:f>Sheet1!$A$2:$A$8</c:f>
              <c:multiLvlStrCache>
                <c:ptCount val="7"/>
                <c:lvl>
                  <c:pt idx="0">
                    <c:v>سرعة الضوء c</c:v>
                  </c:pt>
                  <c:pt idx="1">
                    <c:v>عدد أفوغادرو Nₐ</c:v>
                  </c:pt>
                  <c:pt idx="2">
                    <c:v>بولتزمان k_B</c:v>
                  </c:pt>
                  <c:pt idx="3">
                    <c:v>بلانك h</c:v>
                  </c:pt>
                  <c:pt idx="4">
                    <c:v>شحنة الإلكترون e</c:v>
                  </c:pt>
                  <c:pt idx="5">
                    <c:v>ثابت الجاذبية G</c:v>
                  </c:pt>
                  <c:pt idx="6">
                    <c:v>كتلة الإلكترون mₑ</c:v>
                  </c:pt>
                </c:lvl>
              </c:multiLvlStrCache>
            </c:multiLvlStrRef>
          </c:cat>
          <c:val>
            <c:numRef>
              <c:f>Sheet1!$B$2:$B$8</c:f>
              <c:numCache>
                <c:formatCode>General</c:formatCode>
                <c:ptCount val="7"/>
                <c:pt idx="0">
                  <c:v>8.48</c:v>
                </c:pt>
                <c:pt idx="1">
                  <c:v>23.78</c:v>
                </c:pt>
                <c:pt idx="2">
                  <c:v>-22.87</c:v>
                </c:pt>
                <c:pt idx="3">
                  <c:v>-33.58</c:v>
                </c:pt>
                <c:pt idx="4">
                  <c:v>-19.3</c:v>
                </c:pt>
                <c:pt idx="5">
                  <c:v>-10.18</c:v>
                </c:pt>
                <c:pt idx="6">
                  <c:v>-30.04</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C3E5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D5DBD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7F8C8D"/>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7F9F7"/>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2E"/>
        </a:solidFill>
      </p:bgPr>
    </p:bg>
    <p:spTree>
      <p:nvGrpSpPr>
        <p:cNvPr id="1" name=""/>
        <p:cNvGrpSpPr/>
        <p:nvPr/>
      </p:nvGrpSpPr>
      <p:grpSpPr>
        <a:xfrm>
          <a:off x="0" y="0"/>
          <a:ext cx="0" cy="0"/>
          <a:chOff x="0" y="0"/>
          <a:chExt cx="0" cy="0"/>
        </a:xfrm>
      </p:grpSpPr>
      <p:sp>
        <p:nvSpPr>
          <p:cNvPr id="2" name="Shape 0"/>
          <p:cNvSpPr/>
          <p:nvPr/>
        </p:nvSpPr>
        <p:spPr>
          <a:xfrm>
            <a:off x="0" y="4389120"/>
            <a:ext cx="9144000" cy="754380"/>
          </a:xfrm>
          <a:prstGeom prst="rect">
            <a:avLst/>
          </a:prstGeom>
          <a:solidFill>
            <a:srgbClr val="C9A84C"/>
          </a:solidFill>
          <a:ln/>
        </p:spPr>
      </p:sp>
      <p:sp>
        <p:nvSpPr>
          <p:cNvPr id="3" name="Text 1"/>
          <p:cNvSpPr/>
          <p:nvPr/>
        </p:nvSpPr>
        <p:spPr>
          <a:xfrm>
            <a:off x="365760" y="914400"/>
            <a:ext cx="8412480" cy="2377440"/>
          </a:xfrm>
          <a:prstGeom prst="rect">
            <a:avLst/>
          </a:prstGeom>
          <a:noFill/>
          <a:ln/>
        </p:spPr>
        <p:txBody>
          <a:bodyPr wrap="square" rtlCol="0" anchor="ctr"/>
          <a:lstStyle/>
          <a:p>
            <a:pPr rtl="1" algn="r" indent="0" marL="0">
              <a:buNone/>
            </a:pPr>
            <a:r>
              <a:rPr lang="en-US" sz="3400" b="1" dirty="0">
                <a:solidFill>
                  <a:srgbClr val="FFFFFF"/>
                </a:solidFill>
                <a:latin typeface="Arial" pitchFamily="34" charset="0"/>
                <a:ea typeface="Arial" pitchFamily="34" charset="-122"/>
                <a:cs typeface="Arial" pitchFamily="34" charset="-120"/>
              </a:rPr>
              <a:t>وثيقة اختبار الاستخراج المتقدم</a:t>
            </a:r>
            <a:endParaRPr lang="en-US" sz="3400" dirty="0"/>
          </a:p>
          <a:p>
            <a:pPr rtl="1" algn="r" indent="0" marL="0">
              <a:buNone/>
            </a:pPr>
            <a:r>
              <a:rPr lang="en-US" sz="3400" b="1" dirty="0">
                <a:solidFill>
                  <a:srgbClr val="FFFFFF"/>
                </a:solidFill>
                <a:latin typeface="Arial" pitchFamily="34" charset="0"/>
                <a:ea typeface="Arial" pitchFamily="34" charset="-122"/>
                <a:cs typeface="Arial" pitchFamily="34" charset="-120"/>
              </a:rPr>
              <a:t>العلوم والرياضيات</a:t>
            </a:r>
            <a:endParaRPr lang="en-US" sz="3400" dirty="0"/>
          </a:p>
        </p:txBody>
      </p:sp>
      <p:sp>
        <p:nvSpPr>
          <p:cNvPr id="4" name="Text 2"/>
          <p:cNvSpPr/>
          <p:nvPr/>
        </p:nvSpPr>
        <p:spPr>
          <a:xfrm>
            <a:off x="365760" y="3383280"/>
            <a:ext cx="8412480" cy="731520"/>
          </a:xfrm>
          <a:prstGeom prst="rect">
            <a:avLst/>
          </a:prstGeom>
          <a:noFill/>
          <a:ln/>
        </p:spPr>
        <p:txBody>
          <a:bodyPr wrap="square" rtlCol="0" anchor="ctr"/>
          <a:lstStyle/>
          <a:p>
            <a:pPr rtl="1" algn="r" indent="0" marL="0">
              <a:buNone/>
            </a:pPr>
            <a:r>
              <a:rPr lang="en-US" sz="1700" dirty="0">
                <a:solidFill>
                  <a:srgbClr val="F5E6B8"/>
                </a:solidFill>
                <a:latin typeface="Arial" pitchFamily="34" charset="0"/>
                <a:ea typeface="Arial" pitchFamily="34" charset="-122"/>
                <a:cs typeface="Arial" pitchFamily="34" charset="-120"/>
              </a:rPr>
              <a:t>٤٠ شريحة مكثفة · معادلات · جداول · مخططات · محتوى مختلط</a:t>
            </a:r>
            <a:endParaRPr lang="en-US" sz="1700" dirty="0"/>
          </a:p>
        </p:txBody>
      </p:sp>
      <p:sp>
        <p:nvSpPr>
          <p:cNvPr id="5" name="Text 3"/>
          <p:cNvSpPr/>
          <p:nvPr/>
        </p:nvSpPr>
        <p:spPr>
          <a:xfrm>
            <a:off x="365760" y="4480560"/>
            <a:ext cx="8412480" cy="548640"/>
          </a:xfrm>
          <a:prstGeom prst="rect">
            <a:avLst/>
          </a:prstGeom>
          <a:noFill/>
          <a:ln/>
        </p:spPr>
        <p:txBody>
          <a:bodyPr wrap="square" rtlCol="0" anchor="ctr"/>
          <a:lstStyle/>
          <a:p>
            <a:pPr rtl="1" algn="r" indent="0" marL="0">
              <a:buNone/>
            </a:pPr>
            <a:r>
              <a:rPr lang="en-US" sz="1300" dirty="0">
                <a:solidFill>
                  <a:srgbClr val="FFFFFF"/>
                </a:solidFill>
                <a:latin typeface="Arial" pitchFamily="34" charset="0"/>
                <a:ea typeface="Arial" pitchFamily="34" charset="-122"/>
                <a:cs typeface="Arial" pitchFamily="34" charset="-120"/>
              </a:rPr>
              <a:t>مجموعة اختبار الاستخراج - Studymaxing  |  النسخة العربية</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3A4A"/>
        </a:solidFill>
      </p:bgPr>
    </p:bg>
    <p:spTree>
      <p:nvGrpSpPr>
        <p:cNvPr id="1" name=""/>
        <p:cNvGrpSpPr/>
        <p:nvPr/>
      </p:nvGrpSpPr>
      <p:grpSpPr>
        <a:xfrm>
          <a:off x="0" y="0"/>
          <a:ext cx="0" cy="0"/>
          <a:chOff x="0" y="0"/>
          <a:chExt cx="0" cy="0"/>
        </a:xfrm>
      </p:grpSpPr>
      <p:sp>
        <p:nvSpPr>
          <p:cNvPr id="2" name="Shape 0"/>
          <p:cNvSpPr/>
          <p:nvPr/>
        </p:nvSpPr>
        <p:spPr>
          <a:xfrm>
            <a:off x="9034272" y="0"/>
            <a:ext cx="109728" cy="5143500"/>
          </a:xfrm>
          <a:prstGeom prst="rect">
            <a:avLst/>
          </a:prstGeom>
          <a:solidFill>
            <a:srgbClr val="C9A84C"/>
          </a:solidFill>
          <a:ln/>
        </p:spPr>
      </p:sp>
      <p:sp>
        <p:nvSpPr>
          <p:cNvPr id="3" name="Text 1"/>
          <p:cNvSpPr/>
          <p:nvPr/>
        </p:nvSpPr>
        <p:spPr>
          <a:xfrm>
            <a:off x="365760" y="914400"/>
            <a:ext cx="8412480" cy="548640"/>
          </a:xfrm>
          <a:prstGeom prst="rect">
            <a:avLst/>
          </a:prstGeom>
          <a:noFill/>
          <a:ln/>
        </p:spPr>
        <p:txBody>
          <a:bodyPr wrap="square" rtlCol="0" anchor="ctr"/>
          <a:lstStyle/>
          <a:p>
            <a:pPr rtl="1" algn="r" indent="0" marL="0">
              <a:buNone/>
            </a:pPr>
            <a:r>
              <a:rPr lang="en-US" sz="1600" b="1" spc="300" kern="0" dirty="0">
                <a:solidFill>
                  <a:srgbClr val="C9A84C"/>
                </a:solidFill>
                <a:latin typeface="Arial" pitchFamily="34" charset="0"/>
                <a:ea typeface="Arial" pitchFamily="34" charset="-122"/>
                <a:cs typeface="Arial" pitchFamily="34" charset="-120"/>
              </a:rPr>
              <a:t>القسم الأول</a:t>
            </a:r>
            <a:endParaRPr lang="en-US" sz="1600" dirty="0"/>
          </a:p>
        </p:txBody>
      </p:sp>
      <p:sp>
        <p:nvSpPr>
          <p:cNvPr id="4" name="Text 2"/>
          <p:cNvSpPr/>
          <p:nvPr/>
        </p:nvSpPr>
        <p:spPr>
          <a:xfrm>
            <a:off x="365760" y="1463040"/>
            <a:ext cx="8412480" cy="1371600"/>
          </a:xfrm>
          <a:prstGeom prst="rect">
            <a:avLst/>
          </a:prstGeom>
          <a:noFill/>
          <a:ln/>
        </p:spPr>
        <p:txBody>
          <a:bodyPr wrap="square" rtlCol="0" anchor="ctr"/>
          <a:lstStyle/>
          <a:p>
            <a:pPr rtl="1" algn="r" indent="0" marL="0">
              <a:buNone/>
            </a:pPr>
            <a:r>
              <a:rPr lang="en-US" sz="3200" b="1" dirty="0">
                <a:solidFill>
                  <a:srgbClr val="FFFFFF"/>
                </a:solidFill>
                <a:latin typeface="Arial" pitchFamily="34" charset="0"/>
                <a:ea typeface="Arial" pitchFamily="34" charset="-122"/>
                <a:cs typeface="Arial" pitchFamily="34" charset="-120"/>
              </a:rPr>
              <a:t>الميكانيكا الكلاسيكية</a:t>
            </a:r>
            <a:endParaRPr lang="en-US" sz="3200" dirty="0"/>
          </a:p>
        </p:txBody>
      </p:sp>
      <p:sp>
        <p:nvSpPr>
          <p:cNvPr id="5" name="Text 3"/>
          <p:cNvSpPr/>
          <p:nvPr/>
        </p:nvSpPr>
        <p:spPr>
          <a:xfrm>
            <a:off x="365760" y="2834640"/>
            <a:ext cx="8412480" cy="822960"/>
          </a:xfrm>
          <a:prstGeom prst="rect">
            <a:avLst/>
          </a:prstGeom>
          <a:noFill/>
          <a:ln/>
        </p:spPr>
        <p:txBody>
          <a:bodyPr wrap="square" rtlCol="0" anchor="ctr"/>
          <a:lstStyle/>
          <a:p>
            <a:pPr rtl="1" algn="r" indent="0" marL="0">
              <a:buNone/>
            </a:pPr>
            <a:r>
              <a:rPr lang="en-US" sz="1500" dirty="0">
                <a:solidFill>
                  <a:srgbClr val="F5E6B8"/>
                </a:solidFill>
                <a:latin typeface="Arial" pitchFamily="34" charset="0"/>
                <a:ea typeface="Arial" pitchFamily="34" charset="-122"/>
                <a:cs typeface="Arial" pitchFamily="34" charset="-120"/>
              </a:rPr>
              <a:t>ديناميكيات نيوتن، الشغل والطاقة، والحركة الدورانية</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4A"/>
          </a:solidFill>
          <a:ln/>
        </p:spPr>
      </p:sp>
      <p:sp>
        <p:nvSpPr>
          <p:cNvPr id="3" name="Text 1"/>
          <p:cNvSpPr/>
          <p:nvPr/>
        </p:nvSpPr>
        <p:spPr>
          <a:xfrm>
            <a:off x="274320" y="45720"/>
            <a:ext cx="8595360" cy="594360"/>
          </a:xfrm>
          <a:prstGeom prst="rect">
            <a:avLst/>
          </a:prstGeom>
          <a:noFill/>
          <a:ln/>
        </p:spPr>
        <p:txBody>
          <a:bodyPr wrap="square" rtlCol="0" anchor="ctr"/>
          <a:lstStyle/>
          <a:p>
            <a:pPr rtl="1" algn="r" indent="0" marL="0">
              <a:buNone/>
            </a:pPr>
            <a:r>
              <a:rPr lang="en-US" sz="1900" b="1" dirty="0">
                <a:solidFill>
                  <a:srgbClr val="FFFFFF"/>
                </a:solidFill>
                <a:latin typeface="Arial" pitchFamily="34" charset="0"/>
                <a:ea typeface="Arial" pitchFamily="34" charset="-122"/>
                <a:cs typeface="Arial" pitchFamily="34" charset="-120"/>
              </a:rPr>
              <a:t>قوانين نيوتن للحركة – الصياغات الرسمية والمعادلات</a:t>
            </a:r>
            <a:endParaRPr lang="en-US" sz="1900" dirty="0"/>
          </a:p>
        </p:txBody>
      </p:sp>
      <p:sp>
        <p:nvSpPr>
          <p:cNvPr id="4" name="Shape 2"/>
          <p:cNvSpPr/>
          <p:nvPr/>
        </p:nvSpPr>
        <p:spPr>
          <a:xfrm>
            <a:off x="457200" y="822960"/>
            <a:ext cx="8229600" cy="502920"/>
          </a:xfrm>
          <a:prstGeom prst="rect">
            <a:avLst/>
          </a:prstGeom>
          <a:solidFill>
            <a:srgbClr val="F0F3F4"/>
          </a:solidFill>
          <a:ln w="19050">
            <a:solidFill>
              <a:srgbClr val="C9A84C"/>
            </a:solidFill>
            <a:prstDash val="solid"/>
          </a:ln>
        </p:spPr>
      </p:sp>
      <p:sp>
        <p:nvSpPr>
          <p:cNvPr id="5" name="Text 3"/>
          <p:cNvSpPr/>
          <p:nvPr/>
        </p:nvSpPr>
        <p:spPr>
          <a:xfrm>
            <a:off x="548640" y="85039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القانون الأول (القصور الذاتي):  ΣF = 0  ⟹  v = ثابت</a:t>
            </a:r>
            <a:endParaRPr lang="en-US" sz="1300" dirty="0"/>
          </a:p>
        </p:txBody>
      </p:sp>
      <p:sp>
        <p:nvSpPr>
          <p:cNvPr id="6" name="Shape 4"/>
          <p:cNvSpPr/>
          <p:nvPr/>
        </p:nvSpPr>
        <p:spPr>
          <a:xfrm>
            <a:off x="457200" y="1417320"/>
            <a:ext cx="8229600" cy="502920"/>
          </a:xfrm>
          <a:prstGeom prst="rect">
            <a:avLst/>
          </a:prstGeom>
          <a:solidFill>
            <a:srgbClr val="F0F3F4"/>
          </a:solidFill>
          <a:ln w="19050">
            <a:solidFill>
              <a:srgbClr val="C9A84C"/>
            </a:solidFill>
            <a:prstDash val="solid"/>
          </a:ln>
        </p:spPr>
      </p:sp>
      <p:sp>
        <p:nvSpPr>
          <p:cNvPr id="7" name="Text 5"/>
          <p:cNvSpPr/>
          <p:nvPr/>
        </p:nvSpPr>
        <p:spPr>
          <a:xfrm>
            <a:off x="548640" y="144475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القانون الثاني:  F = ma  ⟹  F = dp/dt  (p = mv)</a:t>
            </a:r>
            <a:endParaRPr lang="en-US" sz="1300" dirty="0"/>
          </a:p>
        </p:txBody>
      </p:sp>
      <p:sp>
        <p:nvSpPr>
          <p:cNvPr id="8" name="Shape 6"/>
          <p:cNvSpPr/>
          <p:nvPr/>
        </p:nvSpPr>
        <p:spPr>
          <a:xfrm>
            <a:off x="457200" y="2011680"/>
            <a:ext cx="8229600" cy="502920"/>
          </a:xfrm>
          <a:prstGeom prst="rect">
            <a:avLst/>
          </a:prstGeom>
          <a:solidFill>
            <a:srgbClr val="F0F3F4"/>
          </a:solidFill>
          <a:ln w="19050">
            <a:solidFill>
              <a:srgbClr val="C9A84C"/>
            </a:solidFill>
            <a:prstDash val="solid"/>
          </a:ln>
        </p:spPr>
      </p:sp>
      <p:sp>
        <p:nvSpPr>
          <p:cNvPr id="9" name="Text 7"/>
          <p:cNvSpPr/>
          <p:nvPr/>
        </p:nvSpPr>
        <p:spPr>
          <a:xfrm>
            <a:off x="548640" y="203911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القانون الثالث:  F₁₂ = −F₂₁  (زوج الفعل ورد الفعل)</a:t>
            </a:r>
            <a:endParaRPr lang="en-US" sz="1300" dirty="0"/>
          </a:p>
        </p:txBody>
      </p:sp>
      <p:sp>
        <p:nvSpPr>
          <p:cNvPr id="10" name="Shape 8"/>
          <p:cNvSpPr/>
          <p:nvPr/>
        </p:nvSpPr>
        <p:spPr>
          <a:xfrm>
            <a:off x="457200" y="2606040"/>
            <a:ext cx="8229600" cy="502920"/>
          </a:xfrm>
          <a:prstGeom prst="rect">
            <a:avLst/>
          </a:prstGeom>
          <a:solidFill>
            <a:srgbClr val="F0F3F4"/>
          </a:solidFill>
          <a:ln w="19050">
            <a:solidFill>
              <a:srgbClr val="C9A84C"/>
            </a:solidFill>
            <a:prstDash val="solid"/>
          </a:ln>
        </p:spPr>
      </p:sp>
      <p:sp>
        <p:nvSpPr>
          <p:cNvPr id="11" name="Text 9"/>
          <p:cNvSpPr/>
          <p:nvPr/>
        </p:nvSpPr>
        <p:spPr>
          <a:xfrm>
            <a:off x="548640" y="263347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كمية الحركة:  p = mv  ؛  الدفع J = ΔP = F·Δt</a:t>
            </a:r>
            <a:endParaRPr lang="en-US" sz="1300" dirty="0"/>
          </a:p>
        </p:txBody>
      </p:sp>
      <p:sp>
        <p:nvSpPr>
          <p:cNvPr id="12" name="Shape 10"/>
          <p:cNvSpPr/>
          <p:nvPr/>
        </p:nvSpPr>
        <p:spPr>
          <a:xfrm>
            <a:off x="457200" y="3200400"/>
            <a:ext cx="8229600" cy="502920"/>
          </a:xfrm>
          <a:prstGeom prst="rect">
            <a:avLst/>
          </a:prstGeom>
          <a:solidFill>
            <a:srgbClr val="F0F3F4"/>
          </a:solidFill>
          <a:ln w="19050">
            <a:solidFill>
              <a:srgbClr val="C9A84C"/>
            </a:solidFill>
            <a:prstDash val="solid"/>
          </a:ln>
        </p:spPr>
      </p:sp>
      <p:sp>
        <p:nvSpPr>
          <p:cNvPr id="13" name="Text 11"/>
          <p:cNvSpPr/>
          <p:nvPr/>
        </p:nvSpPr>
        <p:spPr>
          <a:xfrm>
            <a:off x="548640" y="322783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نظرية الشغل والطاقة:  W_net = ΔKE = ½mv₂² − ½mv₁²</a:t>
            </a:r>
            <a:endParaRPr lang="en-US" sz="1300" dirty="0"/>
          </a:p>
        </p:txBody>
      </p:sp>
      <p:sp>
        <p:nvSpPr>
          <p:cNvPr id="14" name="Shape 12"/>
          <p:cNvSpPr/>
          <p:nvPr/>
        </p:nvSpPr>
        <p:spPr>
          <a:xfrm>
            <a:off x="457200" y="3794760"/>
            <a:ext cx="8229600" cy="502920"/>
          </a:xfrm>
          <a:prstGeom prst="rect">
            <a:avLst/>
          </a:prstGeom>
          <a:solidFill>
            <a:srgbClr val="F0F3F4"/>
          </a:solidFill>
          <a:ln w="19050">
            <a:solidFill>
              <a:srgbClr val="C9A84C"/>
            </a:solidFill>
            <a:prstDash val="solid"/>
          </a:ln>
        </p:spPr>
      </p:sp>
      <p:sp>
        <p:nvSpPr>
          <p:cNvPr id="15" name="Text 13"/>
          <p:cNvSpPr/>
          <p:nvPr/>
        </p:nvSpPr>
        <p:spPr>
          <a:xfrm>
            <a:off x="548640" y="382219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القدرة:  P = dW/dt = F·v·cos(θ)</a:t>
            </a:r>
            <a:endParaRPr lang="en-US" sz="1300" dirty="0"/>
          </a:p>
        </p:txBody>
      </p:sp>
      <p:sp>
        <p:nvSpPr>
          <p:cNvPr id="16" name="Text 14"/>
          <p:cNvSpPr/>
          <p:nvPr/>
        </p:nvSpPr>
        <p:spPr>
          <a:xfrm>
            <a:off x="457200" y="4389120"/>
            <a:ext cx="8229600" cy="480060"/>
          </a:xfrm>
          <a:prstGeom prst="rect">
            <a:avLst/>
          </a:prstGeom>
          <a:noFill/>
          <a:ln/>
        </p:spPr>
        <p:txBody>
          <a:bodyPr wrap="square" rtlCol="0" anchor="ctr"/>
          <a:lstStyle/>
          <a:p>
            <a:pPr rtl="1" algn="r" indent="0" marL="0">
              <a:buNone/>
            </a:pPr>
            <a:r>
              <a:rPr lang="en-US" sz="1200" dirty="0">
                <a:solidFill>
                  <a:srgbClr val="2C3E50"/>
                </a:solidFill>
                <a:latin typeface="Arial" pitchFamily="34" charset="0"/>
                <a:ea typeface="Arial" pitchFamily="34" charset="-122"/>
                <a:cs typeface="Arial" pitchFamily="34" charset="-120"/>
              </a:rPr>
              <a:t>جميع الكميات متجهة ما لم تُكتب بالمائل. F هي القوة الخارجية الصافية، m هي الكتلة بالقصور الذاتي، وa هي التسارع اللحظي. تنطبق نظرية الشغل والطاقة عندما تكون القوى محافظة أو عندما يكون المسار محدداً. لا تصح هذه القوانين في إطارات الإسناد المتسارعة دون إضافة قوى خيالية.</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7"/>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3D2E"/>
          </a:solidFill>
          <a:ln/>
        </p:spPr>
      </p:sp>
      <p:sp>
        <p:nvSpPr>
          <p:cNvPr id="3" name="Text 1"/>
          <p:cNvSpPr/>
          <p:nvPr/>
        </p:nvSpPr>
        <p:spPr>
          <a:xfrm>
            <a:off x="274320" y="45720"/>
            <a:ext cx="8595360" cy="594360"/>
          </a:xfrm>
          <a:prstGeom prst="rect">
            <a:avLst/>
          </a:prstGeom>
          <a:noFill/>
          <a:ln/>
        </p:spPr>
        <p:txBody>
          <a:bodyPr wrap="square" rtlCol="0" anchor="ctr"/>
          <a:lstStyle/>
          <a:p>
            <a:pPr rtl="1" algn="r" indent="0" marL="0">
              <a:buNone/>
            </a:pPr>
            <a:r>
              <a:rPr lang="en-US" sz="1900" b="1" dirty="0">
                <a:solidFill>
                  <a:srgbClr val="FFFFFF"/>
                </a:solidFill>
                <a:latin typeface="Arial" pitchFamily="34" charset="0"/>
                <a:ea typeface="Arial" pitchFamily="34" charset="-122"/>
                <a:cs typeface="Arial" pitchFamily="34" charset="-120"/>
              </a:rPr>
              <a:t>معادلات الحركة بالتسارع الثابت – جدول مرجعي</a:t>
            </a:r>
            <a:endParaRPr lang="en-US" sz="1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74320" y="777240"/>
          <a:ext cx="8595360" cy="914400"/>
        </p:xfrm>
        <a:graphic>
          <a:graphicData uri="http://schemas.openxmlformats.org/drawingml/2006/table">
            <a:tbl>
              <a:tblPr/>
              <a:tblGrid>
                <a:gridCol w="2377440"/>
                <a:gridCol w="1828800"/>
                <a:gridCol w="1737360"/>
                <a:gridCol w="2651760"/>
              </a:tblGrid>
              <a:tr h="0">
                <a:tc>
                  <a:txBody>
                    <a:bodyPr/>
                    <a:lstStyle/>
                    <a:p>
                      <a:pPr algn="r" indent="0" marL="0">
                        <a:buNone/>
                      </a:pPr>
                      <a:r>
                        <a:rPr lang="en-US" sz="1100" b="1" dirty="0">
                          <a:solidFill>
                            <a:srgbClr val="FFFFFF"/>
                          </a:solidFill>
                        </a:rPr>
                        <a:t>المعادلة</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c>
                  <a:txBody>
                    <a:bodyPr/>
                    <a:lstStyle/>
                    <a:p>
                      <a:pPr algn="r" indent="0" marL="0">
                        <a:buNone/>
                      </a:pPr>
                      <a:r>
                        <a:rPr lang="en-US" sz="1100" b="1" dirty="0">
                          <a:solidFill>
                            <a:srgbClr val="FFFFFF"/>
                          </a:solidFill>
                        </a:rPr>
                        <a:t>المتغيرات المستخدمة</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c>
                  <a:txBody>
                    <a:bodyPr/>
                    <a:lstStyle/>
                    <a:p>
                      <a:pPr algn="r" indent="0" marL="0">
                        <a:buNone/>
                      </a:pPr>
                      <a:r>
                        <a:rPr lang="en-US" sz="1100" b="1" dirty="0">
                          <a:solidFill>
                            <a:srgbClr val="FFFFFF"/>
                          </a:solidFill>
                        </a:rPr>
                        <a:t>المتغير الغائب</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c>
                  <a:txBody>
                    <a:bodyPr/>
                    <a:lstStyle/>
                    <a:p>
                      <a:pPr algn="r" indent="0" marL="0">
                        <a:buNone/>
                      </a:pPr>
                      <a:r>
                        <a:rPr lang="en-US" sz="1100" b="1" dirty="0">
                          <a:solidFill>
                            <a:srgbClr val="FFFFFF"/>
                          </a:solidFill>
                        </a:rPr>
                        <a:t>ملاحظات</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r>
              <a:tr h="0">
                <a:tc>
                  <a:txBody>
                    <a:bodyPr/>
                    <a:lstStyle/>
                    <a:p>
                      <a:pPr algn="r" indent="0" marL="0">
                        <a:buNone/>
                      </a:pPr>
                      <a:r>
                        <a:rPr lang="en-US" sz="1100" dirty="0">
                          <a:solidFill>
                            <a:srgbClr val="2C3E50"/>
                          </a:solidFill>
                        </a:rPr>
                        <a:t>v = v₀ + at</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100" dirty="0">
                          <a:solidFill>
                            <a:srgbClr val="2C3E50"/>
                          </a:solidFill>
                        </a:rPr>
                        <a:t>v, v₀, a, t</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100" dirty="0">
                          <a:solidFill>
                            <a:srgbClr val="2C3E50"/>
                          </a:solidFill>
                        </a:rPr>
                        <a:t>x</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100" dirty="0">
                          <a:solidFill>
                            <a:srgbClr val="2C3E50"/>
                          </a:solidFill>
                        </a:rPr>
                        <a:t>علاقة السرعة والزمن المباشرة</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r h="0">
                <a:tc>
                  <a:txBody>
                    <a:bodyPr/>
                    <a:lstStyle/>
                    <a:p>
                      <a:pPr algn="r" indent="0" marL="0">
                        <a:buNone/>
                      </a:pPr>
                      <a:r>
                        <a:rPr lang="en-US" sz="1100" dirty="0">
                          <a:solidFill>
                            <a:srgbClr val="2C3E50"/>
                          </a:solidFill>
                        </a:rPr>
                        <a:t>x = v₀t + ½at²</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C3E50"/>
                          </a:solidFill>
                        </a:rPr>
                        <a:t>x, v₀, a, t</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C3E50"/>
                          </a:solidFill>
                        </a:rPr>
                        <a:t>v</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C3E50"/>
                          </a:solidFill>
                        </a:rPr>
                        <a:t>الإزاحة من السكون + التسارع</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r>
              <a:tr h="0">
                <a:tc>
                  <a:txBody>
                    <a:bodyPr/>
                    <a:lstStyle/>
                    <a:p>
                      <a:pPr algn="r" indent="0" marL="0">
                        <a:buNone/>
                      </a:pPr>
                      <a:r>
                        <a:rPr lang="en-US" sz="1100" dirty="0">
                          <a:solidFill>
                            <a:srgbClr val="2C3E50"/>
                          </a:solidFill>
                        </a:rPr>
                        <a:t>v² = v₀² + 2ax</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100" dirty="0">
                          <a:solidFill>
                            <a:srgbClr val="2C3E50"/>
                          </a:solidFill>
                        </a:rPr>
                        <a:t>v, v₀, a, x</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100" dirty="0">
                          <a:solidFill>
                            <a:srgbClr val="2C3E50"/>
                          </a:solidFill>
                        </a:rPr>
                        <a:t>t</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100" dirty="0">
                          <a:solidFill>
                            <a:srgbClr val="2C3E50"/>
                          </a:solidFill>
                        </a:rPr>
                        <a:t>سرعة-إزاحة (مستقلة عن الزمن)</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r h="0">
                <a:tc>
                  <a:txBody>
                    <a:bodyPr/>
                    <a:lstStyle/>
                    <a:p>
                      <a:pPr algn="r" indent="0" marL="0">
                        <a:buNone/>
                      </a:pPr>
                      <a:r>
                        <a:rPr lang="en-US" sz="1100" dirty="0">
                          <a:solidFill>
                            <a:srgbClr val="2C3E50"/>
                          </a:solidFill>
                        </a:rPr>
                        <a:t>x = ½(v + v₀)t</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C3E50"/>
                          </a:solidFill>
                        </a:rPr>
                        <a:t>x, v, v₀, t</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C3E50"/>
                          </a:solidFill>
                        </a:rPr>
                        <a:t>a</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C3E50"/>
                          </a:solidFill>
                        </a:rPr>
                        <a:t>صيغة متوسط السرعة</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r>
              <a:tr h="0">
                <a:tc>
                  <a:txBody>
                    <a:bodyPr/>
                    <a:lstStyle/>
                    <a:p>
                      <a:pPr algn="r" indent="0" marL="0">
                        <a:buNone/>
                      </a:pPr>
                      <a:r>
                        <a:rPr lang="en-US" sz="1100" dirty="0">
                          <a:solidFill>
                            <a:srgbClr val="2C3E50"/>
                          </a:solidFill>
                        </a:rPr>
                        <a:t>x = vt − ½at²</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100" dirty="0">
                          <a:solidFill>
                            <a:srgbClr val="2C3E50"/>
                          </a:solidFill>
                        </a:rPr>
                        <a:t>x, v, a, t</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100" dirty="0">
                          <a:solidFill>
                            <a:srgbClr val="2C3E50"/>
                          </a:solidFill>
                        </a:rPr>
                        <a:t>v₀</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100" dirty="0">
                          <a:solidFill>
                            <a:srgbClr val="2C3E50"/>
                          </a:solidFill>
                        </a:rPr>
                        <a:t>مفيدة عندما تكون السرعة الابتدائية مجهولة</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bl>
          </a:graphicData>
        </a:graphic>
      </p:graphicFrame>
      <p:sp>
        <p:nvSpPr>
          <p:cNvPr id="5" name="Text 2"/>
          <p:cNvSpPr/>
          <p:nvPr/>
        </p:nvSpPr>
        <p:spPr>
          <a:xfrm>
            <a:off x="274320" y="4663440"/>
            <a:ext cx="8595360" cy="365760"/>
          </a:xfrm>
          <a:prstGeom prst="rect">
            <a:avLst/>
          </a:prstGeom>
          <a:noFill/>
          <a:ln/>
        </p:spPr>
        <p:txBody>
          <a:bodyPr wrap="square" rtlCol="0" anchor="ctr"/>
          <a:lstStyle/>
          <a:p>
            <a:pPr rtl="1" algn="r" indent="0" marL="0">
              <a:buNone/>
            </a:pPr>
            <a:r>
              <a:rPr lang="en-US" sz="1000" i="1" dirty="0">
                <a:solidFill>
                  <a:srgbClr val="7F8C8D"/>
                </a:solidFill>
                <a:latin typeface="Arial" pitchFamily="34" charset="0"/>
                <a:ea typeface="Arial" pitchFamily="34" charset="-122"/>
                <a:cs typeface="Arial" pitchFamily="34" charset="-120"/>
              </a:rPr>
              <a:t>جميع المعادلات تفترض تسارعاً ثابتاً a. v₀ = السرعة الابتدائية، v = السرعة النهائية، x = الإزاحة، t = الزمن المنقضي.</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4A"/>
          </a:solidFill>
          <a:ln/>
        </p:spPr>
      </p:sp>
      <p:sp>
        <p:nvSpPr>
          <p:cNvPr id="3" name="Text 1"/>
          <p:cNvSpPr/>
          <p:nvPr/>
        </p:nvSpPr>
        <p:spPr>
          <a:xfrm>
            <a:off x="274320" y="45720"/>
            <a:ext cx="8595360" cy="594360"/>
          </a:xfrm>
          <a:prstGeom prst="rect">
            <a:avLst/>
          </a:prstGeom>
          <a:noFill/>
          <a:ln/>
        </p:spPr>
        <p:txBody>
          <a:bodyPr wrap="square" rtlCol="0" anchor="ctr"/>
          <a:lstStyle/>
          <a:p>
            <a:pPr rtl="1" algn="r" indent="0" marL="0">
              <a:buNone/>
            </a:pPr>
            <a:r>
              <a:rPr lang="en-US" sz="1900" b="1" dirty="0">
                <a:solidFill>
                  <a:srgbClr val="FFFFFF"/>
                </a:solidFill>
                <a:latin typeface="Arial" pitchFamily="34" charset="0"/>
                <a:ea typeface="Arial" pitchFamily="34" charset="-122"/>
                <a:cs typeface="Arial" pitchFamily="34" charset="-120"/>
              </a:rPr>
              <a:t>الديناميكا الدورانية – الكميات الزاوية وعزم الدوران</a:t>
            </a:r>
            <a:endParaRPr lang="en-US" sz="1900" dirty="0"/>
          </a:p>
        </p:txBody>
      </p:sp>
      <p:sp>
        <p:nvSpPr>
          <p:cNvPr id="4" name="Shape 2"/>
          <p:cNvSpPr/>
          <p:nvPr/>
        </p:nvSpPr>
        <p:spPr>
          <a:xfrm>
            <a:off x="457200" y="822960"/>
            <a:ext cx="8229600" cy="502920"/>
          </a:xfrm>
          <a:prstGeom prst="rect">
            <a:avLst/>
          </a:prstGeom>
          <a:solidFill>
            <a:srgbClr val="F0F3F4"/>
          </a:solidFill>
          <a:ln w="19050">
            <a:solidFill>
              <a:srgbClr val="C9A84C"/>
            </a:solidFill>
            <a:prstDash val="solid"/>
          </a:ln>
        </p:spPr>
      </p:sp>
      <p:sp>
        <p:nvSpPr>
          <p:cNvPr id="5" name="Text 3"/>
          <p:cNvSpPr/>
          <p:nvPr/>
        </p:nvSpPr>
        <p:spPr>
          <a:xfrm>
            <a:off x="548640" y="85039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عزم الدوران:  τ = r × F  ⟹  |τ| = rF sin(θ)  [نيوتن·متر]</a:t>
            </a:r>
            <a:endParaRPr lang="en-US" sz="1300" dirty="0"/>
          </a:p>
        </p:txBody>
      </p:sp>
      <p:sp>
        <p:nvSpPr>
          <p:cNvPr id="6" name="Shape 4"/>
          <p:cNvSpPr/>
          <p:nvPr/>
        </p:nvSpPr>
        <p:spPr>
          <a:xfrm>
            <a:off x="457200" y="1417320"/>
            <a:ext cx="8229600" cy="502920"/>
          </a:xfrm>
          <a:prstGeom prst="rect">
            <a:avLst/>
          </a:prstGeom>
          <a:solidFill>
            <a:srgbClr val="F0F3F4"/>
          </a:solidFill>
          <a:ln w="19050">
            <a:solidFill>
              <a:srgbClr val="C9A84C"/>
            </a:solidFill>
            <a:prstDash val="solid"/>
          </a:ln>
        </p:spPr>
      </p:sp>
      <p:sp>
        <p:nvSpPr>
          <p:cNvPr id="7" name="Text 5"/>
          <p:cNvSpPr/>
          <p:nvPr/>
        </p:nvSpPr>
        <p:spPr>
          <a:xfrm>
            <a:off x="548640" y="144475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زخم الدوران:  L = Iω  ؛  τ_net = dL/dt</a:t>
            </a:r>
            <a:endParaRPr lang="en-US" sz="1300" dirty="0"/>
          </a:p>
        </p:txBody>
      </p:sp>
      <p:sp>
        <p:nvSpPr>
          <p:cNvPr id="8" name="Shape 6"/>
          <p:cNvSpPr/>
          <p:nvPr/>
        </p:nvSpPr>
        <p:spPr>
          <a:xfrm>
            <a:off x="457200" y="2011680"/>
            <a:ext cx="8229600" cy="502920"/>
          </a:xfrm>
          <a:prstGeom prst="rect">
            <a:avLst/>
          </a:prstGeom>
          <a:solidFill>
            <a:srgbClr val="F0F3F4"/>
          </a:solidFill>
          <a:ln w="19050">
            <a:solidFill>
              <a:srgbClr val="C9A84C"/>
            </a:solidFill>
            <a:prstDash val="solid"/>
          </a:ln>
        </p:spPr>
      </p:sp>
      <p:sp>
        <p:nvSpPr>
          <p:cNvPr id="9" name="Text 7"/>
          <p:cNvSpPr/>
          <p:nvPr/>
        </p:nvSpPr>
        <p:spPr>
          <a:xfrm>
            <a:off x="548640" y="203911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طاقة حركة الدوران:  KE_rot = ½Iω²</a:t>
            </a:r>
            <a:endParaRPr lang="en-US" sz="1300" dirty="0"/>
          </a:p>
        </p:txBody>
      </p:sp>
      <p:sp>
        <p:nvSpPr>
          <p:cNvPr id="10" name="Shape 8"/>
          <p:cNvSpPr/>
          <p:nvPr/>
        </p:nvSpPr>
        <p:spPr>
          <a:xfrm>
            <a:off x="457200" y="2606040"/>
            <a:ext cx="8229600" cy="502920"/>
          </a:xfrm>
          <a:prstGeom prst="rect">
            <a:avLst/>
          </a:prstGeom>
          <a:solidFill>
            <a:srgbClr val="F0F3F4"/>
          </a:solidFill>
          <a:ln w="19050">
            <a:solidFill>
              <a:srgbClr val="C9A84C"/>
            </a:solidFill>
            <a:prstDash val="solid"/>
          </a:ln>
        </p:spPr>
      </p:sp>
      <p:sp>
        <p:nvSpPr>
          <p:cNvPr id="11" name="Text 9"/>
          <p:cNvSpPr/>
          <p:nvPr/>
        </p:nvSpPr>
        <p:spPr>
          <a:xfrm>
            <a:off x="548640" y="263347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عزم القصور الذاتي (قرص صلب):  I = ½MR²</a:t>
            </a:r>
            <a:endParaRPr lang="en-US" sz="1300" dirty="0"/>
          </a:p>
        </p:txBody>
      </p:sp>
      <p:sp>
        <p:nvSpPr>
          <p:cNvPr id="12" name="Shape 10"/>
          <p:cNvSpPr/>
          <p:nvPr/>
        </p:nvSpPr>
        <p:spPr>
          <a:xfrm>
            <a:off x="457200" y="3200400"/>
            <a:ext cx="8229600" cy="502920"/>
          </a:xfrm>
          <a:prstGeom prst="rect">
            <a:avLst/>
          </a:prstGeom>
          <a:solidFill>
            <a:srgbClr val="F0F3F4"/>
          </a:solidFill>
          <a:ln w="19050">
            <a:solidFill>
              <a:srgbClr val="C9A84C"/>
            </a:solidFill>
            <a:prstDash val="solid"/>
          </a:ln>
        </p:spPr>
      </p:sp>
      <p:sp>
        <p:nvSpPr>
          <p:cNvPr id="13" name="Text 11"/>
          <p:cNvSpPr/>
          <p:nvPr/>
        </p:nvSpPr>
        <p:spPr>
          <a:xfrm>
            <a:off x="548640" y="322783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عزم القصور الذاتي (كرة مجوفة):  I = (2/3)MR²</a:t>
            </a:r>
            <a:endParaRPr lang="en-US" sz="1300" dirty="0"/>
          </a:p>
        </p:txBody>
      </p:sp>
      <p:sp>
        <p:nvSpPr>
          <p:cNvPr id="14" name="Shape 12"/>
          <p:cNvSpPr/>
          <p:nvPr/>
        </p:nvSpPr>
        <p:spPr>
          <a:xfrm>
            <a:off x="457200" y="3794760"/>
            <a:ext cx="8229600" cy="502920"/>
          </a:xfrm>
          <a:prstGeom prst="rect">
            <a:avLst/>
          </a:prstGeom>
          <a:solidFill>
            <a:srgbClr val="F0F3F4"/>
          </a:solidFill>
          <a:ln w="19050">
            <a:solidFill>
              <a:srgbClr val="C9A84C"/>
            </a:solidFill>
            <a:prstDash val="solid"/>
          </a:ln>
        </p:spPr>
      </p:sp>
      <p:sp>
        <p:nvSpPr>
          <p:cNvPr id="15" name="Text 13"/>
          <p:cNvSpPr/>
          <p:nvPr/>
        </p:nvSpPr>
        <p:spPr>
          <a:xfrm>
            <a:off x="548640" y="382219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نظرية المحور الموازي:  I = I_cm + Md²</a:t>
            </a:r>
            <a:endParaRPr lang="en-US" sz="1300" dirty="0"/>
          </a:p>
        </p:txBody>
      </p:sp>
      <p:sp>
        <p:nvSpPr>
          <p:cNvPr id="16" name="Shape 14"/>
          <p:cNvSpPr/>
          <p:nvPr/>
        </p:nvSpPr>
        <p:spPr>
          <a:xfrm>
            <a:off x="457200" y="4389120"/>
            <a:ext cx="8229600" cy="502920"/>
          </a:xfrm>
          <a:prstGeom prst="rect">
            <a:avLst/>
          </a:prstGeom>
          <a:solidFill>
            <a:srgbClr val="F0F3F4"/>
          </a:solidFill>
          <a:ln w="19050">
            <a:solidFill>
              <a:srgbClr val="C9A84C"/>
            </a:solidFill>
            <a:prstDash val="solid"/>
          </a:ln>
        </p:spPr>
      </p:sp>
      <p:sp>
        <p:nvSpPr>
          <p:cNvPr id="17" name="Text 15"/>
          <p:cNvSpPr/>
          <p:nvPr/>
        </p:nvSpPr>
        <p:spPr>
          <a:xfrm>
            <a:off x="548640" y="441655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التدحرج بدون انزلاق:  v_cm = Rω  ؛  a_cm = Rα</a:t>
            </a:r>
            <a:endParaRPr lang="en-US" sz="1300" dirty="0"/>
          </a:p>
        </p:txBody>
      </p:sp>
      <p:sp>
        <p:nvSpPr>
          <p:cNvPr id="18" name="Text 16"/>
          <p:cNvSpPr/>
          <p:nvPr/>
        </p:nvSpPr>
        <p:spPr>
          <a:xfrm>
            <a:off x="457200" y="4983480"/>
            <a:ext cx="8229600" cy="-114300"/>
          </a:xfrm>
          <a:prstGeom prst="rect">
            <a:avLst/>
          </a:prstGeom>
          <a:noFill/>
          <a:ln/>
        </p:spPr>
        <p:txBody>
          <a:bodyPr wrap="square" rtlCol="0" anchor="ctr"/>
          <a:lstStyle/>
          <a:p>
            <a:pPr rtl="1" algn="r" indent="0" marL="0">
              <a:buNone/>
            </a:pPr>
            <a:r>
              <a:rPr lang="en-US" sz="1200" dirty="0">
                <a:solidFill>
                  <a:srgbClr val="2C3E50"/>
                </a:solidFill>
                <a:latin typeface="Arial" pitchFamily="34" charset="0"/>
                <a:ea typeface="Arial" pitchFamily="34" charset="-122"/>
                <a:cs typeface="Arial" pitchFamily="34" charset="-120"/>
              </a:rPr>
              <a:t>نظرية المحور الموازي تنقل محور الدوران بمسافة d عن مركز الكتلة. للأجسام المركبة، عزم القصور الذاتي تراكمي. لاحظ أن ω بالراديان/الثانية وα بالراديان/الثانية². تحقق دائماً من انطباق شرط التدحرج بدون انزلاق قبل استخدام v_cm = Rω.</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3A4A"/>
        </a:solidFill>
      </p:bgPr>
    </p:bg>
    <p:spTree>
      <p:nvGrpSpPr>
        <p:cNvPr id="1" name=""/>
        <p:cNvGrpSpPr/>
        <p:nvPr/>
      </p:nvGrpSpPr>
      <p:grpSpPr>
        <a:xfrm>
          <a:off x="0" y="0"/>
          <a:ext cx="0" cy="0"/>
          <a:chOff x="0" y="0"/>
          <a:chExt cx="0" cy="0"/>
        </a:xfrm>
      </p:grpSpPr>
      <p:sp>
        <p:nvSpPr>
          <p:cNvPr id="2" name="Shape 0"/>
          <p:cNvSpPr/>
          <p:nvPr/>
        </p:nvSpPr>
        <p:spPr>
          <a:xfrm>
            <a:off x="9034272" y="0"/>
            <a:ext cx="109728" cy="5143500"/>
          </a:xfrm>
          <a:prstGeom prst="rect">
            <a:avLst/>
          </a:prstGeom>
          <a:solidFill>
            <a:srgbClr val="C9A84C"/>
          </a:solidFill>
          <a:ln/>
        </p:spPr>
      </p:sp>
      <p:sp>
        <p:nvSpPr>
          <p:cNvPr id="3" name="Text 1"/>
          <p:cNvSpPr/>
          <p:nvPr/>
        </p:nvSpPr>
        <p:spPr>
          <a:xfrm>
            <a:off x="365760" y="914400"/>
            <a:ext cx="8412480" cy="548640"/>
          </a:xfrm>
          <a:prstGeom prst="rect">
            <a:avLst/>
          </a:prstGeom>
          <a:noFill/>
          <a:ln/>
        </p:spPr>
        <p:txBody>
          <a:bodyPr wrap="square" rtlCol="0" anchor="ctr"/>
          <a:lstStyle/>
          <a:p>
            <a:pPr rtl="1" algn="r" indent="0" marL="0">
              <a:buNone/>
            </a:pPr>
            <a:r>
              <a:rPr lang="en-US" sz="1600" b="1" spc="300" kern="0" dirty="0">
                <a:solidFill>
                  <a:srgbClr val="C9A84C"/>
                </a:solidFill>
                <a:latin typeface="Arial" pitchFamily="34" charset="0"/>
                <a:ea typeface="Arial" pitchFamily="34" charset="-122"/>
                <a:cs typeface="Arial" pitchFamily="34" charset="-120"/>
              </a:rPr>
              <a:t>القسم الثاني</a:t>
            </a:r>
            <a:endParaRPr lang="en-US" sz="1600" dirty="0"/>
          </a:p>
        </p:txBody>
      </p:sp>
      <p:sp>
        <p:nvSpPr>
          <p:cNvPr id="4" name="Text 2"/>
          <p:cNvSpPr/>
          <p:nvPr/>
        </p:nvSpPr>
        <p:spPr>
          <a:xfrm>
            <a:off x="365760" y="1463040"/>
            <a:ext cx="8412480" cy="1371600"/>
          </a:xfrm>
          <a:prstGeom prst="rect">
            <a:avLst/>
          </a:prstGeom>
          <a:noFill/>
          <a:ln/>
        </p:spPr>
        <p:txBody>
          <a:bodyPr wrap="square" rtlCol="0" anchor="ctr"/>
          <a:lstStyle/>
          <a:p>
            <a:pPr rtl="1" algn="r" indent="0" marL="0">
              <a:buNone/>
            </a:pPr>
            <a:r>
              <a:rPr lang="en-US" sz="3200" b="1" dirty="0">
                <a:solidFill>
                  <a:srgbClr val="FFFFFF"/>
                </a:solidFill>
                <a:latin typeface="Arial" pitchFamily="34" charset="0"/>
                <a:ea typeface="Arial" pitchFamily="34" charset="-122"/>
                <a:cs typeface="Arial" pitchFamily="34" charset="-120"/>
              </a:rPr>
              <a:t>الديناميكا الحرارية</a:t>
            </a:r>
            <a:endParaRPr lang="en-US" sz="3200" dirty="0"/>
          </a:p>
        </p:txBody>
      </p:sp>
      <p:sp>
        <p:nvSpPr>
          <p:cNvPr id="5" name="Text 3"/>
          <p:cNvSpPr/>
          <p:nvPr/>
        </p:nvSpPr>
        <p:spPr>
          <a:xfrm>
            <a:off x="365760" y="2834640"/>
            <a:ext cx="8412480" cy="822960"/>
          </a:xfrm>
          <a:prstGeom prst="rect">
            <a:avLst/>
          </a:prstGeom>
          <a:noFill/>
          <a:ln/>
        </p:spPr>
        <p:txBody>
          <a:bodyPr wrap="square" rtlCol="0" anchor="ctr"/>
          <a:lstStyle/>
          <a:p>
            <a:pPr rtl="1" algn="r" indent="0" marL="0">
              <a:buNone/>
            </a:pPr>
            <a:r>
              <a:rPr lang="en-US" sz="1500" dirty="0">
                <a:solidFill>
                  <a:srgbClr val="F5E6B8"/>
                </a:solidFill>
                <a:latin typeface="Arial" pitchFamily="34" charset="0"/>
                <a:ea typeface="Arial" pitchFamily="34" charset="-122"/>
                <a:cs typeface="Arial" pitchFamily="34" charset="-120"/>
              </a:rPr>
              <a:t>قوانين الحرارة والإنتروبيا والميكانيكا الإحصائية</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7"/>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3D2E"/>
          </a:solidFill>
          <a:ln/>
        </p:spPr>
      </p:sp>
      <p:sp>
        <p:nvSpPr>
          <p:cNvPr id="3" name="Text 1"/>
          <p:cNvSpPr/>
          <p:nvPr/>
        </p:nvSpPr>
        <p:spPr>
          <a:xfrm>
            <a:off x="274320" y="45720"/>
            <a:ext cx="8595360" cy="594360"/>
          </a:xfrm>
          <a:prstGeom prst="rect">
            <a:avLst/>
          </a:prstGeom>
          <a:noFill/>
          <a:ln/>
        </p:spPr>
        <p:txBody>
          <a:bodyPr wrap="square" rtlCol="0" anchor="ctr"/>
          <a:lstStyle/>
          <a:p>
            <a:pPr rtl="1" algn="r" indent="0" marL="0">
              <a:buNone/>
            </a:pPr>
            <a:r>
              <a:rPr lang="en-US" sz="1900" b="1" dirty="0">
                <a:solidFill>
                  <a:srgbClr val="FFFFFF"/>
                </a:solidFill>
                <a:latin typeface="Arial" pitchFamily="34" charset="0"/>
                <a:ea typeface="Arial" pitchFamily="34" charset="-122"/>
                <a:cs typeface="Arial" pitchFamily="34" charset="-120"/>
              </a:rPr>
              <a:t>القوانين الأربعة للديناميكا الحرارية – التعريفات والمعاني</a:t>
            </a:r>
            <a:endParaRPr lang="en-US" sz="1900" dirty="0"/>
          </a:p>
        </p:txBody>
      </p:sp>
      <p:sp>
        <p:nvSpPr>
          <p:cNvPr id="4" name="Text 2"/>
          <p:cNvSpPr/>
          <p:nvPr/>
        </p:nvSpPr>
        <p:spPr>
          <a:xfrm>
            <a:off x="365760" y="777240"/>
            <a:ext cx="8412480" cy="4023360"/>
          </a:xfrm>
          <a:prstGeom prst="rect">
            <a:avLst/>
          </a:prstGeom>
          <a:noFill/>
          <a:ln/>
        </p:spPr>
        <p:txBody>
          <a:bodyPr wrap="square" rtlCol="0" anchor="ctr"/>
          <a:lstStyle/>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القانون الصفري: إذا كان الجسم A في توازن حراري مع B، وB مع C، فإن A في توازن مع C. يُعرّف درجة الحرارة كخاصية انتقالية.</a:t>
            </a:r>
            <a:endParaRPr lang="en-US" sz="1300" dirty="0"/>
          </a:p>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القانون الأول: ΔU = Q − W (حفظ الطاقة). للعملية القابلة للانعكاس: dU = TdS − PdV. للغاز المثالي: ΔU = nCᵥΔT.</a:t>
            </a:r>
            <a:endParaRPr lang="en-US" sz="1300" dirty="0"/>
          </a:p>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القانون الثاني: إنتروبيا نظام معزول لا تتناقص: ΔS ≥ 0. صياغة كلوزيوس: لا يمكن للحرارة الانتقال تلقائياً من البارد للحار. صياغة كلفن-بلانك: لا يمكن لمحرك تحويل الحرارة كلياً إلى شغل.</a:t>
            </a:r>
            <a:endParaRPr lang="en-US" sz="1300" dirty="0"/>
          </a:p>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القانون الثالث: عندما T → 0 K، تقترب الإنتروبيا من أدنى ثابت (S → 0 للبلورة المثالية). يعني استحالة الوصول إلى الصفر المطلق.</a:t>
            </a:r>
            <a:endParaRPr lang="en-US" sz="1300" dirty="0"/>
          </a:p>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كفاءة كارنو: η_Carnot = 1 − T_cold/T_hot. هذا الحد النظري الأقصى لأي محرك حراري بين خزانين.</a:t>
            </a:r>
            <a:endParaRPr lang="en-US" sz="1300" dirty="0"/>
          </a:p>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طاقة غيبس الحرة: G = H − TS. عملية عفوية ⟹ ΔG &lt; 0 عند T و P ثابتتين. عند التوازن: ΔG = 0.</a:t>
            </a:r>
            <a:endParaRPr lang="en-US" sz="1300" dirty="0"/>
          </a:p>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طاقة هيلمهولتز الحرة: A = U − TS. تُستخدم عند ثبوت الحجم. ΔA &lt; 0 للعملية العفوية الحرارية عند حجم ثابت.</a:t>
            </a:r>
            <a:endParaRPr lang="en-US" sz="1300" dirty="0"/>
          </a:p>
          <a:p>
            <a:pPr algn="r" indent="0" marL="0">
              <a:buNone/>
            </a:pPr>
            <a:endParaRPr lang="en-US" sz="1300" dirty="0"/>
          </a:p>
        </p:txBody>
      </p:sp>
      <p:sp>
        <p:nvSpPr>
          <p:cNvPr id="5" name="Text 3"/>
          <p:cNvSpPr/>
          <p:nvPr/>
        </p:nvSpPr>
        <p:spPr>
          <a:xfrm>
            <a:off x="274320" y="4663440"/>
            <a:ext cx="8595360" cy="365760"/>
          </a:xfrm>
          <a:prstGeom prst="rect">
            <a:avLst/>
          </a:prstGeom>
          <a:noFill/>
          <a:ln/>
        </p:spPr>
        <p:txBody>
          <a:bodyPr wrap="square" rtlCol="0" anchor="ctr"/>
          <a:lstStyle/>
          <a:p>
            <a:pPr rtl="1" algn="r" indent="0" marL="0">
              <a:buNone/>
            </a:pPr>
            <a:r>
              <a:rPr lang="en-US" sz="1000" i="1" dirty="0">
                <a:solidFill>
                  <a:srgbClr val="7F8C8D"/>
                </a:solidFill>
                <a:latin typeface="Arial" pitchFamily="34" charset="0"/>
                <a:ea typeface="Arial" pitchFamily="34" charset="-122"/>
                <a:cs typeface="Arial" pitchFamily="34" charset="-120"/>
              </a:rPr>
              <a:t>المصدر: أتكينز – الكيمياء الفيزيائية، الطبعة العاشرة؛ كالن – الديناميكا الحرارية ومقدمة في الترموستاتيكا</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4A"/>
          </a:solidFill>
          <a:ln/>
        </p:spPr>
      </p:sp>
      <p:sp>
        <p:nvSpPr>
          <p:cNvPr id="3" name="Text 1"/>
          <p:cNvSpPr/>
          <p:nvPr/>
        </p:nvSpPr>
        <p:spPr>
          <a:xfrm>
            <a:off x="274320" y="45720"/>
            <a:ext cx="8595360" cy="594360"/>
          </a:xfrm>
          <a:prstGeom prst="rect">
            <a:avLst/>
          </a:prstGeom>
          <a:noFill/>
          <a:ln/>
        </p:spPr>
        <p:txBody>
          <a:bodyPr wrap="square" rtlCol="0" anchor="ctr"/>
          <a:lstStyle/>
          <a:p>
            <a:pPr rtl="1" algn="r" indent="0" marL="0">
              <a:buNone/>
            </a:pPr>
            <a:r>
              <a:rPr lang="en-US" sz="1900" b="1" dirty="0">
                <a:solidFill>
                  <a:srgbClr val="FFFFFF"/>
                </a:solidFill>
                <a:latin typeface="Arial" pitchFamily="34" charset="0"/>
                <a:ea typeface="Arial" pitchFamily="34" charset="-122"/>
                <a:cs typeface="Arial" pitchFamily="34" charset="-120"/>
              </a:rPr>
              <a:t>عمليات الغاز المثالي – مقارنة شاملة</a:t>
            </a:r>
            <a:endParaRPr lang="en-US" sz="1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74320" y="777240"/>
          <a:ext cx="8595360" cy="914400"/>
        </p:xfrm>
        <a:graphic>
          <a:graphicData uri="http://schemas.openxmlformats.org/drawingml/2006/table">
            <a:tbl>
              <a:tblPr/>
              <a:tblGrid>
                <a:gridCol w="1645920"/>
                <a:gridCol w="1554480"/>
                <a:gridCol w="1828800"/>
                <a:gridCol w="1371600"/>
                <a:gridCol w="1097280"/>
                <a:gridCol w="1097280"/>
              </a:tblGrid>
              <a:tr h="0">
                <a:tc>
                  <a:txBody>
                    <a:bodyPr/>
                    <a:lstStyle/>
                    <a:p>
                      <a:pPr algn="r" indent="0" marL="0">
                        <a:buNone/>
                      </a:pPr>
                      <a:r>
                        <a:rPr lang="en-US" sz="1100" b="1" dirty="0">
                          <a:solidFill>
                            <a:srgbClr val="FFFFFF"/>
                          </a:solidFill>
                        </a:rPr>
                        <a:t>العملية</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1A3A4A"/>
                    </a:solidFill>
                  </a:tcPr>
                </a:tc>
                <a:tc>
                  <a:txBody>
                    <a:bodyPr/>
                    <a:lstStyle/>
                    <a:p>
                      <a:pPr algn="r" indent="0" marL="0">
                        <a:buNone/>
                      </a:pPr>
                      <a:r>
                        <a:rPr lang="en-US" sz="1100" b="1" dirty="0">
                          <a:solidFill>
                            <a:srgbClr val="FFFFFF"/>
                          </a:solidFill>
                        </a:rPr>
                        <a:t>القيد</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1A3A4A"/>
                    </a:solidFill>
                  </a:tcPr>
                </a:tc>
                <a:tc>
                  <a:txBody>
                    <a:bodyPr/>
                    <a:lstStyle/>
                    <a:p>
                      <a:pPr algn="r" indent="0" marL="0">
                        <a:buNone/>
                      </a:pPr>
                      <a:r>
                        <a:rPr lang="en-US" sz="1100" b="1" dirty="0">
                          <a:solidFill>
                            <a:srgbClr val="FFFFFF"/>
                          </a:solidFill>
                        </a:rPr>
                        <a:t>الشغل W</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1A3A4A"/>
                    </a:solidFill>
                  </a:tcPr>
                </a:tc>
                <a:tc>
                  <a:txBody>
                    <a:bodyPr/>
                    <a:lstStyle/>
                    <a:p>
                      <a:pPr algn="r" indent="0" marL="0">
                        <a:buNone/>
                      </a:pPr>
                      <a:r>
                        <a:rPr lang="en-US" sz="1100" b="1" dirty="0">
                          <a:solidFill>
                            <a:srgbClr val="FFFFFF"/>
                          </a:solidFill>
                        </a:rPr>
                        <a:t>الحرارة Q</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1A3A4A"/>
                    </a:solidFill>
                  </a:tcPr>
                </a:tc>
                <a:tc>
                  <a:txBody>
                    <a:bodyPr/>
                    <a:lstStyle/>
                    <a:p>
                      <a:pPr algn="r" indent="0" marL="0">
                        <a:buNone/>
                      </a:pPr>
                      <a:r>
                        <a:rPr lang="en-US" sz="1100" b="1" dirty="0">
                          <a:solidFill>
                            <a:srgbClr val="FFFFFF"/>
                          </a:solidFill>
                        </a:rPr>
                        <a:t>ΔU</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1A3A4A"/>
                    </a:solidFill>
                  </a:tcPr>
                </a:tc>
                <a:tc>
                  <a:txBody>
                    <a:bodyPr/>
                    <a:lstStyle/>
                    <a:p>
                      <a:pPr algn="r" indent="0" marL="0">
                        <a:buNone/>
                      </a:pPr>
                      <a:r>
                        <a:rPr lang="en-US" sz="1100" b="1" dirty="0">
                          <a:solidFill>
                            <a:srgbClr val="FFFFFF"/>
                          </a:solidFill>
                        </a:rPr>
                        <a:t>ΔS</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1A3A4A"/>
                    </a:solidFill>
                  </a:tcPr>
                </a:tc>
              </a:tr>
              <a:tr h="0">
                <a:tc>
                  <a:txBody>
                    <a:bodyPr/>
                    <a:lstStyle/>
                    <a:p>
                      <a:pPr algn="r" indent="0" marL="0">
                        <a:buNone/>
                      </a:pPr>
                      <a:r>
                        <a:rPr lang="en-US" sz="1050" dirty="0">
                          <a:solidFill>
                            <a:srgbClr val="2C3E50"/>
                          </a:solidFill>
                        </a:rPr>
                        <a:t>متثابت الحرارة</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50" dirty="0">
                          <a:solidFill>
                            <a:srgbClr val="2C3E50"/>
                          </a:solidFill>
                        </a:rPr>
                        <a:t>T = ثابت</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50" dirty="0">
                          <a:solidFill>
                            <a:srgbClr val="2C3E50"/>
                          </a:solidFill>
                        </a:rPr>
                        <a:t>nRT ln(V₂/V₁)</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50" dirty="0">
                          <a:solidFill>
                            <a:srgbClr val="2C3E50"/>
                          </a:solidFill>
                        </a:rPr>
                        <a:t>= W</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50" dirty="0">
                          <a:solidFill>
                            <a:srgbClr val="2C3E50"/>
                          </a:solidFill>
                        </a:rPr>
                        <a:t>0</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50" dirty="0">
                          <a:solidFill>
                            <a:srgbClr val="2C3E50"/>
                          </a:solidFill>
                        </a:rPr>
                        <a:t>nR ln(V₂/V₁)</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r h="0">
                <a:tc>
                  <a:txBody>
                    <a:bodyPr/>
                    <a:lstStyle/>
                    <a:p>
                      <a:pPr algn="r" indent="0" marL="0">
                        <a:buNone/>
                      </a:pPr>
                      <a:r>
                        <a:rPr lang="en-US" sz="1050" dirty="0">
                          <a:solidFill>
                            <a:srgbClr val="2C3E50"/>
                          </a:solidFill>
                        </a:rPr>
                        <a:t>أديباتي (مقياسي)</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C3E50"/>
                          </a:solidFill>
                        </a:rPr>
                        <a:t>Q = 0</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C3E50"/>
                          </a:solidFill>
                        </a:rPr>
                        <a:t>−ΔU = nCᵥ(T₁−T₂)</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C3E50"/>
                          </a:solidFill>
                        </a:rPr>
                        <a:t>0</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C3E50"/>
                          </a:solidFill>
                        </a:rPr>
                        <a:t>nCᵥΔT</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C3E50"/>
                          </a:solidFill>
                        </a:rPr>
                        <a:t>0</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r>
              <a:tr h="0">
                <a:tc>
                  <a:txBody>
                    <a:bodyPr/>
                    <a:lstStyle/>
                    <a:p>
                      <a:pPr algn="r" indent="0" marL="0">
                        <a:buNone/>
                      </a:pPr>
                      <a:r>
                        <a:rPr lang="en-US" sz="1050" dirty="0">
                          <a:solidFill>
                            <a:srgbClr val="2C3E50"/>
                          </a:solidFill>
                        </a:rPr>
                        <a:t>متثابت الضغط</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50" dirty="0">
                          <a:solidFill>
                            <a:srgbClr val="2C3E50"/>
                          </a:solidFill>
                        </a:rPr>
                        <a:t>P = ثابت</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50" dirty="0">
                          <a:solidFill>
                            <a:srgbClr val="2C3E50"/>
                          </a:solidFill>
                        </a:rPr>
                        <a:t>PΔV = nRΔT</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50" dirty="0">
                          <a:solidFill>
                            <a:srgbClr val="2C3E50"/>
                          </a:solidFill>
                        </a:rPr>
                        <a:t>nCₚΔT</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50" dirty="0">
                          <a:solidFill>
                            <a:srgbClr val="2C3E50"/>
                          </a:solidFill>
                        </a:rPr>
                        <a:t>nCᵥΔT</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50" dirty="0">
                          <a:solidFill>
                            <a:srgbClr val="2C3E50"/>
                          </a:solidFill>
                        </a:rPr>
                        <a:t>nCₚ ln(T₂/T₁)</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r h="0">
                <a:tc>
                  <a:txBody>
                    <a:bodyPr/>
                    <a:lstStyle/>
                    <a:p>
                      <a:pPr algn="r" indent="0" marL="0">
                        <a:buNone/>
                      </a:pPr>
                      <a:r>
                        <a:rPr lang="en-US" sz="1050" dirty="0">
                          <a:solidFill>
                            <a:srgbClr val="2C3E50"/>
                          </a:solidFill>
                        </a:rPr>
                        <a:t>متثابت الحجم</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C3E50"/>
                          </a:solidFill>
                        </a:rPr>
                        <a:t>V = ثابت</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C3E50"/>
                          </a:solidFill>
                        </a:rPr>
                        <a:t>0</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C3E50"/>
                          </a:solidFill>
                        </a:rPr>
                        <a:t>nCᵥΔT</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C3E50"/>
                          </a:solidFill>
                        </a:rPr>
                        <a:t>nCᵥΔT</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C3E50"/>
                          </a:solidFill>
                        </a:rPr>
                        <a:t>nCᵥ ln(T₂/T₁)</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r>
              <a:tr h="0">
                <a:tc>
                  <a:txBody>
                    <a:bodyPr/>
                    <a:lstStyle/>
                    <a:p>
                      <a:pPr algn="r" indent="0" marL="0">
                        <a:buNone/>
                      </a:pPr>
                      <a:r>
                        <a:rPr lang="en-US" sz="1050" dirty="0">
                          <a:solidFill>
                            <a:srgbClr val="2C3E50"/>
                          </a:solidFill>
                        </a:rPr>
                        <a:t>متعدد المراحل</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50" dirty="0">
                          <a:solidFill>
                            <a:srgbClr val="2C3E50"/>
                          </a:solidFill>
                        </a:rPr>
                        <a:t>PVⁿ = ثابت</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50" dirty="0">
                          <a:solidFill>
                            <a:srgbClr val="2C3E50"/>
                          </a:solidFill>
                        </a:rPr>
                        <a:t>(P₂V₂−P₁V₁)/(1−n)</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50" dirty="0">
                          <a:solidFill>
                            <a:srgbClr val="2C3E50"/>
                          </a:solidFill>
                        </a:rPr>
                        <a:t>Q=ΔU+W</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50" dirty="0">
                          <a:solidFill>
                            <a:srgbClr val="2C3E50"/>
                          </a:solidFill>
                        </a:rPr>
                        <a:t>nCᵥΔT</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50" dirty="0">
                          <a:solidFill>
                            <a:srgbClr val="2C3E50"/>
                          </a:solidFill>
                        </a:rPr>
                        <a:t>يعتمد على n</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bl>
          </a:graphicData>
        </a:graphic>
      </p:graphicFrame>
      <p:sp>
        <p:nvSpPr>
          <p:cNvPr id="5" name="Text 2"/>
          <p:cNvSpPr/>
          <p:nvPr/>
        </p:nvSpPr>
        <p:spPr>
          <a:xfrm>
            <a:off x="274320" y="4617720"/>
            <a:ext cx="8595360" cy="457200"/>
          </a:xfrm>
          <a:prstGeom prst="rect">
            <a:avLst/>
          </a:prstGeom>
          <a:noFill/>
          <a:ln/>
        </p:spPr>
        <p:txBody>
          <a:bodyPr wrap="square" rtlCol="0" anchor="ctr"/>
          <a:lstStyle/>
          <a:p>
            <a:pPr rtl="1" algn="r" indent="0" marL="0">
              <a:buNone/>
            </a:pPr>
            <a:r>
              <a:rPr lang="en-US" sz="1000" i="1" dirty="0">
                <a:solidFill>
                  <a:srgbClr val="7F8C8D"/>
                </a:solidFill>
                <a:latin typeface="Arial" pitchFamily="34" charset="0"/>
                <a:ea typeface="Arial" pitchFamily="34" charset="-122"/>
                <a:cs typeface="Arial" pitchFamily="34" charset="-120"/>
              </a:rPr>
              <a:t>γ = Cₚ/Cᵥ = 5/3 للغاز الأحادي الذرة، 7/5 للغاز ثنائي الذرة. مؤشر متعدد المراحل n: متثابت الحرارة n=1، أديباتي n=γ، متثابت الضغط n=0، متثابت الحجم 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4A"/>
          </a:solidFill>
          <a:ln/>
        </p:spPr>
      </p:sp>
      <p:sp>
        <p:nvSpPr>
          <p:cNvPr id="3" name="Text 1"/>
          <p:cNvSpPr/>
          <p:nvPr/>
        </p:nvSpPr>
        <p:spPr>
          <a:xfrm>
            <a:off x="274320" y="45720"/>
            <a:ext cx="8595360" cy="594360"/>
          </a:xfrm>
          <a:prstGeom prst="rect">
            <a:avLst/>
          </a:prstGeom>
          <a:noFill/>
          <a:ln/>
        </p:spPr>
        <p:txBody>
          <a:bodyPr wrap="square" rtlCol="0" anchor="ctr"/>
          <a:lstStyle/>
          <a:p>
            <a:pPr rtl="1" algn="r" indent="0" marL="0">
              <a:buNone/>
            </a:pPr>
            <a:r>
              <a:rPr lang="en-US" sz="1900" b="1" dirty="0">
                <a:solidFill>
                  <a:srgbClr val="FFFFFF"/>
                </a:solidFill>
                <a:latin typeface="Arial" pitchFamily="34" charset="0"/>
                <a:ea typeface="Arial" pitchFamily="34" charset="-122"/>
                <a:cs typeface="Arial" pitchFamily="34" charset="-120"/>
              </a:rPr>
              <a:t>الإنتروبيا، بولتزمان، والأسس الإحصائية</a:t>
            </a:r>
            <a:endParaRPr lang="en-US" sz="1900" dirty="0"/>
          </a:p>
        </p:txBody>
      </p:sp>
      <p:sp>
        <p:nvSpPr>
          <p:cNvPr id="4" name="Shape 2"/>
          <p:cNvSpPr/>
          <p:nvPr/>
        </p:nvSpPr>
        <p:spPr>
          <a:xfrm>
            <a:off x="457200" y="822960"/>
            <a:ext cx="8229600" cy="502920"/>
          </a:xfrm>
          <a:prstGeom prst="rect">
            <a:avLst/>
          </a:prstGeom>
          <a:solidFill>
            <a:srgbClr val="F0F3F4"/>
          </a:solidFill>
          <a:ln w="19050">
            <a:solidFill>
              <a:srgbClr val="C9A84C"/>
            </a:solidFill>
            <a:prstDash val="solid"/>
          </a:ln>
        </p:spPr>
      </p:sp>
      <p:sp>
        <p:nvSpPr>
          <p:cNvPr id="5" name="Text 3"/>
          <p:cNvSpPr/>
          <p:nvPr/>
        </p:nvSpPr>
        <p:spPr>
          <a:xfrm>
            <a:off x="548640" y="85039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إنتروبيا بولتزمان:  S = k_B ln(Ω)  [Ω = عدد الحالات الميكروية]</a:t>
            </a:r>
            <a:endParaRPr lang="en-US" sz="1300" dirty="0"/>
          </a:p>
        </p:txBody>
      </p:sp>
      <p:sp>
        <p:nvSpPr>
          <p:cNvPr id="6" name="Shape 4"/>
          <p:cNvSpPr/>
          <p:nvPr/>
        </p:nvSpPr>
        <p:spPr>
          <a:xfrm>
            <a:off x="457200" y="1417320"/>
            <a:ext cx="8229600" cy="502920"/>
          </a:xfrm>
          <a:prstGeom prst="rect">
            <a:avLst/>
          </a:prstGeom>
          <a:solidFill>
            <a:srgbClr val="F0F3F4"/>
          </a:solidFill>
          <a:ln w="19050">
            <a:solidFill>
              <a:srgbClr val="C9A84C"/>
            </a:solidFill>
            <a:prstDash val="solid"/>
          </a:ln>
        </p:spPr>
      </p:sp>
      <p:sp>
        <p:nvSpPr>
          <p:cNvPr id="7" name="Text 5"/>
          <p:cNvSpPr/>
          <p:nvPr/>
        </p:nvSpPr>
        <p:spPr>
          <a:xfrm>
            <a:off x="548640" y="144475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إنتروبيا الديناميكا الحرارية:  dS = δQ_rev / T  (متباينة كلوزيوس: dS ≥ δQ/T)</a:t>
            </a:r>
            <a:endParaRPr lang="en-US" sz="1300" dirty="0"/>
          </a:p>
        </p:txBody>
      </p:sp>
      <p:sp>
        <p:nvSpPr>
          <p:cNvPr id="8" name="Shape 6"/>
          <p:cNvSpPr/>
          <p:nvPr/>
        </p:nvSpPr>
        <p:spPr>
          <a:xfrm>
            <a:off x="457200" y="2011680"/>
            <a:ext cx="8229600" cy="502920"/>
          </a:xfrm>
          <a:prstGeom prst="rect">
            <a:avLst/>
          </a:prstGeom>
          <a:solidFill>
            <a:srgbClr val="F0F3F4"/>
          </a:solidFill>
          <a:ln w="19050">
            <a:solidFill>
              <a:srgbClr val="C9A84C"/>
            </a:solidFill>
            <a:prstDash val="solid"/>
          </a:ln>
        </p:spPr>
      </p:sp>
      <p:sp>
        <p:nvSpPr>
          <p:cNvPr id="9" name="Text 7"/>
          <p:cNvSpPr/>
          <p:nvPr/>
        </p:nvSpPr>
        <p:spPr>
          <a:xfrm>
            <a:off x="548640" y="203911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دالة التقسيم:  Z = Σᵢ exp(−Eᵢ / k_BT)</a:t>
            </a:r>
            <a:endParaRPr lang="en-US" sz="1300" dirty="0"/>
          </a:p>
        </p:txBody>
      </p:sp>
      <p:sp>
        <p:nvSpPr>
          <p:cNvPr id="10" name="Shape 8"/>
          <p:cNvSpPr/>
          <p:nvPr/>
        </p:nvSpPr>
        <p:spPr>
          <a:xfrm>
            <a:off x="457200" y="2606040"/>
            <a:ext cx="8229600" cy="502920"/>
          </a:xfrm>
          <a:prstGeom prst="rect">
            <a:avLst/>
          </a:prstGeom>
          <a:solidFill>
            <a:srgbClr val="F0F3F4"/>
          </a:solidFill>
          <a:ln w="19050">
            <a:solidFill>
              <a:srgbClr val="C9A84C"/>
            </a:solidFill>
            <a:prstDash val="solid"/>
          </a:ln>
        </p:spPr>
      </p:sp>
      <p:sp>
        <p:nvSpPr>
          <p:cNvPr id="11" name="Text 9"/>
          <p:cNvSpPr/>
          <p:nvPr/>
        </p:nvSpPr>
        <p:spPr>
          <a:xfrm>
            <a:off x="548640" y="263347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متوسط الطاقة:  ⟨E⟩ = −∂(ln Z)/∂β  حيث β = 1/(k_BT)</a:t>
            </a:r>
            <a:endParaRPr lang="en-US" sz="1300" dirty="0"/>
          </a:p>
        </p:txBody>
      </p:sp>
      <p:sp>
        <p:nvSpPr>
          <p:cNvPr id="12" name="Shape 10"/>
          <p:cNvSpPr/>
          <p:nvPr/>
        </p:nvSpPr>
        <p:spPr>
          <a:xfrm>
            <a:off x="457200" y="3200400"/>
            <a:ext cx="8229600" cy="502920"/>
          </a:xfrm>
          <a:prstGeom prst="rect">
            <a:avLst/>
          </a:prstGeom>
          <a:solidFill>
            <a:srgbClr val="F0F3F4"/>
          </a:solidFill>
          <a:ln w="19050">
            <a:solidFill>
              <a:srgbClr val="C9A84C"/>
            </a:solidFill>
            <a:prstDash val="solid"/>
          </a:ln>
        </p:spPr>
      </p:sp>
      <p:sp>
        <p:nvSpPr>
          <p:cNvPr id="13" name="Text 11"/>
          <p:cNvSpPr/>
          <p:nvPr/>
        </p:nvSpPr>
        <p:spPr>
          <a:xfrm>
            <a:off x="548640" y="322783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طاقة هيلمهولتز من Z:  A = −k_BT ln(Z)</a:t>
            </a:r>
            <a:endParaRPr lang="en-US" sz="1300" dirty="0"/>
          </a:p>
        </p:txBody>
      </p:sp>
      <p:sp>
        <p:nvSpPr>
          <p:cNvPr id="14" name="Shape 12"/>
          <p:cNvSpPr/>
          <p:nvPr/>
        </p:nvSpPr>
        <p:spPr>
          <a:xfrm>
            <a:off x="457200" y="3794760"/>
            <a:ext cx="8229600" cy="502920"/>
          </a:xfrm>
          <a:prstGeom prst="rect">
            <a:avLst/>
          </a:prstGeom>
          <a:solidFill>
            <a:srgbClr val="F0F3F4"/>
          </a:solidFill>
          <a:ln w="19050">
            <a:solidFill>
              <a:srgbClr val="C9A84C"/>
            </a:solidFill>
            <a:prstDash val="solid"/>
          </a:ln>
        </p:spPr>
      </p:sp>
      <p:sp>
        <p:nvSpPr>
          <p:cNvPr id="15" name="Text 13"/>
          <p:cNvSpPr/>
          <p:nvPr/>
        </p:nvSpPr>
        <p:spPr>
          <a:xfrm>
            <a:off x="548640" y="382219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توزيع ماكسويل-بولتزمان للسرعة:  f(v) = 4π(m/2πk_BT)^(3/2) v² exp(−mv²/2k_BT)</a:t>
            </a:r>
            <a:endParaRPr lang="en-US" sz="1300" dirty="0"/>
          </a:p>
        </p:txBody>
      </p:sp>
      <p:sp>
        <p:nvSpPr>
          <p:cNvPr id="16" name="Shape 14"/>
          <p:cNvSpPr/>
          <p:nvPr/>
        </p:nvSpPr>
        <p:spPr>
          <a:xfrm>
            <a:off x="457200" y="4389120"/>
            <a:ext cx="8229600" cy="502920"/>
          </a:xfrm>
          <a:prstGeom prst="rect">
            <a:avLst/>
          </a:prstGeom>
          <a:solidFill>
            <a:srgbClr val="F0F3F4"/>
          </a:solidFill>
          <a:ln w="19050">
            <a:solidFill>
              <a:srgbClr val="C9A84C"/>
            </a:solidFill>
            <a:prstDash val="solid"/>
          </a:ln>
        </p:spPr>
      </p:sp>
      <p:sp>
        <p:nvSpPr>
          <p:cNvPr id="17" name="Text 15"/>
          <p:cNvSpPr/>
          <p:nvPr/>
        </p:nvSpPr>
        <p:spPr>
          <a:xfrm>
            <a:off x="548640" y="441655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السرعة الأكثر احتمالاً:  v_p = √(2k_BT/m)  ؛  سرعة RMS:  v_rms = √(3k_BT/m)</a:t>
            </a:r>
            <a:endParaRPr lang="en-US" sz="1300" dirty="0"/>
          </a:p>
        </p:txBody>
      </p:sp>
      <p:sp>
        <p:nvSpPr>
          <p:cNvPr id="18" name="Text 16"/>
          <p:cNvSpPr/>
          <p:nvPr/>
        </p:nvSpPr>
        <p:spPr>
          <a:xfrm>
            <a:off x="457200" y="4983480"/>
            <a:ext cx="8229600" cy="-114300"/>
          </a:xfrm>
          <a:prstGeom prst="rect">
            <a:avLst/>
          </a:prstGeom>
          <a:noFill/>
          <a:ln/>
        </p:spPr>
        <p:txBody>
          <a:bodyPr wrap="square" rtlCol="0" anchor="ctr"/>
          <a:lstStyle/>
          <a:p>
            <a:pPr rtl="1" algn="r" indent="0" marL="0">
              <a:buNone/>
            </a:pPr>
            <a:r>
              <a:rPr lang="en-US" sz="1200" dirty="0">
                <a:solidFill>
                  <a:srgbClr val="2C3E50"/>
                </a:solidFill>
                <a:latin typeface="Arial" pitchFamily="34" charset="0"/>
                <a:ea typeface="Arial" pitchFamily="34" charset="-122"/>
                <a:cs typeface="Arial" pitchFamily="34" charset="-120"/>
              </a:rPr>
              <a:t>دالة التقسيم Z تُشفّر جميع المعلومات الترموديناميكية للنظام. اشتقاق ln(Z) بالنسبة لـ β يعطي متوسط الطاقة؛ بالنسبة للحجم يعطي الضغط. يصف توزيع ماكسويل-بولتزمان الجسيمات الكلاسيكية غير المتفاعلة؛ يفشل عند درجات الحرارة المنخفضة حيث تنطبق إحصائيات فيرمي-ديراك أو بوز-أينشتاين.</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3A4A"/>
        </a:solidFill>
      </p:bgPr>
    </p:bg>
    <p:spTree>
      <p:nvGrpSpPr>
        <p:cNvPr id="1" name=""/>
        <p:cNvGrpSpPr/>
        <p:nvPr/>
      </p:nvGrpSpPr>
      <p:grpSpPr>
        <a:xfrm>
          <a:off x="0" y="0"/>
          <a:ext cx="0" cy="0"/>
          <a:chOff x="0" y="0"/>
          <a:chExt cx="0" cy="0"/>
        </a:xfrm>
      </p:grpSpPr>
      <p:sp>
        <p:nvSpPr>
          <p:cNvPr id="2" name="Shape 0"/>
          <p:cNvSpPr/>
          <p:nvPr/>
        </p:nvSpPr>
        <p:spPr>
          <a:xfrm>
            <a:off x="9034272" y="0"/>
            <a:ext cx="109728" cy="5143500"/>
          </a:xfrm>
          <a:prstGeom prst="rect">
            <a:avLst/>
          </a:prstGeom>
          <a:solidFill>
            <a:srgbClr val="C9A84C"/>
          </a:solidFill>
          <a:ln/>
        </p:spPr>
      </p:sp>
      <p:sp>
        <p:nvSpPr>
          <p:cNvPr id="3" name="Text 1"/>
          <p:cNvSpPr/>
          <p:nvPr/>
        </p:nvSpPr>
        <p:spPr>
          <a:xfrm>
            <a:off x="365760" y="914400"/>
            <a:ext cx="8412480" cy="548640"/>
          </a:xfrm>
          <a:prstGeom prst="rect">
            <a:avLst/>
          </a:prstGeom>
          <a:noFill/>
          <a:ln/>
        </p:spPr>
        <p:txBody>
          <a:bodyPr wrap="square" rtlCol="0" anchor="ctr"/>
          <a:lstStyle/>
          <a:p>
            <a:pPr rtl="1" algn="r" indent="0" marL="0">
              <a:buNone/>
            </a:pPr>
            <a:r>
              <a:rPr lang="en-US" sz="1600" b="1" spc="300" kern="0" dirty="0">
                <a:solidFill>
                  <a:srgbClr val="C9A84C"/>
                </a:solidFill>
                <a:latin typeface="Arial" pitchFamily="34" charset="0"/>
                <a:ea typeface="Arial" pitchFamily="34" charset="-122"/>
                <a:cs typeface="Arial" pitchFamily="34" charset="-120"/>
              </a:rPr>
              <a:t>القسم الثالث</a:t>
            </a:r>
            <a:endParaRPr lang="en-US" sz="1600" dirty="0"/>
          </a:p>
        </p:txBody>
      </p:sp>
      <p:sp>
        <p:nvSpPr>
          <p:cNvPr id="4" name="Text 2"/>
          <p:cNvSpPr/>
          <p:nvPr/>
        </p:nvSpPr>
        <p:spPr>
          <a:xfrm>
            <a:off x="365760" y="1463040"/>
            <a:ext cx="8412480" cy="1371600"/>
          </a:xfrm>
          <a:prstGeom prst="rect">
            <a:avLst/>
          </a:prstGeom>
          <a:noFill/>
          <a:ln/>
        </p:spPr>
        <p:txBody>
          <a:bodyPr wrap="square" rtlCol="0" anchor="ctr"/>
          <a:lstStyle/>
          <a:p>
            <a:pPr rtl="1" algn="r" indent="0" marL="0">
              <a:buNone/>
            </a:pPr>
            <a:r>
              <a:rPr lang="en-US" sz="3200" b="1" dirty="0">
                <a:solidFill>
                  <a:srgbClr val="FFFFFF"/>
                </a:solidFill>
                <a:latin typeface="Arial" pitchFamily="34" charset="0"/>
                <a:ea typeface="Arial" pitchFamily="34" charset="-122"/>
                <a:cs typeface="Arial" pitchFamily="34" charset="-120"/>
              </a:rPr>
              <a:t>الكهرومغناطيسية</a:t>
            </a:r>
            <a:endParaRPr lang="en-US" sz="3200" dirty="0"/>
          </a:p>
        </p:txBody>
      </p:sp>
      <p:sp>
        <p:nvSpPr>
          <p:cNvPr id="5" name="Text 3"/>
          <p:cNvSpPr/>
          <p:nvPr/>
        </p:nvSpPr>
        <p:spPr>
          <a:xfrm>
            <a:off x="365760" y="2834640"/>
            <a:ext cx="8412480" cy="822960"/>
          </a:xfrm>
          <a:prstGeom prst="rect">
            <a:avLst/>
          </a:prstGeom>
          <a:noFill/>
          <a:ln/>
        </p:spPr>
        <p:txBody>
          <a:bodyPr wrap="square" rtlCol="0" anchor="ctr"/>
          <a:lstStyle/>
          <a:p>
            <a:pPr rtl="1" algn="r" indent="0" marL="0">
              <a:buNone/>
            </a:pPr>
            <a:r>
              <a:rPr lang="en-US" sz="1500" dirty="0">
                <a:solidFill>
                  <a:srgbClr val="F5E6B8"/>
                </a:solidFill>
                <a:latin typeface="Arial" pitchFamily="34" charset="0"/>
                <a:ea typeface="Arial" pitchFamily="34" charset="-122"/>
                <a:cs typeface="Arial" pitchFamily="34" charset="-120"/>
              </a:rPr>
              <a:t>معادلات ماكسويل والموجات ونظرية الدوائر</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4A"/>
          </a:solidFill>
          <a:ln/>
        </p:spPr>
      </p:sp>
      <p:sp>
        <p:nvSpPr>
          <p:cNvPr id="3" name="Text 1"/>
          <p:cNvSpPr/>
          <p:nvPr/>
        </p:nvSpPr>
        <p:spPr>
          <a:xfrm>
            <a:off x="274320" y="45720"/>
            <a:ext cx="8595360" cy="594360"/>
          </a:xfrm>
          <a:prstGeom prst="rect">
            <a:avLst/>
          </a:prstGeom>
          <a:noFill/>
          <a:ln/>
        </p:spPr>
        <p:txBody>
          <a:bodyPr wrap="square" rtlCol="0" anchor="ctr"/>
          <a:lstStyle/>
          <a:p>
            <a:pPr rtl="1" algn="r" indent="0" marL="0">
              <a:buNone/>
            </a:pPr>
            <a:r>
              <a:rPr lang="en-US" sz="1900" b="1" dirty="0">
                <a:solidFill>
                  <a:srgbClr val="FFFFFF"/>
                </a:solidFill>
                <a:latin typeface="Arial" pitchFamily="34" charset="0"/>
                <a:ea typeface="Arial" pitchFamily="34" charset="-122"/>
                <a:cs typeface="Arial" pitchFamily="34" charset="-120"/>
              </a:rPr>
              <a:t>معادلات ماكسويل – الصور التفاضلية والتكاملية</a:t>
            </a:r>
            <a:endParaRPr lang="en-US" sz="1900" dirty="0"/>
          </a:p>
        </p:txBody>
      </p:sp>
      <p:sp>
        <p:nvSpPr>
          <p:cNvPr id="4" name="Shape 2"/>
          <p:cNvSpPr/>
          <p:nvPr/>
        </p:nvSpPr>
        <p:spPr>
          <a:xfrm>
            <a:off x="457200" y="822960"/>
            <a:ext cx="8229600" cy="502920"/>
          </a:xfrm>
          <a:prstGeom prst="rect">
            <a:avLst/>
          </a:prstGeom>
          <a:solidFill>
            <a:srgbClr val="F0F3F4"/>
          </a:solidFill>
          <a:ln w="19050">
            <a:solidFill>
              <a:srgbClr val="C9A84C"/>
            </a:solidFill>
            <a:prstDash val="solid"/>
          </a:ln>
        </p:spPr>
      </p:sp>
      <p:sp>
        <p:nvSpPr>
          <p:cNvPr id="5" name="Text 3"/>
          <p:cNvSpPr/>
          <p:nvPr/>
        </p:nvSpPr>
        <p:spPr>
          <a:xfrm>
            <a:off x="548640" y="85039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قانون غاوس (E):  ∇·E = ρ/ε₀  ⟺  ∮_S E·dA = Q_enc/ε₀</a:t>
            </a:r>
            <a:endParaRPr lang="en-US" sz="1300" dirty="0"/>
          </a:p>
        </p:txBody>
      </p:sp>
      <p:sp>
        <p:nvSpPr>
          <p:cNvPr id="6" name="Shape 4"/>
          <p:cNvSpPr/>
          <p:nvPr/>
        </p:nvSpPr>
        <p:spPr>
          <a:xfrm>
            <a:off x="457200" y="1417320"/>
            <a:ext cx="8229600" cy="502920"/>
          </a:xfrm>
          <a:prstGeom prst="rect">
            <a:avLst/>
          </a:prstGeom>
          <a:solidFill>
            <a:srgbClr val="F0F3F4"/>
          </a:solidFill>
          <a:ln w="19050">
            <a:solidFill>
              <a:srgbClr val="C9A84C"/>
            </a:solidFill>
            <a:prstDash val="solid"/>
          </a:ln>
        </p:spPr>
      </p:sp>
      <p:sp>
        <p:nvSpPr>
          <p:cNvPr id="7" name="Text 5"/>
          <p:cNvSpPr/>
          <p:nvPr/>
        </p:nvSpPr>
        <p:spPr>
          <a:xfrm>
            <a:off x="548640" y="144475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قانون غاوس (B):  ∇·B = 0  ⟺  ∮_S B·dA = 0  (لا أقطاب مغناطيسية)</a:t>
            </a:r>
            <a:endParaRPr lang="en-US" sz="1300" dirty="0"/>
          </a:p>
        </p:txBody>
      </p:sp>
      <p:sp>
        <p:nvSpPr>
          <p:cNvPr id="8" name="Shape 6"/>
          <p:cNvSpPr/>
          <p:nvPr/>
        </p:nvSpPr>
        <p:spPr>
          <a:xfrm>
            <a:off x="457200" y="2011680"/>
            <a:ext cx="8229600" cy="502920"/>
          </a:xfrm>
          <a:prstGeom prst="rect">
            <a:avLst/>
          </a:prstGeom>
          <a:solidFill>
            <a:srgbClr val="F0F3F4"/>
          </a:solidFill>
          <a:ln w="19050">
            <a:solidFill>
              <a:srgbClr val="C9A84C"/>
            </a:solidFill>
            <a:prstDash val="solid"/>
          </a:ln>
        </p:spPr>
      </p:sp>
      <p:sp>
        <p:nvSpPr>
          <p:cNvPr id="9" name="Text 7"/>
          <p:cNvSpPr/>
          <p:nvPr/>
        </p:nvSpPr>
        <p:spPr>
          <a:xfrm>
            <a:off x="548640" y="203911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قانون فاراداي:  ∇×E = −∂B/∂t  ⟺  ∮ E·dl = −dΦ_B/dt</a:t>
            </a:r>
            <a:endParaRPr lang="en-US" sz="1300" dirty="0"/>
          </a:p>
        </p:txBody>
      </p:sp>
      <p:sp>
        <p:nvSpPr>
          <p:cNvPr id="10" name="Shape 8"/>
          <p:cNvSpPr/>
          <p:nvPr/>
        </p:nvSpPr>
        <p:spPr>
          <a:xfrm>
            <a:off x="457200" y="2606040"/>
            <a:ext cx="8229600" cy="502920"/>
          </a:xfrm>
          <a:prstGeom prst="rect">
            <a:avLst/>
          </a:prstGeom>
          <a:solidFill>
            <a:srgbClr val="F0F3F4"/>
          </a:solidFill>
          <a:ln w="19050">
            <a:solidFill>
              <a:srgbClr val="C9A84C"/>
            </a:solidFill>
            <a:prstDash val="solid"/>
          </a:ln>
        </p:spPr>
      </p:sp>
      <p:sp>
        <p:nvSpPr>
          <p:cNvPr id="11" name="Text 9"/>
          <p:cNvSpPr/>
          <p:nvPr/>
        </p:nvSpPr>
        <p:spPr>
          <a:xfrm>
            <a:off x="548640" y="263347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قانون أمبير-ماكسويل:  ∇×B = μ₀J + μ₀ε₀ ∂E/∂t</a:t>
            </a:r>
            <a:endParaRPr lang="en-US" sz="1300" dirty="0"/>
          </a:p>
        </p:txBody>
      </p:sp>
      <p:sp>
        <p:nvSpPr>
          <p:cNvPr id="12" name="Shape 10"/>
          <p:cNvSpPr/>
          <p:nvPr/>
        </p:nvSpPr>
        <p:spPr>
          <a:xfrm>
            <a:off x="457200" y="3200400"/>
            <a:ext cx="8229600" cy="502920"/>
          </a:xfrm>
          <a:prstGeom prst="rect">
            <a:avLst/>
          </a:prstGeom>
          <a:solidFill>
            <a:srgbClr val="F0F3F4"/>
          </a:solidFill>
          <a:ln w="19050">
            <a:solidFill>
              <a:srgbClr val="C9A84C"/>
            </a:solidFill>
            <a:prstDash val="solid"/>
          </a:ln>
        </p:spPr>
      </p:sp>
      <p:sp>
        <p:nvSpPr>
          <p:cNvPr id="13" name="Text 11"/>
          <p:cNvSpPr/>
          <p:nvPr/>
        </p:nvSpPr>
        <p:spPr>
          <a:xfrm>
            <a:off x="548640" y="322783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معادلة الموجة في الفراغ:  ∇²E = μ₀ε₀ ∂²E/∂t²  →  c = 1/√(μ₀ε₀)</a:t>
            </a:r>
            <a:endParaRPr lang="en-US" sz="1300" dirty="0"/>
          </a:p>
        </p:txBody>
      </p:sp>
      <p:sp>
        <p:nvSpPr>
          <p:cNvPr id="14" name="Shape 12"/>
          <p:cNvSpPr/>
          <p:nvPr/>
        </p:nvSpPr>
        <p:spPr>
          <a:xfrm>
            <a:off x="457200" y="3794760"/>
            <a:ext cx="8229600" cy="502920"/>
          </a:xfrm>
          <a:prstGeom prst="rect">
            <a:avLst/>
          </a:prstGeom>
          <a:solidFill>
            <a:srgbClr val="F0F3F4"/>
          </a:solidFill>
          <a:ln w="19050">
            <a:solidFill>
              <a:srgbClr val="C9A84C"/>
            </a:solidFill>
            <a:prstDash val="solid"/>
          </a:ln>
        </p:spPr>
      </p:sp>
      <p:sp>
        <p:nvSpPr>
          <p:cNvPr id="15" name="Text 13"/>
          <p:cNvSpPr/>
          <p:nvPr/>
        </p:nvSpPr>
        <p:spPr>
          <a:xfrm>
            <a:off x="548640" y="382219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متجه بوينتنغ:  S = (1/μ₀)(E × B)  [واط/م²]</a:t>
            </a:r>
            <a:endParaRPr lang="en-US" sz="1300" dirty="0"/>
          </a:p>
        </p:txBody>
      </p:sp>
      <p:sp>
        <p:nvSpPr>
          <p:cNvPr id="16" name="Text 14"/>
          <p:cNvSpPr/>
          <p:nvPr/>
        </p:nvSpPr>
        <p:spPr>
          <a:xfrm>
            <a:off x="457200" y="4389120"/>
            <a:ext cx="8229600" cy="480060"/>
          </a:xfrm>
          <a:prstGeom prst="rect">
            <a:avLst/>
          </a:prstGeom>
          <a:noFill/>
          <a:ln/>
        </p:spPr>
        <p:txBody>
          <a:bodyPr wrap="square" rtlCol="0" anchor="ctr"/>
          <a:lstStyle/>
          <a:p>
            <a:pPr rtl="1" algn="r" indent="0" marL="0">
              <a:buNone/>
            </a:pPr>
            <a:r>
              <a:rPr lang="en-US" sz="1200" dirty="0">
                <a:solidFill>
                  <a:srgbClr val="2C3E50"/>
                </a:solidFill>
                <a:latin typeface="Arial" pitchFamily="34" charset="0"/>
                <a:ea typeface="Arial" pitchFamily="34" charset="-122"/>
                <a:cs typeface="Arial" pitchFamily="34" charset="-120"/>
              </a:rPr>
              <a:t>حد التيار الإزاحي μ₀ε₀ ∂E/∂t الذي أضافه ماكسويل إلى قانون أمبير كان ضرورياً للتنبؤ بالأمواج الكهرومغناطيسية. بدونه، تكون المعادلات غير متناسقة عند فجوات المكثفات. في المواد، استبدل ε₀→ε=ε_rε₀ وμ₀→μ=μ_rμ₀.</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7"/>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3D2E"/>
          </a:solidFill>
          <a:ln/>
        </p:spPr>
      </p:sp>
      <p:sp>
        <p:nvSpPr>
          <p:cNvPr id="3" name="Text 1"/>
          <p:cNvSpPr/>
          <p:nvPr/>
        </p:nvSpPr>
        <p:spPr>
          <a:xfrm>
            <a:off x="274320" y="45720"/>
            <a:ext cx="8595360" cy="594360"/>
          </a:xfrm>
          <a:prstGeom prst="rect">
            <a:avLst/>
          </a:prstGeom>
          <a:noFill/>
          <a:ln/>
        </p:spPr>
        <p:txBody>
          <a:bodyPr wrap="square" rtlCol="0" anchor="ctr"/>
          <a:lstStyle/>
          <a:p>
            <a:pPr rtl="1" algn="r" indent="0" marL="0">
              <a:buNone/>
            </a:pPr>
            <a:r>
              <a:rPr lang="en-US" sz="1900" b="1" dirty="0">
                <a:solidFill>
                  <a:srgbClr val="FFFFFF"/>
                </a:solidFill>
                <a:latin typeface="Arial" pitchFamily="34" charset="0"/>
                <a:ea typeface="Arial" pitchFamily="34" charset="-122"/>
                <a:cs typeface="Arial" pitchFamily="34" charset="-120"/>
              </a:rPr>
              <a:t>تحليل دوائر التيار المتردد – الممانعة والرنين والقدرة</a:t>
            </a:r>
            <a:endParaRPr lang="en-US" sz="1900" dirty="0"/>
          </a:p>
        </p:txBody>
      </p:sp>
      <p:sp>
        <p:nvSpPr>
          <p:cNvPr id="4" name="Text 2"/>
          <p:cNvSpPr/>
          <p:nvPr/>
        </p:nvSpPr>
        <p:spPr>
          <a:xfrm>
            <a:off x="365760" y="777240"/>
            <a:ext cx="8412480" cy="4023360"/>
          </a:xfrm>
          <a:prstGeom prst="rect">
            <a:avLst/>
          </a:prstGeom>
          <a:noFill/>
          <a:ln/>
        </p:spPr>
        <p:txBody>
          <a:bodyPr wrap="square" rtlCol="0" anchor="ctr"/>
          <a:lstStyle/>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الممانعة: Z = R + jX  (j = √−1)؛ الجزء الحقيقي R هو المقاومة، الجزء التخيلي X هو المفاعلة.</a:t>
            </a:r>
            <a:endParaRPr lang="en-US" sz="1300" dirty="0"/>
          </a:p>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المقاومة: Z_R = R  (حقيقية بحتة)؛ المكثف: Z_C = 1/(jωC) = −j/(ωC)؛ الملف: Z_L = jωL.</a:t>
            </a:r>
            <a:endParaRPr lang="en-US" sz="1300" dirty="0"/>
          </a:p>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دائرة RLC التسلسلية: Z = R + j(ωL − 1/ωC)؛ تردد الرنين: ω₀ = 1/√(LC)؛ عامل الجودة Q = ω₀L/R.</a:t>
            </a:r>
            <a:endParaRPr lang="en-US" sz="1300" dirty="0"/>
          </a:p>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قانون أوم (تيار متردد): V = IZ (صيغة المتجه الدوار). قانون كيرشوف للتيار: ΣI = 0 (عند العقدة).</a:t>
            </a:r>
            <a:endParaRPr lang="en-US" sz="1300" dirty="0"/>
          </a:p>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القدرة الفعالة: P = VI cos(φ) [واط]؛ القدرة التفاعلية: Q = VI sin(φ) [فار]؛ القدرة الظاهرية: S = P + jQ [فولت-أمبير].</a:t>
            </a:r>
            <a:endParaRPr lang="en-US" sz="1300" dirty="0"/>
          </a:p>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معامل القدرة: pf = cos(φ) = P/|S|. يُعبّر عنه كنسبة مئوية. يؤثر على كفاءة نقل الطاقة.</a:t>
            </a:r>
            <a:endParaRPr lang="en-US" sz="1300" dirty="0"/>
          </a:p>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نظرية ثيفنان: استبدال أي شبكة خطية بمصدر جهد V_th مع ممانعة Z_th على التسلسل.</a:t>
            </a:r>
            <a:endParaRPr lang="en-US" sz="1300" dirty="0"/>
          </a:p>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نظرية نورتن: استبدال الشبكة بمصدر تيار I_N مع ممانعة Z_N على التوازي.</a:t>
            </a:r>
            <a:endParaRPr lang="en-US" sz="1300" dirty="0"/>
          </a:p>
          <a:p>
            <a:pPr algn="r" indent="0" marL="0">
              <a:buNone/>
            </a:pPr>
            <a:endParaRPr lang="en-US" sz="1300" dirty="0"/>
          </a:p>
        </p:txBody>
      </p:sp>
      <p:sp>
        <p:nvSpPr>
          <p:cNvPr id="5" name="Text 3"/>
          <p:cNvSpPr/>
          <p:nvPr/>
        </p:nvSpPr>
        <p:spPr>
          <a:xfrm>
            <a:off x="274320" y="4663440"/>
            <a:ext cx="8595360" cy="365760"/>
          </a:xfrm>
          <a:prstGeom prst="rect">
            <a:avLst/>
          </a:prstGeom>
          <a:noFill/>
          <a:ln/>
        </p:spPr>
        <p:txBody>
          <a:bodyPr wrap="square" rtlCol="0" anchor="ctr"/>
          <a:lstStyle/>
          <a:p>
            <a:pPr rtl="1" algn="r" indent="0" marL="0">
              <a:buNone/>
            </a:pPr>
            <a:r>
              <a:rPr lang="en-US" sz="1000" i="1" dirty="0">
                <a:solidFill>
                  <a:srgbClr val="7F8C8D"/>
                </a:solidFill>
                <a:latin typeface="Arial" pitchFamily="34" charset="0"/>
                <a:ea typeface="Arial" pitchFamily="34" charset="-122"/>
                <a:cs typeface="Arial" pitchFamily="34" charset="-120"/>
              </a:rPr>
              <a:t>المصدر: هايت وكمرلي – هندسة الكهرومغناطيسية، الطبعة الثامنة؛ سدو – نظرية الدوائر الكهربائية</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3A4A"/>
        </a:solidFill>
      </p:bgPr>
    </p:bg>
    <p:spTree>
      <p:nvGrpSpPr>
        <p:cNvPr id="1" name=""/>
        <p:cNvGrpSpPr/>
        <p:nvPr/>
      </p:nvGrpSpPr>
      <p:grpSpPr>
        <a:xfrm>
          <a:off x="0" y="0"/>
          <a:ext cx="0" cy="0"/>
          <a:chOff x="0" y="0"/>
          <a:chExt cx="0" cy="0"/>
        </a:xfrm>
      </p:grpSpPr>
      <p:sp>
        <p:nvSpPr>
          <p:cNvPr id="2" name="Shape 0"/>
          <p:cNvSpPr/>
          <p:nvPr/>
        </p:nvSpPr>
        <p:spPr>
          <a:xfrm>
            <a:off x="9034272" y="0"/>
            <a:ext cx="109728" cy="5143500"/>
          </a:xfrm>
          <a:prstGeom prst="rect">
            <a:avLst/>
          </a:prstGeom>
          <a:solidFill>
            <a:srgbClr val="C9A84C"/>
          </a:solidFill>
          <a:ln/>
        </p:spPr>
      </p:sp>
      <p:sp>
        <p:nvSpPr>
          <p:cNvPr id="3" name="Text 1"/>
          <p:cNvSpPr/>
          <p:nvPr/>
        </p:nvSpPr>
        <p:spPr>
          <a:xfrm>
            <a:off x="365760" y="914400"/>
            <a:ext cx="8412480" cy="548640"/>
          </a:xfrm>
          <a:prstGeom prst="rect">
            <a:avLst/>
          </a:prstGeom>
          <a:noFill/>
          <a:ln/>
        </p:spPr>
        <p:txBody>
          <a:bodyPr wrap="square" rtlCol="0" anchor="ctr"/>
          <a:lstStyle/>
          <a:p>
            <a:pPr rtl="1" algn="r" indent="0" marL="0">
              <a:buNone/>
            </a:pPr>
            <a:r>
              <a:rPr lang="en-US" sz="1600" b="1" spc="300" kern="0" dirty="0">
                <a:solidFill>
                  <a:srgbClr val="C9A84C"/>
                </a:solidFill>
                <a:latin typeface="Arial" pitchFamily="34" charset="0"/>
                <a:ea typeface="Arial" pitchFamily="34" charset="-122"/>
                <a:cs typeface="Arial" pitchFamily="34" charset="-120"/>
              </a:rPr>
              <a:t>القسم الرابع</a:t>
            </a:r>
            <a:endParaRPr lang="en-US" sz="1600" dirty="0"/>
          </a:p>
        </p:txBody>
      </p:sp>
      <p:sp>
        <p:nvSpPr>
          <p:cNvPr id="4" name="Text 2"/>
          <p:cNvSpPr/>
          <p:nvPr/>
        </p:nvSpPr>
        <p:spPr>
          <a:xfrm>
            <a:off x="365760" y="1463040"/>
            <a:ext cx="8412480" cy="1371600"/>
          </a:xfrm>
          <a:prstGeom prst="rect">
            <a:avLst/>
          </a:prstGeom>
          <a:noFill/>
          <a:ln/>
        </p:spPr>
        <p:txBody>
          <a:bodyPr wrap="square" rtlCol="0" anchor="ctr"/>
          <a:lstStyle/>
          <a:p>
            <a:pPr rtl="1" algn="r" indent="0" marL="0">
              <a:buNone/>
            </a:pPr>
            <a:r>
              <a:rPr lang="en-US" sz="3200" b="1" dirty="0">
                <a:solidFill>
                  <a:srgbClr val="FFFFFF"/>
                </a:solidFill>
                <a:latin typeface="Arial" pitchFamily="34" charset="0"/>
                <a:ea typeface="Arial" pitchFamily="34" charset="-122"/>
                <a:cs typeface="Arial" pitchFamily="34" charset="-120"/>
              </a:rPr>
              <a:t>ميكانيكا الكم</a:t>
            </a:r>
            <a:endParaRPr lang="en-US" sz="3200" dirty="0"/>
          </a:p>
        </p:txBody>
      </p:sp>
      <p:sp>
        <p:nvSpPr>
          <p:cNvPr id="5" name="Text 3"/>
          <p:cNvSpPr/>
          <p:nvPr/>
        </p:nvSpPr>
        <p:spPr>
          <a:xfrm>
            <a:off x="365760" y="2834640"/>
            <a:ext cx="8412480" cy="822960"/>
          </a:xfrm>
          <a:prstGeom prst="rect">
            <a:avLst/>
          </a:prstGeom>
          <a:noFill/>
          <a:ln/>
        </p:spPr>
        <p:txBody>
          <a:bodyPr wrap="square" rtlCol="0" anchor="ctr"/>
          <a:lstStyle/>
          <a:p>
            <a:pPr rtl="1" algn="r" indent="0" marL="0">
              <a:buNone/>
            </a:pPr>
            <a:r>
              <a:rPr lang="en-US" sz="1500" dirty="0">
                <a:solidFill>
                  <a:srgbClr val="F5E6B8"/>
                </a:solidFill>
                <a:latin typeface="Arial" pitchFamily="34" charset="0"/>
                <a:ea typeface="Arial" pitchFamily="34" charset="-122"/>
                <a:cs typeface="Arial" pitchFamily="34" charset="-120"/>
              </a:rPr>
              <a:t>دوال الموجة والمؤثرات ومعادلة شرودنغر</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4A"/>
          </a:solidFill>
          <a:ln/>
        </p:spPr>
      </p:sp>
      <p:sp>
        <p:nvSpPr>
          <p:cNvPr id="3" name="Text 1"/>
          <p:cNvSpPr/>
          <p:nvPr/>
        </p:nvSpPr>
        <p:spPr>
          <a:xfrm>
            <a:off x="274320" y="45720"/>
            <a:ext cx="8595360" cy="594360"/>
          </a:xfrm>
          <a:prstGeom prst="rect">
            <a:avLst/>
          </a:prstGeom>
          <a:noFill/>
          <a:ln/>
        </p:spPr>
        <p:txBody>
          <a:bodyPr wrap="square" rtlCol="0" anchor="ctr"/>
          <a:lstStyle/>
          <a:p>
            <a:pPr rtl="1" algn="r" indent="0" marL="0">
              <a:buNone/>
            </a:pPr>
            <a:r>
              <a:rPr lang="en-US" sz="1900" b="1" dirty="0">
                <a:solidFill>
                  <a:srgbClr val="FFFFFF"/>
                </a:solidFill>
                <a:latin typeface="Arial" pitchFamily="34" charset="0"/>
                <a:ea typeface="Arial" pitchFamily="34" charset="-122"/>
                <a:cs typeface="Arial" pitchFamily="34" charset="-120"/>
              </a:rPr>
              <a:t>معادلة شرودنغر وفرضيات الكم الأساسية</a:t>
            </a:r>
            <a:endParaRPr lang="en-US" sz="1900" dirty="0"/>
          </a:p>
        </p:txBody>
      </p:sp>
      <p:sp>
        <p:nvSpPr>
          <p:cNvPr id="4" name="Shape 2"/>
          <p:cNvSpPr/>
          <p:nvPr/>
        </p:nvSpPr>
        <p:spPr>
          <a:xfrm>
            <a:off x="457200" y="822960"/>
            <a:ext cx="8229600" cy="502920"/>
          </a:xfrm>
          <a:prstGeom prst="rect">
            <a:avLst/>
          </a:prstGeom>
          <a:solidFill>
            <a:srgbClr val="F0F3F4"/>
          </a:solidFill>
          <a:ln w="19050">
            <a:solidFill>
              <a:srgbClr val="C9A84C"/>
            </a:solidFill>
            <a:prstDash val="solid"/>
          </a:ln>
        </p:spPr>
      </p:sp>
      <p:sp>
        <p:nvSpPr>
          <p:cNvPr id="5" name="Text 3"/>
          <p:cNvSpPr/>
          <p:nvPr/>
        </p:nvSpPr>
        <p:spPr>
          <a:xfrm>
            <a:off x="548640" y="85039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المعادلة المعتمدة على الزمن:  iħ ∂Ψ/∂t = ĤΨ  =  [−ħ²/2m ∇² + V(r,t)]Ψ</a:t>
            </a:r>
            <a:endParaRPr lang="en-US" sz="1300" dirty="0"/>
          </a:p>
        </p:txBody>
      </p:sp>
      <p:sp>
        <p:nvSpPr>
          <p:cNvPr id="6" name="Shape 4"/>
          <p:cNvSpPr/>
          <p:nvPr/>
        </p:nvSpPr>
        <p:spPr>
          <a:xfrm>
            <a:off x="457200" y="1417320"/>
            <a:ext cx="8229600" cy="502920"/>
          </a:xfrm>
          <a:prstGeom prst="rect">
            <a:avLst/>
          </a:prstGeom>
          <a:solidFill>
            <a:srgbClr val="F0F3F4"/>
          </a:solidFill>
          <a:ln w="19050">
            <a:solidFill>
              <a:srgbClr val="C9A84C"/>
            </a:solidFill>
            <a:prstDash val="solid"/>
          </a:ln>
        </p:spPr>
      </p:sp>
      <p:sp>
        <p:nvSpPr>
          <p:cNvPr id="7" name="Text 5"/>
          <p:cNvSpPr/>
          <p:nvPr/>
        </p:nvSpPr>
        <p:spPr>
          <a:xfrm>
            <a:off x="548640" y="144475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المعادلة المستقلة عن الزمن:  ĤΨ = EΨ  (الحالات الثابتة)</a:t>
            </a:r>
            <a:endParaRPr lang="en-US" sz="1300" dirty="0"/>
          </a:p>
        </p:txBody>
      </p:sp>
      <p:sp>
        <p:nvSpPr>
          <p:cNvPr id="8" name="Shape 6"/>
          <p:cNvSpPr/>
          <p:nvPr/>
        </p:nvSpPr>
        <p:spPr>
          <a:xfrm>
            <a:off x="457200" y="2011680"/>
            <a:ext cx="8229600" cy="502920"/>
          </a:xfrm>
          <a:prstGeom prst="rect">
            <a:avLst/>
          </a:prstGeom>
          <a:solidFill>
            <a:srgbClr val="F0F3F4"/>
          </a:solidFill>
          <a:ln w="19050">
            <a:solidFill>
              <a:srgbClr val="C9A84C"/>
            </a:solidFill>
            <a:prstDash val="solid"/>
          </a:ln>
        </p:spPr>
      </p:sp>
      <p:sp>
        <p:nvSpPr>
          <p:cNvPr id="9" name="Text 7"/>
          <p:cNvSpPr/>
          <p:nvPr/>
        </p:nvSpPr>
        <p:spPr>
          <a:xfrm>
            <a:off x="548640" y="203911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التطبيع:  ∫|Ψ|² dV = 1  (التفسير الاحتمالي)</a:t>
            </a:r>
            <a:endParaRPr lang="en-US" sz="1300" dirty="0"/>
          </a:p>
        </p:txBody>
      </p:sp>
      <p:sp>
        <p:nvSpPr>
          <p:cNvPr id="10" name="Shape 8"/>
          <p:cNvSpPr/>
          <p:nvPr/>
        </p:nvSpPr>
        <p:spPr>
          <a:xfrm>
            <a:off x="457200" y="2606040"/>
            <a:ext cx="8229600" cy="502920"/>
          </a:xfrm>
          <a:prstGeom prst="rect">
            <a:avLst/>
          </a:prstGeom>
          <a:solidFill>
            <a:srgbClr val="F0F3F4"/>
          </a:solidFill>
          <a:ln w="19050">
            <a:solidFill>
              <a:srgbClr val="C9A84C"/>
            </a:solidFill>
            <a:prstDash val="solid"/>
          </a:ln>
        </p:spPr>
      </p:sp>
      <p:sp>
        <p:nvSpPr>
          <p:cNvPr id="11" name="Text 9"/>
          <p:cNvSpPr/>
          <p:nvPr/>
        </p:nvSpPr>
        <p:spPr>
          <a:xfrm>
            <a:off x="548640" y="263347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قيمة التوقع:  ⟨A⟩ = ∫ Ψ* Â Ψ dV</a:t>
            </a:r>
            <a:endParaRPr lang="en-US" sz="1300" dirty="0"/>
          </a:p>
        </p:txBody>
      </p:sp>
      <p:sp>
        <p:nvSpPr>
          <p:cNvPr id="12" name="Shape 10"/>
          <p:cNvSpPr/>
          <p:nvPr/>
        </p:nvSpPr>
        <p:spPr>
          <a:xfrm>
            <a:off x="457200" y="3200400"/>
            <a:ext cx="8229600" cy="502920"/>
          </a:xfrm>
          <a:prstGeom prst="rect">
            <a:avLst/>
          </a:prstGeom>
          <a:solidFill>
            <a:srgbClr val="F0F3F4"/>
          </a:solidFill>
          <a:ln w="19050">
            <a:solidFill>
              <a:srgbClr val="C9A84C"/>
            </a:solidFill>
            <a:prstDash val="solid"/>
          </a:ln>
        </p:spPr>
      </p:sp>
      <p:sp>
        <p:nvSpPr>
          <p:cNvPr id="13" name="Text 11"/>
          <p:cNvSpPr/>
          <p:nvPr/>
        </p:nvSpPr>
        <p:spPr>
          <a:xfrm>
            <a:off x="548640" y="322783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مبدأ هايزنبرغ للشك:  ΔxΔp ≥ ħ/2  ؛  ΔEΔt ≥ ħ/2</a:t>
            </a:r>
            <a:endParaRPr lang="en-US" sz="1300" dirty="0"/>
          </a:p>
        </p:txBody>
      </p:sp>
      <p:sp>
        <p:nvSpPr>
          <p:cNvPr id="14" name="Shape 12"/>
          <p:cNvSpPr/>
          <p:nvPr/>
        </p:nvSpPr>
        <p:spPr>
          <a:xfrm>
            <a:off x="457200" y="3794760"/>
            <a:ext cx="8229600" cy="502920"/>
          </a:xfrm>
          <a:prstGeom prst="rect">
            <a:avLst/>
          </a:prstGeom>
          <a:solidFill>
            <a:srgbClr val="F0F3F4"/>
          </a:solidFill>
          <a:ln w="19050">
            <a:solidFill>
              <a:srgbClr val="C9A84C"/>
            </a:solidFill>
            <a:prstDash val="solid"/>
          </a:ln>
        </p:spPr>
      </p:sp>
      <p:sp>
        <p:nvSpPr>
          <p:cNvPr id="15" name="Text 13"/>
          <p:cNvSpPr/>
          <p:nvPr/>
        </p:nvSpPr>
        <p:spPr>
          <a:xfrm>
            <a:off x="548640" y="382219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دوبروي:  λ = h/p  ؛  E = hf = ħω</a:t>
            </a:r>
            <a:endParaRPr lang="en-US" sz="1300" dirty="0"/>
          </a:p>
        </p:txBody>
      </p:sp>
      <p:sp>
        <p:nvSpPr>
          <p:cNvPr id="16" name="Shape 14"/>
          <p:cNvSpPr/>
          <p:nvPr/>
        </p:nvSpPr>
        <p:spPr>
          <a:xfrm>
            <a:off x="457200" y="4389120"/>
            <a:ext cx="8229600" cy="502920"/>
          </a:xfrm>
          <a:prstGeom prst="rect">
            <a:avLst/>
          </a:prstGeom>
          <a:solidFill>
            <a:srgbClr val="F0F3F4"/>
          </a:solidFill>
          <a:ln w="19050">
            <a:solidFill>
              <a:srgbClr val="C9A84C"/>
            </a:solidFill>
            <a:prstDash val="solid"/>
          </a:ln>
        </p:spPr>
      </p:sp>
      <p:sp>
        <p:nvSpPr>
          <p:cNvPr id="17" name="Text 15"/>
          <p:cNvSpPr/>
          <p:nvPr/>
        </p:nvSpPr>
        <p:spPr>
          <a:xfrm>
            <a:off x="548640" y="441655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المبدّل:  [x̂, p̂] = iħ  (شرط التكميم القانوني)</a:t>
            </a:r>
            <a:endParaRPr lang="en-US" sz="1300" dirty="0"/>
          </a:p>
        </p:txBody>
      </p:sp>
      <p:sp>
        <p:nvSpPr>
          <p:cNvPr id="18" name="Text 16"/>
          <p:cNvSpPr/>
          <p:nvPr/>
        </p:nvSpPr>
        <p:spPr>
          <a:xfrm>
            <a:off x="457200" y="4983480"/>
            <a:ext cx="8229600" cy="-114300"/>
          </a:xfrm>
          <a:prstGeom prst="rect">
            <a:avLst/>
          </a:prstGeom>
          <a:noFill/>
          <a:ln/>
        </p:spPr>
        <p:txBody>
          <a:bodyPr wrap="square" rtlCol="0" anchor="ctr"/>
          <a:lstStyle/>
          <a:p>
            <a:pPr rtl="1" algn="r" indent="0" marL="0">
              <a:buNone/>
            </a:pPr>
            <a:r>
              <a:rPr lang="en-US" sz="1200" dirty="0">
                <a:solidFill>
                  <a:srgbClr val="2C3E50"/>
                </a:solidFill>
                <a:latin typeface="Arial" pitchFamily="34" charset="0"/>
                <a:ea typeface="Arial" pitchFamily="34" charset="-122"/>
                <a:cs typeface="Arial" pitchFamily="34" charset="-120"/>
              </a:rPr>
              <a:t>Ψ(r,t) هي دالة الموجة المعقدة. |Ψ|² هي كثافة الاحتمال. الهاميلتوني Ĥ هو مؤثر الطاقة الكلية. المراصد المتبادلة تشترك في الحالات الذاتية؛ غير المتبادلة تخضع للشك. يعالج تفسير كوبنهاغن انهيار دالة الموجة عند القياس.</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7"/>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3D2E"/>
          </a:solidFill>
          <a:ln/>
        </p:spPr>
      </p:sp>
      <p:sp>
        <p:nvSpPr>
          <p:cNvPr id="3" name="Text 1"/>
          <p:cNvSpPr/>
          <p:nvPr/>
        </p:nvSpPr>
        <p:spPr>
          <a:xfrm>
            <a:off x="274320" y="45720"/>
            <a:ext cx="8595360" cy="594360"/>
          </a:xfrm>
          <a:prstGeom prst="rect">
            <a:avLst/>
          </a:prstGeom>
          <a:noFill/>
          <a:ln/>
        </p:spPr>
        <p:txBody>
          <a:bodyPr wrap="square" rtlCol="0" anchor="ctr"/>
          <a:lstStyle/>
          <a:p>
            <a:pPr rtl="1" algn="r" indent="0" marL="0">
              <a:buNone/>
            </a:pPr>
            <a:r>
              <a:rPr lang="en-US" sz="1700" b="1" dirty="0">
                <a:solidFill>
                  <a:srgbClr val="FFFFFF"/>
                </a:solidFill>
                <a:latin typeface="Arial" pitchFamily="34" charset="0"/>
                <a:ea typeface="Arial" pitchFamily="34" charset="-122"/>
                <a:cs typeface="Arial" pitchFamily="34" charset="-120"/>
              </a:rPr>
              <a:t>ذرة الهيدروجين – مستويات الطاقة والأعداد الكمية والسلاسل الطيفية</a:t>
            </a:r>
            <a:endParaRPr lang="en-US" sz="17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274320" y="777240"/>
          <a:ext cx="8595360" cy="914400"/>
        </p:xfrm>
        <a:graphic>
          <a:graphicData uri="http://schemas.openxmlformats.org/drawingml/2006/table">
            <a:tbl>
              <a:tblPr/>
              <a:tblGrid>
                <a:gridCol w="1828800"/>
                <a:gridCol w="1188720"/>
                <a:gridCol w="1188720"/>
                <a:gridCol w="2194560"/>
                <a:gridCol w="2194560"/>
              </a:tblGrid>
              <a:tr h="0">
                <a:tc>
                  <a:txBody>
                    <a:bodyPr/>
                    <a:lstStyle/>
                    <a:p>
                      <a:pPr algn="r" indent="0" marL="0">
                        <a:buNone/>
                      </a:pPr>
                      <a:r>
                        <a:rPr lang="en-US" sz="1100" b="1" dirty="0">
                          <a:solidFill>
                            <a:srgbClr val="FFFFFF"/>
                          </a:solidFill>
                        </a:rPr>
                        <a:t>السلسلة</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c>
                  <a:txBody>
                    <a:bodyPr/>
                    <a:lstStyle/>
                    <a:p>
                      <a:pPr algn="r" indent="0" marL="0">
                        <a:buNone/>
                      </a:pPr>
                      <a:r>
                        <a:rPr lang="en-US" sz="1100" b="1" dirty="0">
                          <a:solidFill>
                            <a:srgbClr val="FFFFFF"/>
                          </a:solidFill>
                        </a:rPr>
                        <a:t>n_ابتدائي</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c>
                  <a:txBody>
                    <a:bodyPr/>
                    <a:lstStyle/>
                    <a:p>
                      <a:pPr algn="r" indent="0" marL="0">
                        <a:buNone/>
                      </a:pPr>
                      <a:r>
                        <a:rPr lang="en-US" sz="1100" b="1" dirty="0">
                          <a:solidFill>
                            <a:srgbClr val="FFFFFF"/>
                          </a:solidFill>
                        </a:rPr>
                        <a:t>n_نهائي</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c>
                  <a:txBody>
                    <a:bodyPr/>
                    <a:lstStyle/>
                    <a:p>
                      <a:pPr algn="r" indent="0" marL="0">
                        <a:buNone/>
                      </a:pPr>
                      <a:r>
                        <a:rPr lang="en-US" sz="1100" b="1" dirty="0">
                          <a:solidFill>
                            <a:srgbClr val="FFFFFF"/>
                          </a:solidFill>
                        </a:rPr>
                        <a:t>المنطقة الطيفية</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c>
                  <a:txBody>
                    <a:bodyPr/>
                    <a:lstStyle/>
                    <a:p>
                      <a:pPr algn="r" indent="0" marL="0">
                        <a:buNone/>
                      </a:pPr>
                      <a:r>
                        <a:rPr lang="en-US" sz="1100" b="1" dirty="0">
                          <a:solidFill>
                            <a:srgbClr val="FFFFFF"/>
                          </a:solidFill>
                        </a:rPr>
                        <a:t>نطاق الطول الموجي</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r>
              <a:tr h="0">
                <a:tc>
                  <a:txBody>
                    <a:bodyPr/>
                    <a:lstStyle/>
                    <a:p>
                      <a:pPr algn="r" indent="0" marL="0">
                        <a:buNone/>
                      </a:pPr>
                      <a:r>
                        <a:rPr lang="en-US" sz="1100" dirty="0">
                          <a:solidFill>
                            <a:srgbClr val="2C3E50"/>
                          </a:solidFill>
                        </a:rPr>
                        <a:t>ليمان (Lyman)</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100" dirty="0">
                          <a:solidFill>
                            <a:srgbClr val="2C3E50"/>
                          </a:solidFill>
                        </a:rPr>
                        <a:t>≥2</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100" dirty="0">
                          <a:solidFill>
                            <a:srgbClr val="2C3E50"/>
                          </a:solidFill>
                        </a:rPr>
                        <a:t>1</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100" dirty="0">
                          <a:solidFill>
                            <a:srgbClr val="2C3E50"/>
                          </a:solidFill>
                        </a:rPr>
                        <a:t>فوق البنفسجي</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100" dirty="0">
                          <a:solidFill>
                            <a:srgbClr val="2C3E50"/>
                          </a:solidFill>
                        </a:rPr>
                        <a:t>91–121 nm</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r h="0">
                <a:tc>
                  <a:txBody>
                    <a:bodyPr/>
                    <a:lstStyle/>
                    <a:p>
                      <a:pPr algn="r" indent="0" marL="0">
                        <a:buNone/>
                      </a:pPr>
                      <a:r>
                        <a:rPr lang="en-US" sz="1100" dirty="0">
                          <a:solidFill>
                            <a:srgbClr val="2C3E50"/>
                          </a:solidFill>
                        </a:rPr>
                        <a:t>بالمر (Balmer)</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C3E50"/>
                          </a:solidFill>
                        </a:rPr>
                        <a:t>≥3</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C3E50"/>
                          </a:solidFill>
                        </a:rPr>
                        <a:t>2</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C3E50"/>
                          </a:solidFill>
                        </a:rPr>
                        <a:t>مرئي/قريب UV</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C3E50"/>
                          </a:solidFill>
                        </a:rPr>
                        <a:t>364–656 nm</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r>
              <a:tr h="0">
                <a:tc>
                  <a:txBody>
                    <a:bodyPr/>
                    <a:lstStyle/>
                    <a:p>
                      <a:pPr algn="r" indent="0" marL="0">
                        <a:buNone/>
                      </a:pPr>
                      <a:r>
                        <a:rPr lang="en-US" sz="1100" dirty="0">
                          <a:solidFill>
                            <a:srgbClr val="2C3E50"/>
                          </a:solidFill>
                        </a:rPr>
                        <a:t>باشن (Paschen)</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100" dirty="0">
                          <a:solidFill>
                            <a:srgbClr val="2C3E50"/>
                          </a:solidFill>
                        </a:rPr>
                        <a:t>≥4</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100" dirty="0">
                          <a:solidFill>
                            <a:srgbClr val="2C3E50"/>
                          </a:solidFill>
                        </a:rPr>
                        <a:t>3</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100" dirty="0">
                          <a:solidFill>
                            <a:srgbClr val="2C3E50"/>
                          </a:solidFill>
                        </a:rPr>
                        <a:t>قريب الأشعة تحت الحمراء</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100" dirty="0">
                          <a:solidFill>
                            <a:srgbClr val="2C3E50"/>
                          </a:solidFill>
                        </a:rPr>
                        <a:t>820–1875 nm</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r h="0">
                <a:tc>
                  <a:txBody>
                    <a:bodyPr/>
                    <a:lstStyle/>
                    <a:p>
                      <a:pPr algn="r" indent="0" marL="0">
                        <a:buNone/>
                      </a:pPr>
                      <a:r>
                        <a:rPr lang="en-US" sz="1100" dirty="0">
                          <a:solidFill>
                            <a:srgbClr val="2C3E50"/>
                          </a:solidFill>
                        </a:rPr>
                        <a:t>براكيت (Brackett)</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C3E50"/>
                          </a:solidFill>
                        </a:rPr>
                        <a:t>≥5</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C3E50"/>
                          </a:solidFill>
                        </a:rPr>
                        <a:t>4</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C3E50"/>
                          </a:solidFill>
                        </a:rPr>
                        <a:t>أشعة تحت الحمراء</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C3E50"/>
                          </a:solidFill>
                        </a:rPr>
                        <a:t>1.46–4.05 μm</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r>
              <a:tr h="0">
                <a:tc>
                  <a:txBody>
                    <a:bodyPr/>
                    <a:lstStyle/>
                    <a:p>
                      <a:pPr algn="r" indent="0" marL="0">
                        <a:buNone/>
                      </a:pPr>
                      <a:r>
                        <a:rPr lang="en-US" sz="1100" dirty="0">
                          <a:solidFill>
                            <a:srgbClr val="2C3E50"/>
                          </a:solidFill>
                        </a:rPr>
                        <a:t>بفوند (Pfund)</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100" dirty="0">
                          <a:solidFill>
                            <a:srgbClr val="2C3E50"/>
                          </a:solidFill>
                        </a:rPr>
                        <a:t>≥6</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100" dirty="0">
                          <a:solidFill>
                            <a:srgbClr val="2C3E50"/>
                          </a:solidFill>
                        </a:rPr>
                        <a:t>5</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100" dirty="0">
                          <a:solidFill>
                            <a:srgbClr val="2C3E50"/>
                          </a:solidFill>
                        </a:rPr>
                        <a:t>أشعة تحت الحمراء متوسطة</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100" dirty="0">
                          <a:solidFill>
                            <a:srgbClr val="2C3E50"/>
                          </a:solidFill>
                        </a:rPr>
                        <a:t>2.28–7.46 μm</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bl>
          </a:graphicData>
        </a:graphic>
      </p:graphicFrame>
      <p:sp>
        <p:nvSpPr>
          <p:cNvPr id="5" name="Text 2"/>
          <p:cNvSpPr/>
          <p:nvPr/>
        </p:nvSpPr>
        <p:spPr>
          <a:xfrm>
            <a:off x="274320" y="4114800"/>
            <a:ext cx="8595360" cy="868680"/>
          </a:xfrm>
          <a:prstGeom prst="rect">
            <a:avLst/>
          </a:prstGeom>
          <a:noFill/>
          <a:ln/>
        </p:spPr>
        <p:txBody>
          <a:bodyPr wrap="square" rtlCol="0" anchor="ctr"/>
          <a:lstStyle/>
          <a:p>
            <a:pPr rtl="1" algn="r" indent="0" marL="0">
              <a:buNone/>
            </a:pPr>
            <a:r>
              <a:rPr lang="en-US" sz="1100" dirty="0">
                <a:solidFill>
                  <a:srgbClr val="2C3E50"/>
                </a:solidFill>
                <a:latin typeface="Arial" pitchFamily="34" charset="0"/>
                <a:ea typeface="Arial" pitchFamily="34" charset="-122"/>
                <a:cs typeface="Arial" pitchFamily="34" charset="-120"/>
              </a:rPr>
              <a:t>معادلة الطاقة: E_n = −13.6 eV / n². الأعداد الكمية: n (رئيسي)، l (زاوي، 0 إلى n−1)، m_l (مغناطيسي، −l إلى +l)، m_s (دوراني، ±½). التحلل لكل n: 2n². ثابت ريدبرغ R_∞ = 1.0974×10⁷ م⁻¹. معادلة ريدبرغ: 1/λ = R_∞(1/n₁² − 1/n₂²).</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3A4A"/>
        </a:solidFill>
      </p:bgPr>
    </p:bg>
    <p:spTree>
      <p:nvGrpSpPr>
        <p:cNvPr id="1" name=""/>
        <p:cNvGrpSpPr/>
        <p:nvPr/>
      </p:nvGrpSpPr>
      <p:grpSpPr>
        <a:xfrm>
          <a:off x="0" y="0"/>
          <a:ext cx="0" cy="0"/>
          <a:chOff x="0" y="0"/>
          <a:chExt cx="0" cy="0"/>
        </a:xfrm>
      </p:grpSpPr>
      <p:sp>
        <p:nvSpPr>
          <p:cNvPr id="2" name="Shape 0"/>
          <p:cNvSpPr/>
          <p:nvPr/>
        </p:nvSpPr>
        <p:spPr>
          <a:xfrm>
            <a:off x="9034272" y="0"/>
            <a:ext cx="109728" cy="5143500"/>
          </a:xfrm>
          <a:prstGeom prst="rect">
            <a:avLst/>
          </a:prstGeom>
          <a:solidFill>
            <a:srgbClr val="C9A84C"/>
          </a:solidFill>
          <a:ln/>
        </p:spPr>
      </p:sp>
      <p:sp>
        <p:nvSpPr>
          <p:cNvPr id="3" name="Text 1"/>
          <p:cNvSpPr/>
          <p:nvPr/>
        </p:nvSpPr>
        <p:spPr>
          <a:xfrm>
            <a:off x="365760" y="914400"/>
            <a:ext cx="8412480" cy="548640"/>
          </a:xfrm>
          <a:prstGeom prst="rect">
            <a:avLst/>
          </a:prstGeom>
          <a:noFill/>
          <a:ln/>
        </p:spPr>
        <p:txBody>
          <a:bodyPr wrap="square" rtlCol="0" anchor="ctr"/>
          <a:lstStyle/>
          <a:p>
            <a:pPr rtl="1" algn="r" indent="0" marL="0">
              <a:buNone/>
            </a:pPr>
            <a:r>
              <a:rPr lang="en-US" sz="1600" b="1" spc="300" kern="0" dirty="0">
                <a:solidFill>
                  <a:srgbClr val="C9A84C"/>
                </a:solidFill>
                <a:latin typeface="Arial" pitchFamily="34" charset="0"/>
                <a:ea typeface="Arial" pitchFamily="34" charset="-122"/>
                <a:cs typeface="Arial" pitchFamily="34" charset="-120"/>
              </a:rPr>
              <a:t>القسم الخامس</a:t>
            </a:r>
            <a:endParaRPr lang="en-US" sz="1600" dirty="0"/>
          </a:p>
        </p:txBody>
      </p:sp>
      <p:sp>
        <p:nvSpPr>
          <p:cNvPr id="4" name="Text 2"/>
          <p:cNvSpPr/>
          <p:nvPr/>
        </p:nvSpPr>
        <p:spPr>
          <a:xfrm>
            <a:off x="365760" y="1463040"/>
            <a:ext cx="8412480" cy="1371600"/>
          </a:xfrm>
          <a:prstGeom prst="rect">
            <a:avLst/>
          </a:prstGeom>
          <a:noFill/>
          <a:ln/>
        </p:spPr>
        <p:txBody>
          <a:bodyPr wrap="square" rtlCol="0" anchor="ctr"/>
          <a:lstStyle/>
          <a:p>
            <a:pPr rtl="1" algn="r" indent="0" marL="0">
              <a:buNone/>
            </a:pPr>
            <a:r>
              <a:rPr lang="en-US" sz="3200" b="1" dirty="0">
                <a:solidFill>
                  <a:srgbClr val="FFFFFF"/>
                </a:solidFill>
                <a:latin typeface="Arial" pitchFamily="34" charset="0"/>
                <a:ea typeface="Arial" pitchFamily="34" charset="-122"/>
                <a:cs typeface="Arial" pitchFamily="34" charset="-120"/>
              </a:rPr>
              <a:t>حساب التفاضل والتكامل والمعادلات التفاضلية</a:t>
            </a:r>
            <a:endParaRPr lang="en-US" sz="3200" dirty="0"/>
          </a:p>
        </p:txBody>
      </p:sp>
      <p:sp>
        <p:nvSpPr>
          <p:cNvPr id="5" name="Text 3"/>
          <p:cNvSpPr/>
          <p:nvPr/>
        </p:nvSpPr>
        <p:spPr>
          <a:xfrm>
            <a:off x="365760" y="2834640"/>
            <a:ext cx="8412480" cy="822960"/>
          </a:xfrm>
          <a:prstGeom prst="rect">
            <a:avLst/>
          </a:prstGeom>
          <a:noFill/>
          <a:ln/>
        </p:spPr>
        <p:txBody>
          <a:bodyPr wrap="square" rtlCol="0" anchor="ctr"/>
          <a:lstStyle/>
          <a:p>
            <a:pPr rtl="1" algn="r" indent="0" marL="0">
              <a:buNone/>
            </a:pPr>
            <a:r>
              <a:rPr lang="en-US" sz="1500" dirty="0">
                <a:solidFill>
                  <a:srgbClr val="F5E6B8"/>
                </a:solidFill>
                <a:latin typeface="Arial" pitchFamily="34" charset="0"/>
                <a:ea typeface="Arial" pitchFamily="34" charset="-122"/>
                <a:cs typeface="Arial" pitchFamily="34" charset="-120"/>
              </a:rPr>
              <a:t>الحدود والتكاملات والمعادلات التفاضلية الاعتيادية</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4A"/>
          </a:solidFill>
          <a:ln/>
        </p:spPr>
      </p:sp>
      <p:sp>
        <p:nvSpPr>
          <p:cNvPr id="3" name="Text 1"/>
          <p:cNvSpPr/>
          <p:nvPr/>
        </p:nvSpPr>
        <p:spPr>
          <a:xfrm>
            <a:off x="274320" y="45720"/>
            <a:ext cx="8595360" cy="594360"/>
          </a:xfrm>
          <a:prstGeom prst="rect">
            <a:avLst/>
          </a:prstGeom>
          <a:noFill/>
          <a:ln/>
        </p:spPr>
        <p:txBody>
          <a:bodyPr wrap="square" rtlCol="0" anchor="ctr"/>
          <a:lstStyle/>
          <a:p>
            <a:pPr rtl="1" algn="r" indent="0" marL="0">
              <a:buNone/>
            </a:pPr>
            <a:r>
              <a:rPr lang="en-US" sz="1900" b="1" dirty="0">
                <a:solidFill>
                  <a:srgbClr val="FFFFFF"/>
                </a:solidFill>
                <a:latin typeface="Arial" pitchFamily="34" charset="0"/>
                <a:ea typeface="Arial" pitchFamily="34" charset="-122"/>
                <a:cs typeface="Arial" pitchFamily="34" charset="-120"/>
              </a:rPr>
              <a:t>أساسيات التفاضل والتكامل: النظرية الأساسية والمتسلسلات والتحويلات</a:t>
            </a:r>
            <a:endParaRPr lang="en-US" sz="1900" dirty="0"/>
          </a:p>
        </p:txBody>
      </p:sp>
      <p:sp>
        <p:nvSpPr>
          <p:cNvPr id="4" name="Shape 2"/>
          <p:cNvSpPr/>
          <p:nvPr/>
        </p:nvSpPr>
        <p:spPr>
          <a:xfrm>
            <a:off x="457200" y="822960"/>
            <a:ext cx="8229600" cy="502920"/>
          </a:xfrm>
          <a:prstGeom prst="rect">
            <a:avLst/>
          </a:prstGeom>
          <a:solidFill>
            <a:srgbClr val="F0F3F4"/>
          </a:solidFill>
          <a:ln w="19050">
            <a:solidFill>
              <a:srgbClr val="C9A84C"/>
            </a:solidFill>
            <a:prstDash val="solid"/>
          </a:ln>
        </p:spPr>
      </p:sp>
      <p:sp>
        <p:nvSpPr>
          <p:cNvPr id="5" name="Text 3"/>
          <p:cNvSpPr/>
          <p:nvPr/>
        </p:nvSpPr>
        <p:spPr>
          <a:xfrm>
            <a:off x="548640" y="85039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النظرية الأساسية:  ∫_a^b f(x)dx = F(b) − F(a)  حيث F'(x) = f(x)</a:t>
            </a:r>
            <a:endParaRPr lang="en-US" sz="1300" dirty="0"/>
          </a:p>
        </p:txBody>
      </p:sp>
      <p:sp>
        <p:nvSpPr>
          <p:cNvPr id="6" name="Shape 4"/>
          <p:cNvSpPr/>
          <p:nvPr/>
        </p:nvSpPr>
        <p:spPr>
          <a:xfrm>
            <a:off x="457200" y="1417320"/>
            <a:ext cx="8229600" cy="502920"/>
          </a:xfrm>
          <a:prstGeom prst="rect">
            <a:avLst/>
          </a:prstGeom>
          <a:solidFill>
            <a:srgbClr val="F0F3F4"/>
          </a:solidFill>
          <a:ln w="19050">
            <a:solidFill>
              <a:srgbClr val="C9A84C"/>
            </a:solidFill>
            <a:prstDash val="solid"/>
          </a:ln>
        </p:spPr>
      </p:sp>
      <p:sp>
        <p:nvSpPr>
          <p:cNvPr id="7" name="Text 5"/>
          <p:cNvSpPr/>
          <p:nvPr/>
        </p:nvSpPr>
        <p:spPr>
          <a:xfrm>
            <a:off x="548640" y="144475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متسلسلة تايلور:  f(x) = Σ_{n=0}^∞ f^(n)(a)/n! · (x−a)^n</a:t>
            </a:r>
            <a:endParaRPr lang="en-US" sz="1300" dirty="0"/>
          </a:p>
        </p:txBody>
      </p:sp>
      <p:sp>
        <p:nvSpPr>
          <p:cNvPr id="8" name="Shape 6"/>
          <p:cNvSpPr/>
          <p:nvPr/>
        </p:nvSpPr>
        <p:spPr>
          <a:xfrm>
            <a:off x="457200" y="2011680"/>
            <a:ext cx="8229600" cy="502920"/>
          </a:xfrm>
          <a:prstGeom prst="rect">
            <a:avLst/>
          </a:prstGeom>
          <a:solidFill>
            <a:srgbClr val="F0F3F4"/>
          </a:solidFill>
          <a:ln w="19050">
            <a:solidFill>
              <a:srgbClr val="C9A84C"/>
            </a:solidFill>
            <a:prstDash val="solid"/>
          </a:ln>
        </p:spPr>
      </p:sp>
      <p:sp>
        <p:nvSpPr>
          <p:cNvPr id="9" name="Text 7"/>
          <p:cNvSpPr/>
          <p:nvPr/>
        </p:nvSpPr>
        <p:spPr>
          <a:xfrm>
            <a:off x="548640" y="203911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صيغة أويلر:  e^(iθ) = cos(θ) + i sin(θ)  ⟹  e^(iπ) + 1 = 0</a:t>
            </a:r>
            <a:endParaRPr lang="en-US" sz="1300" dirty="0"/>
          </a:p>
        </p:txBody>
      </p:sp>
      <p:sp>
        <p:nvSpPr>
          <p:cNvPr id="10" name="Shape 8"/>
          <p:cNvSpPr/>
          <p:nvPr/>
        </p:nvSpPr>
        <p:spPr>
          <a:xfrm>
            <a:off x="457200" y="2606040"/>
            <a:ext cx="8229600" cy="502920"/>
          </a:xfrm>
          <a:prstGeom prst="rect">
            <a:avLst/>
          </a:prstGeom>
          <a:solidFill>
            <a:srgbClr val="F0F3F4"/>
          </a:solidFill>
          <a:ln w="19050">
            <a:solidFill>
              <a:srgbClr val="C9A84C"/>
            </a:solidFill>
            <a:prstDash val="solid"/>
          </a:ln>
        </p:spPr>
      </p:sp>
      <p:sp>
        <p:nvSpPr>
          <p:cNvPr id="11" name="Text 9"/>
          <p:cNvSpPr/>
          <p:nvPr/>
        </p:nvSpPr>
        <p:spPr>
          <a:xfrm>
            <a:off x="548640" y="263347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تحويل لابلاس:  ℒ{f(t)} = F(s) = ∫_0^∞ f(t)e^(−st) dt</a:t>
            </a:r>
            <a:endParaRPr lang="en-US" sz="1300" dirty="0"/>
          </a:p>
        </p:txBody>
      </p:sp>
      <p:sp>
        <p:nvSpPr>
          <p:cNvPr id="12" name="Shape 10"/>
          <p:cNvSpPr/>
          <p:nvPr/>
        </p:nvSpPr>
        <p:spPr>
          <a:xfrm>
            <a:off x="457200" y="3200400"/>
            <a:ext cx="8229600" cy="502920"/>
          </a:xfrm>
          <a:prstGeom prst="rect">
            <a:avLst/>
          </a:prstGeom>
          <a:solidFill>
            <a:srgbClr val="F0F3F4"/>
          </a:solidFill>
          <a:ln w="19050">
            <a:solidFill>
              <a:srgbClr val="C9A84C"/>
            </a:solidFill>
            <a:prstDash val="solid"/>
          </a:ln>
        </p:spPr>
      </p:sp>
      <p:sp>
        <p:nvSpPr>
          <p:cNvPr id="13" name="Text 11"/>
          <p:cNvSpPr/>
          <p:nvPr/>
        </p:nvSpPr>
        <p:spPr>
          <a:xfrm>
            <a:off x="548640" y="322783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تحويل فورييه:  F(ω) = ∫_{−∞}^{+∞} f(t)e^(−iωt) dt</a:t>
            </a:r>
            <a:endParaRPr lang="en-US" sz="1300" dirty="0"/>
          </a:p>
        </p:txBody>
      </p:sp>
      <p:sp>
        <p:nvSpPr>
          <p:cNvPr id="14" name="Shape 12"/>
          <p:cNvSpPr/>
          <p:nvPr/>
        </p:nvSpPr>
        <p:spPr>
          <a:xfrm>
            <a:off x="457200" y="3794760"/>
            <a:ext cx="8229600" cy="502920"/>
          </a:xfrm>
          <a:prstGeom prst="rect">
            <a:avLst/>
          </a:prstGeom>
          <a:solidFill>
            <a:srgbClr val="F0F3F4"/>
          </a:solidFill>
          <a:ln w="19050">
            <a:solidFill>
              <a:srgbClr val="C9A84C"/>
            </a:solidFill>
            <a:prstDash val="solid"/>
          </a:ln>
        </p:spPr>
      </p:sp>
      <p:sp>
        <p:nvSpPr>
          <p:cNvPr id="15" name="Text 13"/>
          <p:cNvSpPr/>
          <p:nvPr/>
        </p:nvSpPr>
        <p:spPr>
          <a:xfrm>
            <a:off x="548640" y="382219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نظرية التفاضل:  ℒ{f*g} = F(s)·G(s)  ؛  f*g = ∫f(τ)g(t−τ)dτ</a:t>
            </a:r>
            <a:endParaRPr lang="en-US" sz="1300" dirty="0"/>
          </a:p>
        </p:txBody>
      </p:sp>
      <p:sp>
        <p:nvSpPr>
          <p:cNvPr id="16" name="Shape 14"/>
          <p:cNvSpPr/>
          <p:nvPr/>
        </p:nvSpPr>
        <p:spPr>
          <a:xfrm>
            <a:off x="457200" y="4389120"/>
            <a:ext cx="8229600" cy="502920"/>
          </a:xfrm>
          <a:prstGeom prst="rect">
            <a:avLst/>
          </a:prstGeom>
          <a:solidFill>
            <a:srgbClr val="F0F3F4"/>
          </a:solidFill>
          <a:ln w="19050">
            <a:solidFill>
              <a:srgbClr val="C9A84C"/>
            </a:solidFill>
            <a:prstDash val="solid"/>
          </a:ln>
        </p:spPr>
      </p:sp>
      <p:sp>
        <p:nvSpPr>
          <p:cNvPr id="17" name="Text 15"/>
          <p:cNvSpPr/>
          <p:nvPr/>
        </p:nvSpPr>
        <p:spPr>
          <a:xfrm>
            <a:off x="548640" y="441655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نظرية غرين:  ∮_C (Ldx + Mdy) = ∬_D (∂M/∂x − ∂L/∂y) dA</a:t>
            </a:r>
            <a:endParaRPr lang="en-US" sz="1300" dirty="0"/>
          </a:p>
        </p:txBody>
      </p:sp>
      <p:sp>
        <p:nvSpPr>
          <p:cNvPr id="18" name="Shape 16"/>
          <p:cNvSpPr/>
          <p:nvPr/>
        </p:nvSpPr>
        <p:spPr>
          <a:xfrm>
            <a:off x="457200" y="4983480"/>
            <a:ext cx="8229600" cy="502920"/>
          </a:xfrm>
          <a:prstGeom prst="rect">
            <a:avLst/>
          </a:prstGeom>
          <a:solidFill>
            <a:srgbClr val="F0F3F4"/>
          </a:solidFill>
          <a:ln w="19050">
            <a:solidFill>
              <a:srgbClr val="C9A84C"/>
            </a:solidFill>
            <a:prstDash val="solid"/>
          </a:ln>
        </p:spPr>
      </p:sp>
      <p:sp>
        <p:nvSpPr>
          <p:cNvPr id="19" name="Text 17"/>
          <p:cNvSpPr/>
          <p:nvPr/>
        </p:nvSpPr>
        <p:spPr>
          <a:xfrm>
            <a:off x="548640" y="501091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نظرية ستوكس:  ∮_C F·dr = ∬_S (∇×F)·dS</a:t>
            </a:r>
            <a:endParaRPr lang="en-US" sz="1300" dirty="0"/>
          </a:p>
        </p:txBody>
      </p:sp>
      <p:sp>
        <p:nvSpPr>
          <p:cNvPr id="20" name="Shape 18"/>
          <p:cNvSpPr/>
          <p:nvPr/>
        </p:nvSpPr>
        <p:spPr>
          <a:xfrm>
            <a:off x="457200" y="5577840"/>
            <a:ext cx="8229600" cy="502920"/>
          </a:xfrm>
          <a:prstGeom prst="rect">
            <a:avLst/>
          </a:prstGeom>
          <a:solidFill>
            <a:srgbClr val="F0F3F4"/>
          </a:solidFill>
          <a:ln w="19050">
            <a:solidFill>
              <a:srgbClr val="C9A84C"/>
            </a:solidFill>
            <a:prstDash val="solid"/>
          </a:ln>
        </p:spPr>
      </p:sp>
      <p:sp>
        <p:nvSpPr>
          <p:cNvPr id="21" name="Text 19"/>
          <p:cNvSpPr/>
          <p:nvPr/>
        </p:nvSpPr>
        <p:spPr>
          <a:xfrm>
            <a:off x="548640" y="560527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نظرية الانعكاس (غاوس):  ∯_S F·dS = ∭_V (∇·F) dV</a:t>
            </a:r>
            <a:endParaRPr lang="en-US" sz="1300" dirty="0"/>
          </a:p>
        </p:txBody>
      </p:sp>
      <p:sp>
        <p:nvSpPr>
          <p:cNvPr id="22" name="Text 20"/>
          <p:cNvSpPr/>
          <p:nvPr/>
        </p:nvSpPr>
        <p:spPr>
          <a:xfrm>
            <a:off x="457200" y="6172200"/>
            <a:ext cx="8229600" cy="-1303020"/>
          </a:xfrm>
          <a:prstGeom prst="rect">
            <a:avLst/>
          </a:prstGeom>
          <a:noFill/>
          <a:ln/>
        </p:spPr>
        <p:txBody>
          <a:bodyPr wrap="square" rtlCol="0" anchor="ctr"/>
          <a:lstStyle/>
          <a:p>
            <a:pPr rtl="1" algn="r" indent="0" marL="0">
              <a:buNone/>
            </a:pPr>
            <a:r>
              <a:rPr lang="en-US" sz="1200" dirty="0">
                <a:solidFill>
                  <a:srgbClr val="2C3E50"/>
                </a:solidFill>
                <a:latin typeface="Arial" pitchFamily="34" charset="0"/>
                <a:ea typeface="Arial" pitchFamily="34" charset="-122"/>
                <a:cs typeface="Arial" pitchFamily="34" charset="-120"/>
              </a:rPr>
              <a:t>هذه المتطابقات تربط الخصائص المحلية والعالمية للدوال والحقول المتجهية. صيغة أويلر هي أجمل معادلة في الرياضيات. تحويلات لابلاس وفورييه تحول المعادلات التفاضلية إلى جبرية – أدوات أساسية في نظرية التحكم ومعالجة الإشارات والفيزياء.</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4A"/>
          </a:solidFill>
          <a:ln/>
        </p:spPr>
      </p:sp>
      <p:sp>
        <p:nvSpPr>
          <p:cNvPr id="3" name="Text 1"/>
          <p:cNvSpPr/>
          <p:nvPr/>
        </p:nvSpPr>
        <p:spPr>
          <a:xfrm>
            <a:off x="274320" y="45720"/>
            <a:ext cx="8595360" cy="594360"/>
          </a:xfrm>
          <a:prstGeom prst="rect">
            <a:avLst/>
          </a:prstGeom>
          <a:noFill/>
          <a:ln/>
        </p:spPr>
        <p:txBody>
          <a:bodyPr wrap="square" rtlCol="0" anchor="ctr"/>
          <a:lstStyle/>
          <a:p>
            <a:pPr rtl="1" algn="r" indent="0" marL="0">
              <a:buNone/>
            </a:pPr>
            <a:r>
              <a:rPr lang="en-US" sz="1800" b="1" dirty="0">
                <a:solidFill>
                  <a:srgbClr val="FFFFFF"/>
                </a:solidFill>
                <a:latin typeface="Arial" pitchFamily="34" charset="0"/>
                <a:ea typeface="Arial" pitchFamily="34" charset="-122"/>
                <a:cs typeface="Arial" pitchFamily="34" charset="-120"/>
              </a:rPr>
              <a:t>المعادلات التفاضلية الاعتيادية – التصنيف وطرق الحل</a:t>
            </a:r>
            <a:endParaRPr lang="en-US" sz="1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274320" y="777240"/>
          <a:ext cx="8595360" cy="914400"/>
        </p:xfrm>
        <a:graphic>
          <a:graphicData uri="http://schemas.openxmlformats.org/drawingml/2006/table">
            <a:tbl>
              <a:tblPr/>
              <a:tblGrid>
                <a:gridCol w="1828800"/>
                <a:gridCol w="2103120"/>
                <a:gridCol w="2103120"/>
                <a:gridCol w="2560320"/>
              </a:tblGrid>
              <a:tr h="0">
                <a:tc>
                  <a:txBody>
                    <a:bodyPr/>
                    <a:lstStyle/>
                    <a:p>
                      <a:pPr algn="r" indent="0" marL="0">
                        <a:buNone/>
                      </a:pPr>
                      <a:r>
                        <a:rPr lang="en-US" sz="1100" b="1" dirty="0">
                          <a:solidFill>
                            <a:srgbClr val="FFFFFF"/>
                          </a:solidFill>
                        </a:rPr>
                        <a:t>النوع</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1A3A4A"/>
                    </a:solidFill>
                  </a:tcPr>
                </a:tc>
                <a:tc>
                  <a:txBody>
                    <a:bodyPr/>
                    <a:lstStyle/>
                    <a:p>
                      <a:pPr algn="r" indent="0" marL="0">
                        <a:buNone/>
                      </a:pPr>
                      <a:r>
                        <a:rPr lang="en-US" sz="1100" b="1" dirty="0">
                          <a:solidFill>
                            <a:srgbClr val="FFFFFF"/>
                          </a:solidFill>
                        </a:rPr>
                        <a:t>الصيغة</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1A3A4A"/>
                    </a:solidFill>
                  </a:tcPr>
                </a:tc>
                <a:tc>
                  <a:txBody>
                    <a:bodyPr/>
                    <a:lstStyle/>
                    <a:p>
                      <a:pPr algn="r" indent="0" marL="0">
                        <a:buNone/>
                      </a:pPr>
                      <a:r>
                        <a:rPr lang="en-US" sz="1100" b="1" dirty="0">
                          <a:solidFill>
                            <a:srgbClr val="FFFFFF"/>
                          </a:solidFill>
                        </a:rPr>
                        <a:t>طريقة الحل</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1A3A4A"/>
                    </a:solidFill>
                  </a:tcPr>
                </a:tc>
                <a:tc>
                  <a:txBody>
                    <a:bodyPr/>
                    <a:lstStyle/>
                    <a:p>
                      <a:pPr algn="r" indent="0" marL="0">
                        <a:buNone/>
                      </a:pPr>
                      <a:r>
                        <a:rPr lang="en-US" sz="1100" b="1" dirty="0">
                          <a:solidFill>
                            <a:srgbClr val="FFFFFF"/>
                          </a:solidFill>
                        </a:rPr>
                        <a:t>مثال</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1A3A4A"/>
                    </a:solidFill>
                  </a:tcPr>
                </a:tc>
              </a:tr>
              <a:tr h="0">
                <a:tc>
                  <a:txBody>
                    <a:bodyPr/>
                    <a:lstStyle/>
                    <a:p>
                      <a:pPr algn="r" indent="0" marL="0">
                        <a:buNone/>
                      </a:pPr>
                      <a:r>
                        <a:rPr lang="en-US" sz="1000" dirty="0">
                          <a:solidFill>
                            <a:srgbClr val="2C3E50"/>
                          </a:solidFill>
                        </a:rPr>
                        <a:t>قابلة للفصل</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dy/dx = g(x)h(y)</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فصل المتغيرات والتكامل</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dy/y = dx ⟹ y = Ce^x</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r h="0">
                <a:tc>
                  <a:txBody>
                    <a:bodyPr/>
                    <a:lstStyle/>
                    <a:p>
                      <a:pPr algn="r" indent="0" marL="0">
                        <a:buNone/>
                      </a:pPr>
                      <a:r>
                        <a:rPr lang="en-US" sz="1000" dirty="0">
                          <a:solidFill>
                            <a:srgbClr val="2C3E50"/>
                          </a:solidFill>
                        </a:rPr>
                        <a:t>خطية من الدرجة الأولى</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C3E50"/>
                          </a:solidFill>
                        </a:rPr>
                        <a:t>y' + P(x)y = Q(x)</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C3E50"/>
                          </a:solidFill>
                        </a:rPr>
                        <a:t>عامل التكامل μ=e^∫P dx</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C3E50"/>
                          </a:solidFill>
                        </a:rPr>
                        <a:t>y' + y = e^x</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r>
              <a:tr h="0">
                <a:tc>
                  <a:txBody>
                    <a:bodyPr/>
                    <a:lstStyle/>
                    <a:p>
                      <a:pPr algn="r" indent="0" marL="0">
                        <a:buNone/>
                      </a:pPr>
                      <a:r>
                        <a:rPr lang="en-US" sz="1000" dirty="0">
                          <a:solidFill>
                            <a:srgbClr val="2C3E50"/>
                          </a:solidFill>
                        </a:rPr>
                        <a:t>تامة</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M dx + N dy = 0</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إيجاد دالة الجهد F</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∂F/∂x=M, ∂F/∂y=N</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r h="0">
                <a:tc>
                  <a:txBody>
                    <a:bodyPr/>
                    <a:lstStyle/>
                    <a:p>
                      <a:pPr algn="r" indent="0" marL="0">
                        <a:buNone/>
                      </a:pPr>
                      <a:r>
                        <a:rPr lang="en-US" sz="1000" dirty="0">
                          <a:solidFill>
                            <a:srgbClr val="2C3E50"/>
                          </a:solidFill>
                        </a:rPr>
                        <a:t>برنولي</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C3E50"/>
                          </a:solidFill>
                        </a:rPr>
                        <a:t>y' + P(x)y = Q(x)yⁿ</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C3E50"/>
                          </a:solidFill>
                        </a:rPr>
                        <a:t>تعويض v = y^(1−n)</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C3E50"/>
                          </a:solidFill>
                        </a:rPr>
                        <a:t>y' − y = y²</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r>
              <a:tr h="0">
                <a:tc>
                  <a:txBody>
                    <a:bodyPr/>
                    <a:lstStyle/>
                    <a:p>
                      <a:pPr algn="r" indent="0" marL="0">
                        <a:buNone/>
                      </a:pPr>
                      <a:r>
                        <a:rPr lang="en-US" sz="1000" dirty="0">
                          <a:solidFill>
                            <a:srgbClr val="2C3E50"/>
                          </a:solidFill>
                        </a:rPr>
                        <a:t>متجانسة من الدرجة الثانية</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ay'' + by' + cy = 0</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المعادلة المميزة</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r² + br/a + c/a = 0</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r h="0">
                <a:tc>
                  <a:txBody>
                    <a:bodyPr/>
                    <a:lstStyle/>
                    <a:p>
                      <a:pPr algn="r" indent="0" marL="0">
                        <a:buNone/>
                      </a:pPr>
                      <a:r>
                        <a:rPr lang="en-US" sz="1000" dirty="0">
                          <a:solidFill>
                            <a:srgbClr val="2C3E50"/>
                          </a:solidFill>
                        </a:rPr>
                        <a:t>غير متجانسة</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C3E50"/>
                          </a:solidFill>
                        </a:rPr>
                        <a:t>ay'' + by' + cy = g(x)</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C3E50"/>
                          </a:solidFill>
                        </a:rPr>
                        <a:t>حل خاص + حل متمم</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C3E50"/>
                          </a:solidFill>
                        </a:rPr>
                        <a:t>تباين المعاملات</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r>
              <a:tr h="0">
                <a:tc>
                  <a:txBody>
                    <a:bodyPr/>
                    <a:lstStyle/>
                    <a:p>
                      <a:pPr algn="r" indent="0" marL="0">
                        <a:buNone/>
                      </a:pPr>
                      <a:r>
                        <a:rPr lang="en-US" sz="1000" dirty="0">
                          <a:solidFill>
                            <a:srgbClr val="2C3E50"/>
                          </a:solidFill>
                        </a:rPr>
                        <a:t>كوشي-أويلر</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ax²y'' + bxy' + cy = 0</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نجرب y = x^m</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إحلال t=ln x</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3A4A"/>
        </a:solidFill>
      </p:bgPr>
    </p:bg>
    <p:spTree>
      <p:nvGrpSpPr>
        <p:cNvPr id="1" name=""/>
        <p:cNvGrpSpPr/>
        <p:nvPr/>
      </p:nvGrpSpPr>
      <p:grpSpPr>
        <a:xfrm>
          <a:off x="0" y="0"/>
          <a:ext cx="0" cy="0"/>
          <a:chOff x="0" y="0"/>
          <a:chExt cx="0" cy="0"/>
        </a:xfrm>
      </p:grpSpPr>
      <p:sp>
        <p:nvSpPr>
          <p:cNvPr id="2" name="Shape 0"/>
          <p:cNvSpPr/>
          <p:nvPr/>
        </p:nvSpPr>
        <p:spPr>
          <a:xfrm>
            <a:off x="9034272" y="0"/>
            <a:ext cx="109728" cy="5143500"/>
          </a:xfrm>
          <a:prstGeom prst="rect">
            <a:avLst/>
          </a:prstGeom>
          <a:solidFill>
            <a:srgbClr val="C9A84C"/>
          </a:solidFill>
          <a:ln/>
        </p:spPr>
      </p:sp>
      <p:sp>
        <p:nvSpPr>
          <p:cNvPr id="3" name="Text 1"/>
          <p:cNvSpPr/>
          <p:nvPr/>
        </p:nvSpPr>
        <p:spPr>
          <a:xfrm>
            <a:off x="365760" y="914400"/>
            <a:ext cx="8412480" cy="548640"/>
          </a:xfrm>
          <a:prstGeom prst="rect">
            <a:avLst/>
          </a:prstGeom>
          <a:noFill/>
          <a:ln/>
        </p:spPr>
        <p:txBody>
          <a:bodyPr wrap="square" rtlCol="0" anchor="ctr"/>
          <a:lstStyle/>
          <a:p>
            <a:pPr rtl="1" algn="r" indent="0" marL="0">
              <a:buNone/>
            </a:pPr>
            <a:r>
              <a:rPr lang="en-US" sz="1600" b="1" spc="300" kern="0" dirty="0">
                <a:solidFill>
                  <a:srgbClr val="C9A84C"/>
                </a:solidFill>
                <a:latin typeface="Arial" pitchFamily="34" charset="0"/>
                <a:ea typeface="Arial" pitchFamily="34" charset="-122"/>
                <a:cs typeface="Arial" pitchFamily="34" charset="-120"/>
              </a:rPr>
              <a:t>القسم السادس</a:t>
            </a:r>
            <a:endParaRPr lang="en-US" sz="1600" dirty="0"/>
          </a:p>
        </p:txBody>
      </p:sp>
      <p:sp>
        <p:nvSpPr>
          <p:cNvPr id="4" name="Text 2"/>
          <p:cNvSpPr/>
          <p:nvPr/>
        </p:nvSpPr>
        <p:spPr>
          <a:xfrm>
            <a:off x="365760" y="1463040"/>
            <a:ext cx="8412480" cy="1371600"/>
          </a:xfrm>
          <a:prstGeom prst="rect">
            <a:avLst/>
          </a:prstGeom>
          <a:noFill/>
          <a:ln/>
        </p:spPr>
        <p:txBody>
          <a:bodyPr wrap="square" rtlCol="0" anchor="ctr"/>
          <a:lstStyle/>
          <a:p>
            <a:pPr rtl="1" algn="r" indent="0" marL="0">
              <a:buNone/>
            </a:pPr>
            <a:r>
              <a:rPr lang="en-US" sz="3200" b="1" dirty="0">
                <a:solidFill>
                  <a:srgbClr val="FFFFFF"/>
                </a:solidFill>
                <a:latin typeface="Arial" pitchFamily="34" charset="0"/>
                <a:ea typeface="Arial" pitchFamily="34" charset="-122"/>
                <a:cs typeface="Arial" pitchFamily="34" charset="-120"/>
              </a:rPr>
              <a:t>الاحتمالات والإحصاء</a:t>
            </a:r>
            <a:endParaRPr lang="en-US" sz="3200" dirty="0"/>
          </a:p>
        </p:txBody>
      </p:sp>
      <p:sp>
        <p:nvSpPr>
          <p:cNvPr id="5" name="Text 3"/>
          <p:cNvSpPr/>
          <p:nvPr/>
        </p:nvSpPr>
        <p:spPr>
          <a:xfrm>
            <a:off x="365760" y="2834640"/>
            <a:ext cx="8412480" cy="822960"/>
          </a:xfrm>
          <a:prstGeom prst="rect">
            <a:avLst/>
          </a:prstGeom>
          <a:noFill/>
          <a:ln/>
        </p:spPr>
        <p:txBody>
          <a:bodyPr wrap="square" rtlCol="0" anchor="ctr"/>
          <a:lstStyle/>
          <a:p>
            <a:pPr rtl="1" algn="r" indent="0" marL="0">
              <a:buNone/>
            </a:pPr>
            <a:r>
              <a:rPr lang="en-US" sz="1500" dirty="0">
                <a:solidFill>
                  <a:srgbClr val="F5E6B8"/>
                </a:solidFill>
                <a:latin typeface="Arial" pitchFamily="34" charset="0"/>
                <a:ea typeface="Arial" pitchFamily="34" charset="-122"/>
                <a:cs typeface="Arial" pitchFamily="34" charset="-120"/>
              </a:rPr>
              <a:t>التوزيعات واختبار الفرضيات والاستدلال البايزي</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9F7"/>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3D2E"/>
          </a:solidFill>
          <a:ln/>
        </p:spPr>
      </p:sp>
      <p:sp>
        <p:nvSpPr>
          <p:cNvPr id="3" name="Text 1"/>
          <p:cNvSpPr/>
          <p:nvPr/>
        </p:nvSpPr>
        <p:spPr>
          <a:xfrm>
            <a:off x="274320" y="45720"/>
            <a:ext cx="8595360" cy="594360"/>
          </a:xfrm>
          <a:prstGeom prst="rect">
            <a:avLst/>
          </a:prstGeom>
          <a:noFill/>
          <a:ln/>
        </p:spPr>
        <p:txBody>
          <a:bodyPr wrap="square" rtlCol="0" anchor="ctr"/>
          <a:lstStyle/>
          <a:p>
            <a:pPr rtl="1" algn="r" indent="0" marL="0">
              <a:buNone/>
            </a:pPr>
            <a:r>
              <a:rPr lang="en-US" sz="1800" b="1" dirty="0">
                <a:solidFill>
                  <a:srgbClr val="FFFFFF"/>
                </a:solidFill>
                <a:latin typeface="Arial" pitchFamily="34" charset="0"/>
                <a:ea typeface="Arial" pitchFamily="34" charset="-122"/>
                <a:cs typeface="Arial" pitchFamily="34" charset="-120"/>
              </a:rPr>
              <a:t>التوزيعات الاحتمالية الرئيسية – المعاملات والخصائص</a:t>
            </a:r>
            <a:endParaRPr lang="en-US" sz="1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182880" y="777240"/>
          <a:ext cx="8778240" cy="914400"/>
        </p:xfrm>
        <a:graphic>
          <a:graphicData uri="http://schemas.openxmlformats.org/drawingml/2006/table">
            <a:tbl>
              <a:tblPr/>
              <a:tblGrid>
                <a:gridCol w="1645920"/>
                <a:gridCol w="2560320"/>
                <a:gridCol w="1005840"/>
                <a:gridCol w="1280160"/>
                <a:gridCol w="2286000"/>
              </a:tblGrid>
              <a:tr h="0">
                <a:tc>
                  <a:txBody>
                    <a:bodyPr/>
                    <a:lstStyle/>
                    <a:p>
                      <a:pPr algn="r" indent="0" marL="0">
                        <a:buNone/>
                      </a:pPr>
                      <a:r>
                        <a:rPr lang="en-US" sz="1050" b="1" dirty="0">
                          <a:solidFill>
                            <a:srgbClr val="FFFFFF"/>
                          </a:solidFill>
                        </a:rPr>
                        <a:t>التوزيع</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c>
                  <a:txBody>
                    <a:bodyPr/>
                    <a:lstStyle/>
                    <a:p>
                      <a:pPr algn="r" indent="0" marL="0">
                        <a:buNone/>
                      </a:pPr>
                      <a:r>
                        <a:rPr lang="en-US" sz="1050" b="1" dirty="0">
                          <a:solidFill>
                            <a:srgbClr val="FFFFFF"/>
                          </a:solidFill>
                        </a:rPr>
                        <a:t>دالة الكتلة/الكثافة</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c>
                  <a:txBody>
                    <a:bodyPr/>
                    <a:lstStyle/>
                    <a:p>
                      <a:pPr algn="r" indent="0" marL="0">
                        <a:buNone/>
                      </a:pPr>
                      <a:r>
                        <a:rPr lang="en-US" sz="1050" b="1" dirty="0">
                          <a:solidFill>
                            <a:srgbClr val="FFFFFF"/>
                          </a:solidFill>
                        </a:rPr>
                        <a:t>المتوسط</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c>
                  <a:txBody>
                    <a:bodyPr/>
                    <a:lstStyle/>
                    <a:p>
                      <a:pPr algn="r" indent="0" marL="0">
                        <a:buNone/>
                      </a:pPr>
                      <a:r>
                        <a:rPr lang="en-US" sz="1050" b="1" dirty="0">
                          <a:solidFill>
                            <a:srgbClr val="FFFFFF"/>
                          </a:solidFill>
                        </a:rPr>
                        <a:t>التباين</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c>
                  <a:txBody>
                    <a:bodyPr/>
                    <a:lstStyle/>
                    <a:p>
                      <a:pPr algn="r" indent="0" marL="0">
                        <a:buNone/>
                      </a:pPr>
                      <a:r>
                        <a:rPr lang="en-US" sz="1050" b="1" dirty="0">
                          <a:solidFill>
                            <a:srgbClr val="FFFFFF"/>
                          </a:solidFill>
                        </a:rPr>
                        <a:t>MGF</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r>
              <a:tr h="0">
                <a:tc>
                  <a:txBody>
                    <a:bodyPr/>
                    <a:lstStyle/>
                    <a:p>
                      <a:pPr algn="r" indent="0" marL="0">
                        <a:buNone/>
                      </a:pPr>
                      <a:r>
                        <a:rPr lang="en-US" sz="950" dirty="0">
                          <a:solidFill>
                            <a:srgbClr val="2C3E50"/>
                          </a:solidFill>
                        </a:rPr>
                        <a:t>برنولي(p)</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P(X=k)=pᵏ(1-p)^(1-k)</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p</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p(1-p)</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1-p+pe^t</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r h="0">
                <a:tc>
                  <a:txBody>
                    <a:bodyPr/>
                    <a:lstStyle/>
                    <a:p>
                      <a:pPr algn="r" indent="0" marL="0">
                        <a:buNone/>
                      </a:pPr>
                      <a:r>
                        <a:rPr lang="en-US" sz="950" dirty="0">
                          <a:solidFill>
                            <a:srgbClr val="2C3E50"/>
                          </a:solidFill>
                        </a:rPr>
                        <a:t>ذو الحدين(n,p)</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C(n,k)pᵏ(1-p)^(n-k)</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np</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np(1-p)</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(1-p+pe^t)ⁿ</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r>
              <a:tr h="0">
                <a:tc>
                  <a:txBody>
                    <a:bodyPr/>
                    <a:lstStyle/>
                    <a:p>
                      <a:pPr algn="r" indent="0" marL="0">
                        <a:buNone/>
                      </a:pPr>
                      <a:r>
                        <a:rPr lang="en-US" sz="950" dirty="0">
                          <a:solidFill>
                            <a:srgbClr val="2C3E50"/>
                          </a:solidFill>
                        </a:rPr>
                        <a:t>بواسون(λ)</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e^(−λ)λᵏ/k!</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λ</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λ</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exp(λ(e^t−1))</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r h="0">
                <a:tc>
                  <a:txBody>
                    <a:bodyPr/>
                    <a:lstStyle/>
                    <a:p>
                      <a:pPr algn="r" indent="0" marL="0">
                        <a:buNone/>
                      </a:pPr>
                      <a:r>
                        <a:rPr lang="en-US" sz="950" dirty="0">
                          <a:solidFill>
                            <a:srgbClr val="2C3E50"/>
                          </a:solidFill>
                        </a:rPr>
                        <a:t>الطبيعي(μ,σ²)</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(2πσ²)^(-½)exp(−(x-μ)²/2σ²)</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μ</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σ²</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exp(μt+σ²t²/2)</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r>
              <a:tr h="0">
                <a:tc>
                  <a:txBody>
                    <a:bodyPr/>
                    <a:lstStyle/>
                    <a:p>
                      <a:pPr algn="r" indent="0" marL="0">
                        <a:buNone/>
                      </a:pPr>
                      <a:r>
                        <a:rPr lang="en-US" sz="950" dirty="0">
                          <a:solidFill>
                            <a:srgbClr val="2C3E50"/>
                          </a:solidFill>
                        </a:rPr>
                        <a:t>الأسي(λ)</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λe^(−λx)  (x≥0)</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1/λ</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1/λ²</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λ/(λ-t)</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r h="0">
                <a:tc>
                  <a:txBody>
                    <a:bodyPr/>
                    <a:lstStyle/>
                    <a:p>
                      <a:pPr algn="r" indent="0" marL="0">
                        <a:buNone/>
                      </a:pPr>
                      <a:r>
                        <a:rPr lang="en-US" sz="950" dirty="0">
                          <a:solidFill>
                            <a:srgbClr val="2C3E50"/>
                          </a:solidFill>
                        </a:rPr>
                        <a:t>غاما(α,β)</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x^(α-1)e^(-x/β)/(β^α Γ(α))</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αβ</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αβ²</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(1-βt)^(-α)</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r>
              <a:tr h="0">
                <a:tc>
                  <a:txBody>
                    <a:bodyPr/>
                    <a:lstStyle/>
                    <a:p>
                      <a:pPr algn="r" indent="0" marL="0">
                        <a:buNone/>
                      </a:pPr>
                      <a:r>
                        <a:rPr lang="en-US" sz="950" dirty="0">
                          <a:solidFill>
                            <a:srgbClr val="2C3E50"/>
                          </a:solidFill>
                        </a:rPr>
                        <a:t>بيتا(α,β)</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x^(α-1)(1-x)^(β-1)/B(α,β)</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α/(α+β)</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معقدة</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معقدة</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r h="0">
                <a:tc>
                  <a:txBody>
                    <a:bodyPr/>
                    <a:lstStyle/>
                    <a:p>
                      <a:pPr algn="r" indent="0" marL="0">
                        <a:buNone/>
                      </a:pPr>
                      <a:r>
                        <a:rPr lang="en-US" sz="950" dirty="0">
                          <a:solidFill>
                            <a:srgbClr val="2C3E50"/>
                          </a:solidFill>
                        </a:rPr>
                        <a:t>كاي-تربيع(k)</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حالة خاصة Gamma(k/2,2)</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k</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2k</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(1-2t)^(-k/2)</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9F7"/>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3D2E"/>
          </a:solidFill>
          <a:ln/>
        </p:spPr>
      </p:sp>
      <p:sp>
        <p:nvSpPr>
          <p:cNvPr id="3" name="Text 1"/>
          <p:cNvSpPr/>
          <p:nvPr/>
        </p:nvSpPr>
        <p:spPr>
          <a:xfrm>
            <a:off x="274320" y="45720"/>
            <a:ext cx="8595360" cy="594360"/>
          </a:xfrm>
          <a:prstGeom prst="rect">
            <a:avLst/>
          </a:prstGeom>
          <a:noFill/>
          <a:ln/>
        </p:spPr>
        <p:txBody>
          <a:bodyPr wrap="square" rtlCol="0" anchor="ctr"/>
          <a:lstStyle/>
          <a:p>
            <a:pPr rtl="1" algn="r" indent="0" marL="0">
              <a:buNone/>
            </a:pPr>
            <a:r>
              <a:rPr lang="en-US" sz="1900" b="1" dirty="0">
                <a:solidFill>
                  <a:srgbClr val="FFFFFF"/>
                </a:solidFill>
                <a:latin typeface="Arial" pitchFamily="34" charset="0"/>
                <a:ea typeface="Arial" pitchFamily="34" charset="-122"/>
                <a:cs typeface="Arial" pitchFamily="34" charset="-120"/>
              </a:rPr>
              <a:t>اختبار الفرضيات – الخطوات والإحصاء التجريبي وأنواع الخطأ</a:t>
            </a:r>
            <a:endParaRPr lang="en-US" sz="1900" dirty="0"/>
          </a:p>
        </p:txBody>
      </p:sp>
      <p:sp>
        <p:nvSpPr>
          <p:cNvPr id="4" name="Text 2"/>
          <p:cNvSpPr/>
          <p:nvPr/>
        </p:nvSpPr>
        <p:spPr>
          <a:xfrm>
            <a:off x="365760" y="777240"/>
            <a:ext cx="8412480" cy="4023360"/>
          </a:xfrm>
          <a:prstGeom prst="rect">
            <a:avLst/>
          </a:prstGeom>
          <a:noFill/>
          <a:ln/>
        </p:spPr>
        <p:txBody>
          <a:bodyPr wrap="square" rtlCol="0" anchor="ctr"/>
          <a:lstStyle/>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الخطوة 1 – صياغة الفرضيات: H₀ (الفرضية الصفرية) وH₁ (الفرضية البديلة). تحديد ما إذا كان الاختبار أحادي أو ثنائي الذيل.</a:t>
            </a:r>
            <a:endParaRPr lang="en-US" sz="1300" dirty="0"/>
          </a:p>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الخطوة 2 – اختيار مستوى الدلالة α (عادة 0.05 أو 0.01). هذا هو الاحتمال المقبول للخطأ من النوع الأول.</a:t>
            </a:r>
            <a:endParaRPr lang="en-US" sz="1300" dirty="0"/>
          </a:p>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الخطوة 3 – إحصاء الاختبار: z = (x̄ − μ₀)/(σ/√n) عند معرفة σ؛ t = (x̄ − μ₀)/(s/√n) بـ df = n−1 عند جهل σ.</a:t>
            </a:r>
            <a:endParaRPr lang="en-US" sz="1300" dirty="0"/>
          </a:p>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الخطوة 4 – احتمال p: P(مشاهدة نتيجة مساوية أو أشد طرفاً | H₀ صحيحة). ارفض H₀ إذا كان p &lt; α.</a:t>
            </a:r>
            <a:endParaRPr lang="en-US" sz="1300" dirty="0"/>
          </a:p>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الخطوة 5 – حجم الأثر: d كوهن = (x̄₁ − x̄₂)/s_pooled. صغير d≈0.2، متوسط d≈0.5، كبير d≥0.8.</a:t>
            </a:r>
            <a:endParaRPr lang="en-US" sz="1300" dirty="0"/>
          </a:p>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خطأ النوع الأول (α): رفض H₀ الصحيحة. خطأ النوع الثاني (β): عدم رفض H₀ الخاطئة. القدرة = 1 − β.</a:t>
            </a:r>
            <a:endParaRPr lang="en-US" sz="1300" dirty="0"/>
          </a:p>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إحصاء ANOVA: F = MS_بين / MS_داخل. يختبر تساوي المتوسطات عبر 3 مجموعات أو أكثر.</a:t>
            </a:r>
            <a:endParaRPr lang="en-US" sz="1300" dirty="0"/>
          </a:p>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اختبار كاي-تربيع: χ² = Σ(O−E)²/E. يختبر الاستقلالية أو مدى الملاءمة للتوزيع.</a:t>
            </a:r>
            <a:endParaRPr lang="en-US" sz="1300" dirty="0"/>
          </a:p>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تصحيح الاختبارات المتعددة: بونفيروني α_معدل = α/m؛ بنيامين-هوكبرغ يتحكم في معدل الاكتشافات الزائفة.</a:t>
            </a:r>
            <a:endParaRPr lang="en-US" sz="1300" dirty="0"/>
          </a:p>
          <a:p>
            <a:pPr algn="r" indent="0" marL="0">
              <a:buNone/>
            </a:pPr>
            <a:endParaRPr lang="en-US" sz="1300" dirty="0"/>
          </a:p>
        </p:txBody>
      </p:sp>
      <p:sp>
        <p:nvSpPr>
          <p:cNvPr id="5" name="Text 3"/>
          <p:cNvSpPr/>
          <p:nvPr/>
        </p:nvSpPr>
        <p:spPr>
          <a:xfrm>
            <a:off x="274320" y="4663440"/>
            <a:ext cx="8595360" cy="365760"/>
          </a:xfrm>
          <a:prstGeom prst="rect">
            <a:avLst/>
          </a:prstGeom>
          <a:noFill/>
          <a:ln/>
        </p:spPr>
        <p:txBody>
          <a:bodyPr wrap="square" rtlCol="0" anchor="ctr"/>
          <a:lstStyle/>
          <a:p>
            <a:pPr rtl="1" algn="r" indent="0" marL="0">
              <a:buNone/>
            </a:pPr>
            <a:r>
              <a:rPr lang="en-US" sz="1000" i="1" dirty="0">
                <a:solidFill>
                  <a:srgbClr val="7F8C8D"/>
                </a:solidFill>
                <a:latin typeface="Arial" pitchFamily="34" charset="0"/>
                <a:ea typeface="Arial" pitchFamily="34" charset="-122"/>
                <a:cs typeface="Arial" pitchFamily="34" charset="-120"/>
              </a:rPr>
              <a:t>المرجع: فيلد – الاكتشاف الإحصائي باستخدام SPSS، الطبعة الخامسة</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4A"/>
          </a:solidFill>
          <a:ln/>
        </p:spPr>
      </p:sp>
      <p:sp>
        <p:nvSpPr>
          <p:cNvPr id="3" name="Text 1"/>
          <p:cNvSpPr/>
          <p:nvPr/>
        </p:nvSpPr>
        <p:spPr>
          <a:xfrm>
            <a:off x="274320" y="45720"/>
            <a:ext cx="8595360" cy="594360"/>
          </a:xfrm>
          <a:prstGeom prst="rect">
            <a:avLst/>
          </a:prstGeom>
          <a:noFill/>
          <a:ln/>
        </p:spPr>
        <p:txBody>
          <a:bodyPr wrap="square" rtlCol="0" anchor="ctr"/>
          <a:lstStyle/>
          <a:p>
            <a:pPr rtl="1" algn="r" indent="0" marL="0">
              <a:buNone/>
            </a:pPr>
            <a:r>
              <a:rPr lang="en-US" sz="1900" b="1" dirty="0">
                <a:solidFill>
                  <a:srgbClr val="FFFFFF"/>
                </a:solidFill>
                <a:latin typeface="Arial" pitchFamily="34" charset="0"/>
                <a:ea typeface="Arial" pitchFamily="34" charset="-122"/>
                <a:cs typeface="Arial" pitchFamily="34" charset="-120"/>
              </a:rPr>
              <a:t>الاستدلال البايزي – النظرية والأولويات وتحديث الاحتمال اللاحق</a:t>
            </a:r>
            <a:endParaRPr lang="en-US" sz="1900" dirty="0"/>
          </a:p>
        </p:txBody>
      </p:sp>
      <p:sp>
        <p:nvSpPr>
          <p:cNvPr id="4" name="Shape 2"/>
          <p:cNvSpPr/>
          <p:nvPr/>
        </p:nvSpPr>
        <p:spPr>
          <a:xfrm>
            <a:off x="457200" y="822960"/>
            <a:ext cx="8229600" cy="502920"/>
          </a:xfrm>
          <a:prstGeom prst="rect">
            <a:avLst/>
          </a:prstGeom>
          <a:solidFill>
            <a:srgbClr val="F0F3F4"/>
          </a:solidFill>
          <a:ln w="19050">
            <a:solidFill>
              <a:srgbClr val="C9A84C"/>
            </a:solidFill>
            <a:prstDash val="solid"/>
          </a:ln>
        </p:spPr>
      </p:sp>
      <p:sp>
        <p:nvSpPr>
          <p:cNvPr id="5" name="Text 3"/>
          <p:cNvSpPr/>
          <p:nvPr/>
        </p:nvSpPr>
        <p:spPr>
          <a:xfrm>
            <a:off x="548640" y="85039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نظرية بايز:  P(H|D) = P(D|H)·P(H) / P(D)</a:t>
            </a:r>
            <a:endParaRPr lang="en-US" sz="1300" dirty="0"/>
          </a:p>
        </p:txBody>
      </p:sp>
      <p:sp>
        <p:nvSpPr>
          <p:cNvPr id="6" name="Shape 4"/>
          <p:cNvSpPr/>
          <p:nvPr/>
        </p:nvSpPr>
        <p:spPr>
          <a:xfrm>
            <a:off x="457200" y="1417320"/>
            <a:ext cx="8229600" cy="502920"/>
          </a:xfrm>
          <a:prstGeom prst="rect">
            <a:avLst/>
          </a:prstGeom>
          <a:solidFill>
            <a:srgbClr val="F0F3F4"/>
          </a:solidFill>
          <a:ln w="19050">
            <a:solidFill>
              <a:srgbClr val="C9A84C"/>
            </a:solidFill>
            <a:prstDash val="solid"/>
          </a:ln>
        </p:spPr>
      </p:sp>
      <p:sp>
        <p:nvSpPr>
          <p:cNvPr id="7" name="Text 5"/>
          <p:cNvSpPr/>
          <p:nvPr/>
        </p:nvSpPr>
        <p:spPr>
          <a:xfrm>
            <a:off x="548640" y="144475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اللاحق ∝ الاحتمال × السابق:  π(θ|x) ∝ L(x|θ)·π(θ)</a:t>
            </a:r>
            <a:endParaRPr lang="en-US" sz="1300" dirty="0"/>
          </a:p>
        </p:txBody>
      </p:sp>
      <p:sp>
        <p:nvSpPr>
          <p:cNvPr id="8" name="Shape 6"/>
          <p:cNvSpPr/>
          <p:nvPr/>
        </p:nvSpPr>
        <p:spPr>
          <a:xfrm>
            <a:off x="457200" y="2011680"/>
            <a:ext cx="8229600" cy="502920"/>
          </a:xfrm>
          <a:prstGeom prst="rect">
            <a:avLst/>
          </a:prstGeom>
          <a:solidFill>
            <a:srgbClr val="F0F3F4"/>
          </a:solidFill>
          <a:ln w="19050">
            <a:solidFill>
              <a:srgbClr val="C9A84C"/>
            </a:solidFill>
            <a:prstDash val="solid"/>
          </a:ln>
        </p:spPr>
      </p:sp>
      <p:sp>
        <p:nvSpPr>
          <p:cNvPr id="9" name="Text 7"/>
          <p:cNvSpPr/>
          <p:nvPr/>
        </p:nvSpPr>
        <p:spPr>
          <a:xfrm>
            <a:off x="548640" y="203911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الترافق بيتا-ذو الحدين: Beta(α,β) + Binomial(n,p) → Beta(α+k, β+n-k)</a:t>
            </a:r>
            <a:endParaRPr lang="en-US" sz="1300" dirty="0"/>
          </a:p>
        </p:txBody>
      </p:sp>
      <p:sp>
        <p:nvSpPr>
          <p:cNvPr id="10" name="Shape 8"/>
          <p:cNvSpPr/>
          <p:nvPr/>
        </p:nvSpPr>
        <p:spPr>
          <a:xfrm>
            <a:off x="457200" y="2606040"/>
            <a:ext cx="8229600" cy="502920"/>
          </a:xfrm>
          <a:prstGeom prst="rect">
            <a:avLst/>
          </a:prstGeom>
          <a:solidFill>
            <a:srgbClr val="F0F3F4"/>
          </a:solidFill>
          <a:ln w="19050">
            <a:solidFill>
              <a:srgbClr val="C9A84C"/>
            </a:solidFill>
            <a:prstDash val="solid"/>
          </a:ln>
        </p:spPr>
      </p:sp>
      <p:sp>
        <p:nvSpPr>
          <p:cNvPr id="11" name="Text 9"/>
          <p:cNvSpPr/>
          <p:nvPr/>
        </p:nvSpPr>
        <p:spPr>
          <a:xfrm>
            <a:off x="548640" y="263347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تقدير MAP:  θ_MAP = argmax_θ [log L(x|θ) + log π(θ)]</a:t>
            </a:r>
            <a:endParaRPr lang="en-US" sz="1300" dirty="0"/>
          </a:p>
        </p:txBody>
      </p:sp>
      <p:sp>
        <p:nvSpPr>
          <p:cNvPr id="12" name="Shape 10"/>
          <p:cNvSpPr/>
          <p:nvPr/>
        </p:nvSpPr>
        <p:spPr>
          <a:xfrm>
            <a:off x="457200" y="3200400"/>
            <a:ext cx="8229600" cy="502920"/>
          </a:xfrm>
          <a:prstGeom prst="rect">
            <a:avLst/>
          </a:prstGeom>
          <a:solidFill>
            <a:srgbClr val="F0F3F4"/>
          </a:solidFill>
          <a:ln w="19050">
            <a:solidFill>
              <a:srgbClr val="C9A84C"/>
            </a:solidFill>
            <a:prstDash val="solid"/>
          </a:ln>
        </p:spPr>
      </p:sp>
      <p:sp>
        <p:nvSpPr>
          <p:cNvPr id="13" name="Text 11"/>
          <p:cNvSpPr/>
          <p:nvPr/>
        </p:nvSpPr>
        <p:spPr>
          <a:xfrm>
            <a:off x="548640" y="322783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الاحتمال الهامشي:  P(D) = ∫ P(D|θ)π(θ)dθ</a:t>
            </a:r>
            <a:endParaRPr lang="en-US" sz="1300" dirty="0"/>
          </a:p>
        </p:txBody>
      </p:sp>
      <p:sp>
        <p:nvSpPr>
          <p:cNvPr id="14" name="Shape 12"/>
          <p:cNvSpPr/>
          <p:nvPr/>
        </p:nvSpPr>
        <p:spPr>
          <a:xfrm>
            <a:off x="457200" y="3794760"/>
            <a:ext cx="8229600" cy="502920"/>
          </a:xfrm>
          <a:prstGeom prst="rect">
            <a:avLst/>
          </a:prstGeom>
          <a:solidFill>
            <a:srgbClr val="F0F3F4"/>
          </a:solidFill>
          <a:ln w="19050">
            <a:solidFill>
              <a:srgbClr val="C9A84C"/>
            </a:solidFill>
            <a:prstDash val="solid"/>
          </a:ln>
        </p:spPr>
      </p:sp>
      <p:sp>
        <p:nvSpPr>
          <p:cNvPr id="15" name="Text 13"/>
          <p:cNvSpPr/>
          <p:nvPr/>
        </p:nvSpPr>
        <p:spPr>
          <a:xfrm>
            <a:off x="548640" y="382219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فترة الثقة البايزية: '95% CI' تعني P(θ ∈ [a,b]|D) = 0.95 (لا تساوي التقاطعية)</a:t>
            </a:r>
            <a:endParaRPr lang="en-US" sz="1300" dirty="0"/>
          </a:p>
        </p:txBody>
      </p:sp>
      <p:sp>
        <p:nvSpPr>
          <p:cNvPr id="16" name="Shape 14"/>
          <p:cNvSpPr/>
          <p:nvPr/>
        </p:nvSpPr>
        <p:spPr>
          <a:xfrm>
            <a:off x="457200" y="4389120"/>
            <a:ext cx="8229600" cy="502920"/>
          </a:xfrm>
          <a:prstGeom prst="rect">
            <a:avLst/>
          </a:prstGeom>
          <a:solidFill>
            <a:srgbClr val="F0F3F4"/>
          </a:solidFill>
          <a:ln w="19050">
            <a:solidFill>
              <a:srgbClr val="C9A84C"/>
            </a:solidFill>
            <a:prstDash val="solid"/>
          </a:ln>
        </p:spPr>
      </p:sp>
      <p:sp>
        <p:nvSpPr>
          <p:cNvPr id="17" name="Text 15"/>
          <p:cNvSpPr/>
          <p:nvPr/>
        </p:nvSpPr>
        <p:spPr>
          <a:xfrm>
            <a:off x="548640" y="441655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MCMC (متروبوليس-هاستنجز): قبول θ* بالاحتمال P = min(1, π(θ*)L(x|θ*)q(θ|θ*) / π(θ)L(x|θ)q(θ*|θ))</a:t>
            </a:r>
            <a:endParaRPr lang="en-US" sz="1300" dirty="0"/>
          </a:p>
        </p:txBody>
      </p:sp>
      <p:sp>
        <p:nvSpPr>
          <p:cNvPr id="18" name="Text 16"/>
          <p:cNvSpPr/>
          <p:nvPr/>
        </p:nvSpPr>
        <p:spPr>
          <a:xfrm>
            <a:off x="457200" y="4983480"/>
            <a:ext cx="8229600" cy="-114300"/>
          </a:xfrm>
          <a:prstGeom prst="rect">
            <a:avLst/>
          </a:prstGeom>
          <a:noFill/>
          <a:ln/>
        </p:spPr>
        <p:txBody>
          <a:bodyPr wrap="square" rtlCol="0" anchor="ctr"/>
          <a:lstStyle/>
          <a:p>
            <a:pPr rtl="1" algn="r" indent="0" marL="0">
              <a:buNone/>
            </a:pPr>
            <a:r>
              <a:rPr lang="en-US" sz="1200" dirty="0">
                <a:solidFill>
                  <a:srgbClr val="2C3E50"/>
                </a:solidFill>
                <a:latin typeface="Arial" pitchFamily="34" charset="0"/>
                <a:ea typeface="Arial" pitchFamily="34" charset="-122"/>
                <a:cs typeface="Arial" pitchFamily="34" charset="-120"/>
              </a:rPr>
              <a:t>تعامل الطرق البايزية المعاملات كمتغيرات عشوائية ذات توزيعات. السابق يُشفّر المعرفة قبل البيانات؛ اللاحق يُحدّث تلك المعرفة. الأولويات المترافقة تنتج احتمالات لاحقة ذات صيغ مغلقة. MCMC ضروري عندما يكون الاحتمال اللاحق غير قابل للحساب مباشرة.</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9F7"/>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4A"/>
          </a:solidFill>
          <a:ln/>
        </p:spPr>
      </p:sp>
      <p:sp>
        <p:nvSpPr>
          <p:cNvPr id="3" name="Text 1"/>
          <p:cNvSpPr/>
          <p:nvPr/>
        </p:nvSpPr>
        <p:spPr>
          <a:xfrm>
            <a:off x="274320" y="45720"/>
            <a:ext cx="8595360" cy="594360"/>
          </a:xfrm>
          <a:prstGeom prst="rect">
            <a:avLst/>
          </a:prstGeom>
          <a:noFill/>
          <a:ln/>
        </p:spPr>
        <p:txBody>
          <a:bodyPr wrap="square" rtlCol="0" anchor="ctr"/>
          <a:lstStyle/>
          <a:p>
            <a:pPr rtl="1" algn="r" indent="0" marL="0">
              <a:buNone/>
            </a:pPr>
            <a:r>
              <a:rPr lang="en-US" sz="1700" b="1" dirty="0">
                <a:solidFill>
                  <a:srgbClr val="FFFFFF"/>
                </a:solidFill>
                <a:latin typeface="Arial" pitchFamily="34" charset="0"/>
                <a:ea typeface="Arial" pitchFamily="34" charset="-122"/>
                <a:cs typeface="Arial" pitchFamily="34" charset="-120"/>
              </a:rPr>
              <a:t>الثوابت الفيزيائية الأساسية – الرتب الزمنية (مقياس لوغاريتمي log₁₀)</a:t>
            </a:r>
            <a:endParaRPr lang="en-US" sz="1700" dirty="0"/>
          </a:p>
        </p:txBody>
      </p:sp>
      <p:graphicFrame>
        <p:nvGraphicFramePr>
          <p:cNvPr id="4" name="Chart 0" descr=""/>
          <p:cNvGraphicFramePr/>
          <p:nvPr/>
        </p:nvGraphicFramePr>
        <p:xfrm>
          <a:off x="274320" y="777240"/>
          <a:ext cx="8595360" cy="402336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3A4A"/>
        </a:solidFill>
      </p:bgPr>
    </p:bg>
    <p:spTree>
      <p:nvGrpSpPr>
        <p:cNvPr id="1" name=""/>
        <p:cNvGrpSpPr/>
        <p:nvPr/>
      </p:nvGrpSpPr>
      <p:grpSpPr>
        <a:xfrm>
          <a:off x="0" y="0"/>
          <a:ext cx="0" cy="0"/>
          <a:chOff x="0" y="0"/>
          <a:chExt cx="0" cy="0"/>
        </a:xfrm>
      </p:grpSpPr>
      <p:sp>
        <p:nvSpPr>
          <p:cNvPr id="2" name="Shape 0"/>
          <p:cNvSpPr/>
          <p:nvPr/>
        </p:nvSpPr>
        <p:spPr>
          <a:xfrm>
            <a:off x="9034272" y="0"/>
            <a:ext cx="109728" cy="5143500"/>
          </a:xfrm>
          <a:prstGeom prst="rect">
            <a:avLst/>
          </a:prstGeom>
          <a:solidFill>
            <a:srgbClr val="C9A84C"/>
          </a:solidFill>
          <a:ln/>
        </p:spPr>
      </p:sp>
      <p:sp>
        <p:nvSpPr>
          <p:cNvPr id="3" name="Text 1"/>
          <p:cNvSpPr/>
          <p:nvPr/>
        </p:nvSpPr>
        <p:spPr>
          <a:xfrm>
            <a:off x="365760" y="914400"/>
            <a:ext cx="8412480" cy="548640"/>
          </a:xfrm>
          <a:prstGeom prst="rect">
            <a:avLst/>
          </a:prstGeom>
          <a:noFill/>
          <a:ln/>
        </p:spPr>
        <p:txBody>
          <a:bodyPr wrap="square" rtlCol="0" anchor="ctr"/>
          <a:lstStyle/>
          <a:p>
            <a:pPr rtl="1" algn="r" indent="0" marL="0">
              <a:buNone/>
            </a:pPr>
            <a:r>
              <a:rPr lang="en-US" sz="1600" b="1" spc="300" kern="0" dirty="0">
                <a:solidFill>
                  <a:srgbClr val="C9A84C"/>
                </a:solidFill>
                <a:latin typeface="Arial" pitchFamily="34" charset="0"/>
                <a:ea typeface="Arial" pitchFamily="34" charset="-122"/>
                <a:cs typeface="Arial" pitchFamily="34" charset="-120"/>
              </a:rPr>
              <a:t>القسم السابع</a:t>
            </a:r>
            <a:endParaRPr lang="en-US" sz="1600" dirty="0"/>
          </a:p>
        </p:txBody>
      </p:sp>
      <p:sp>
        <p:nvSpPr>
          <p:cNvPr id="4" name="Text 2"/>
          <p:cNvSpPr/>
          <p:nvPr/>
        </p:nvSpPr>
        <p:spPr>
          <a:xfrm>
            <a:off x="365760" y="1463040"/>
            <a:ext cx="8412480" cy="1371600"/>
          </a:xfrm>
          <a:prstGeom prst="rect">
            <a:avLst/>
          </a:prstGeom>
          <a:noFill/>
          <a:ln/>
        </p:spPr>
        <p:txBody>
          <a:bodyPr wrap="square" rtlCol="0" anchor="ctr"/>
          <a:lstStyle/>
          <a:p>
            <a:pPr rtl="1" algn="r" indent="0" marL="0">
              <a:buNone/>
            </a:pPr>
            <a:r>
              <a:rPr lang="en-US" sz="3200" b="1" dirty="0">
                <a:solidFill>
                  <a:srgbClr val="FFFFFF"/>
                </a:solidFill>
                <a:latin typeface="Arial" pitchFamily="34" charset="0"/>
                <a:ea typeface="Arial" pitchFamily="34" charset="-122"/>
                <a:cs typeface="Arial" pitchFamily="34" charset="-120"/>
              </a:rPr>
              <a:t>الجبر الخطي</a:t>
            </a:r>
            <a:endParaRPr lang="en-US" sz="3200" dirty="0"/>
          </a:p>
        </p:txBody>
      </p:sp>
      <p:sp>
        <p:nvSpPr>
          <p:cNvPr id="5" name="Text 3"/>
          <p:cNvSpPr/>
          <p:nvPr/>
        </p:nvSpPr>
        <p:spPr>
          <a:xfrm>
            <a:off x="365760" y="2834640"/>
            <a:ext cx="8412480" cy="822960"/>
          </a:xfrm>
          <a:prstGeom prst="rect">
            <a:avLst/>
          </a:prstGeom>
          <a:noFill/>
          <a:ln/>
        </p:spPr>
        <p:txBody>
          <a:bodyPr wrap="square" rtlCol="0" anchor="ctr"/>
          <a:lstStyle/>
          <a:p>
            <a:pPr rtl="1" algn="r" indent="0" marL="0">
              <a:buNone/>
            </a:pPr>
            <a:r>
              <a:rPr lang="en-US" sz="1500" dirty="0">
                <a:solidFill>
                  <a:srgbClr val="F5E6B8"/>
                </a:solidFill>
                <a:latin typeface="Arial" pitchFamily="34" charset="0"/>
                <a:ea typeface="Arial" pitchFamily="34" charset="-122"/>
                <a:cs typeface="Arial" pitchFamily="34" charset="-120"/>
              </a:rPr>
              <a:t>المتجهات والمصفوفات والقيم الذاتية والتحويلات</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4A"/>
          </a:solidFill>
          <a:ln/>
        </p:spPr>
      </p:sp>
      <p:sp>
        <p:nvSpPr>
          <p:cNvPr id="3" name="Text 1"/>
          <p:cNvSpPr/>
          <p:nvPr/>
        </p:nvSpPr>
        <p:spPr>
          <a:xfrm>
            <a:off x="274320" y="45720"/>
            <a:ext cx="8595360" cy="594360"/>
          </a:xfrm>
          <a:prstGeom prst="rect">
            <a:avLst/>
          </a:prstGeom>
          <a:noFill/>
          <a:ln/>
        </p:spPr>
        <p:txBody>
          <a:bodyPr wrap="square" rtlCol="0" anchor="ctr"/>
          <a:lstStyle/>
          <a:p>
            <a:pPr rtl="1" algn="r" indent="0" marL="0">
              <a:buNone/>
            </a:pPr>
            <a:r>
              <a:rPr lang="en-US" sz="1900" b="1" dirty="0">
                <a:solidFill>
                  <a:srgbClr val="FFFFFF"/>
                </a:solidFill>
                <a:latin typeface="Arial" pitchFamily="34" charset="0"/>
                <a:ea typeface="Arial" pitchFamily="34" charset="-122"/>
                <a:cs typeface="Arial" pitchFamily="34" charset="-120"/>
              </a:rPr>
              <a:t>جبر المصفوفات – التحليلات والنظريات الأساسية</a:t>
            </a:r>
            <a:endParaRPr lang="en-US" sz="1900" dirty="0"/>
          </a:p>
        </p:txBody>
      </p:sp>
      <p:sp>
        <p:nvSpPr>
          <p:cNvPr id="4" name="Shape 2"/>
          <p:cNvSpPr/>
          <p:nvPr/>
        </p:nvSpPr>
        <p:spPr>
          <a:xfrm>
            <a:off x="457200" y="822960"/>
            <a:ext cx="8229600" cy="502920"/>
          </a:xfrm>
          <a:prstGeom prst="rect">
            <a:avLst/>
          </a:prstGeom>
          <a:solidFill>
            <a:srgbClr val="F0F3F4"/>
          </a:solidFill>
          <a:ln w="19050">
            <a:solidFill>
              <a:srgbClr val="C9A84C"/>
            </a:solidFill>
            <a:prstDash val="solid"/>
          </a:ln>
        </p:spPr>
      </p:sp>
      <p:sp>
        <p:nvSpPr>
          <p:cNvPr id="5" name="Text 3"/>
          <p:cNvSpPr/>
          <p:nvPr/>
        </p:nvSpPr>
        <p:spPr>
          <a:xfrm>
            <a:off x="548640" y="85039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ضرب المصفوفات:  (AB)_ij = Σ_k A_ik B_kj  (غير تبادلي عموماً)</a:t>
            </a:r>
            <a:endParaRPr lang="en-US" sz="1300" dirty="0"/>
          </a:p>
        </p:txBody>
      </p:sp>
      <p:sp>
        <p:nvSpPr>
          <p:cNvPr id="6" name="Shape 4"/>
          <p:cNvSpPr/>
          <p:nvPr/>
        </p:nvSpPr>
        <p:spPr>
          <a:xfrm>
            <a:off x="457200" y="1417320"/>
            <a:ext cx="8229600" cy="502920"/>
          </a:xfrm>
          <a:prstGeom prst="rect">
            <a:avLst/>
          </a:prstGeom>
          <a:solidFill>
            <a:srgbClr val="F0F3F4"/>
          </a:solidFill>
          <a:ln w="19050">
            <a:solidFill>
              <a:srgbClr val="C9A84C"/>
            </a:solidFill>
            <a:prstDash val="solid"/>
          </a:ln>
        </p:spPr>
      </p:sp>
      <p:sp>
        <p:nvSpPr>
          <p:cNvPr id="7" name="Text 5"/>
          <p:cNvSpPr/>
          <p:nvPr/>
        </p:nvSpPr>
        <p:spPr>
          <a:xfrm>
            <a:off x="548640" y="144475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المحدد (2×2):  det(A) = ad − bc  ؛  قابلة للعكس ⟺ det(A) ≠ 0</a:t>
            </a:r>
            <a:endParaRPr lang="en-US" sz="1300" dirty="0"/>
          </a:p>
        </p:txBody>
      </p:sp>
      <p:sp>
        <p:nvSpPr>
          <p:cNvPr id="8" name="Shape 6"/>
          <p:cNvSpPr/>
          <p:nvPr/>
        </p:nvSpPr>
        <p:spPr>
          <a:xfrm>
            <a:off x="457200" y="2011680"/>
            <a:ext cx="8229600" cy="502920"/>
          </a:xfrm>
          <a:prstGeom prst="rect">
            <a:avLst/>
          </a:prstGeom>
          <a:solidFill>
            <a:srgbClr val="F0F3F4"/>
          </a:solidFill>
          <a:ln w="19050">
            <a:solidFill>
              <a:srgbClr val="C9A84C"/>
            </a:solidFill>
            <a:prstDash val="solid"/>
          </a:ln>
        </p:spPr>
      </p:sp>
      <p:sp>
        <p:nvSpPr>
          <p:cNvPr id="9" name="Text 7"/>
          <p:cNvSpPr/>
          <p:nvPr/>
        </p:nvSpPr>
        <p:spPr>
          <a:xfrm>
            <a:off x="548640" y="203911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مسألة القيمة الذاتية:  Av = λv  ⟺  det(A − λI) = 0</a:t>
            </a:r>
            <a:endParaRPr lang="en-US" sz="1300" dirty="0"/>
          </a:p>
        </p:txBody>
      </p:sp>
      <p:sp>
        <p:nvSpPr>
          <p:cNvPr id="10" name="Shape 8"/>
          <p:cNvSpPr/>
          <p:nvPr/>
        </p:nvSpPr>
        <p:spPr>
          <a:xfrm>
            <a:off x="457200" y="2606040"/>
            <a:ext cx="8229600" cy="502920"/>
          </a:xfrm>
          <a:prstGeom prst="rect">
            <a:avLst/>
          </a:prstGeom>
          <a:solidFill>
            <a:srgbClr val="F0F3F4"/>
          </a:solidFill>
          <a:ln w="19050">
            <a:solidFill>
              <a:srgbClr val="C9A84C"/>
            </a:solidFill>
            <a:prstDash val="solid"/>
          </a:ln>
        </p:spPr>
      </p:sp>
      <p:sp>
        <p:nvSpPr>
          <p:cNvPr id="11" name="Text 9"/>
          <p:cNvSpPr/>
          <p:nvPr/>
        </p:nvSpPr>
        <p:spPr>
          <a:xfrm>
            <a:off x="548640" y="263347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نظرية الطيف:  A = QΛQ⁻¹  (تقطير، إذا كان هناك n متجه ذاتي مستقل خطياً)</a:t>
            </a:r>
            <a:endParaRPr lang="en-US" sz="1300" dirty="0"/>
          </a:p>
        </p:txBody>
      </p:sp>
      <p:sp>
        <p:nvSpPr>
          <p:cNvPr id="12" name="Shape 10"/>
          <p:cNvSpPr/>
          <p:nvPr/>
        </p:nvSpPr>
        <p:spPr>
          <a:xfrm>
            <a:off x="457200" y="3200400"/>
            <a:ext cx="8229600" cy="502920"/>
          </a:xfrm>
          <a:prstGeom prst="rect">
            <a:avLst/>
          </a:prstGeom>
          <a:solidFill>
            <a:srgbClr val="F0F3F4"/>
          </a:solidFill>
          <a:ln w="19050">
            <a:solidFill>
              <a:srgbClr val="C9A84C"/>
            </a:solidFill>
            <a:prstDash val="solid"/>
          </a:ln>
        </p:spPr>
      </p:sp>
      <p:sp>
        <p:nvSpPr>
          <p:cNvPr id="13" name="Text 11"/>
          <p:cNvSpPr/>
          <p:nvPr/>
        </p:nvSpPr>
        <p:spPr>
          <a:xfrm>
            <a:off x="548640" y="322783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SVD:  A = UΣVᵀ  (U وV أحادية؛ Σ قطرية غير سالبة)</a:t>
            </a:r>
            <a:endParaRPr lang="en-US" sz="1300" dirty="0"/>
          </a:p>
        </p:txBody>
      </p:sp>
      <p:sp>
        <p:nvSpPr>
          <p:cNvPr id="14" name="Shape 12"/>
          <p:cNvSpPr/>
          <p:nvPr/>
        </p:nvSpPr>
        <p:spPr>
          <a:xfrm>
            <a:off x="457200" y="3794760"/>
            <a:ext cx="8229600" cy="502920"/>
          </a:xfrm>
          <a:prstGeom prst="rect">
            <a:avLst/>
          </a:prstGeom>
          <a:solidFill>
            <a:srgbClr val="F0F3F4"/>
          </a:solidFill>
          <a:ln w="19050">
            <a:solidFill>
              <a:srgbClr val="C9A84C"/>
            </a:solidFill>
            <a:prstDash val="solid"/>
          </a:ln>
        </p:spPr>
      </p:sp>
      <p:sp>
        <p:nvSpPr>
          <p:cNvPr id="15" name="Text 13"/>
          <p:cNvSpPr/>
          <p:nvPr/>
        </p:nvSpPr>
        <p:spPr>
          <a:xfrm>
            <a:off x="548640" y="382219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التحليل LU:  A = LU  (L سفلية مثلثية، U علوية مثلثية؛ لحل Ax=b)</a:t>
            </a:r>
            <a:endParaRPr lang="en-US" sz="1300" dirty="0"/>
          </a:p>
        </p:txBody>
      </p:sp>
      <p:sp>
        <p:nvSpPr>
          <p:cNvPr id="16" name="Shape 14"/>
          <p:cNvSpPr/>
          <p:nvPr/>
        </p:nvSpPr>
        <p:spPr>
          <a:xfrm>
            <a:off x="457200" y="4389120"/>
            <a:ext cx="8229600" cy="502920"/>
          </a:xfrm>
          <a:prstGeom prst="rect">
            <a:avLst/>
          </a:prstGeom>
          <a:solidFill>
            <a:srgbClr val="F0F3F4"/>
          </a:solidFill>
          <a:ln w="19050">
            <a:solidFill>
              <a:srgbClr val="C9A84C"/>
            </a:solidFill>
            <a:prstDash val="solid"/>
          </a:ln>
        </p:spPr>
      </p:sp>
      <p:sp>
        <p:nvSpPr>
          <p:cNvPr id="17" name="Text 15"/>
          <p:cNvSpPr/>
          <p:nvPr/>
        </p:nvSpPr>
        <p:spPr>
          <a:xfrm>
            <a:off x="548640" y="441655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التحليل QR:  A = QR  (Q متعامدة، R علوية مثلثية؛ أقل مربعات)</a:t>
            </a:r>
            <a:endParaRPr lang="en-US" sz="1300" dirty="0"/>
          </a:p>
        </p:txBody>
      </p:sp>
      <p:sp>
        <p:nvSpPr>
          <p:cNvPr id="18" name="Shape 16"/>
          <p:cNvSpPr/>
          <p:nvPr/>
        </p:nvSpPr>
        <p:spPr>
          <a:xfrm>
            <a:off x="457200" y="4983480"/>
            <a:ext cx="8229600" cy="502920"/>
          </a:xfrm>
          <a:prstGeom prst="rect">
            <a:avLst/>
          </a:prstGeom>
          <a:solidFill>
            <a:srgbClr val="F0F3F4"/>
          </a:solidFill>
          <a:ln w="19050">
            <a:solidFill>
              <a:srgbClr val="C9A84C"/>
            </a:solidFill>
            <a:prstDash val="solid"/>
          </a:ln>
        </p:spPr>
      </p:sp>
      <p:sp>
        <p:nvSpPr>
          <p:cNvPr id="19" name="Text 17"/>
          <p:cNvSpPr/>
          <p:nvPr/>
        </p:nvSpPr>
        <p:spPr>
          <a:xfrm>
            <a:off x="548640" y="501091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كايلي-هاميلتون:  كل مصفوفة تحقق معادلتها المميزة الخاصة</a:t>
            </a:r>
            <a:endParaRPr lang="en-US" sz="1300" dirty="0"/>
          </a:p>
        </p:txBody>
      </p:sp>
      <p:sp>
        <p:nvSpPr>
          <p:cNvPr id="20" name="Text 18"/>
          <p:cNvSpPr/>
          <p:nvPr/>
        </p:nvSpPr>
        <p:spPr>
          <a:xfrm>
            <a:off x="457200" y="5577840"/>
            <a:ext cx="8229600" cy="-708660"/>
          </a:xfrm>
          <a:prstGeom prst="rect">
            <a:avLst/>
          </a:prstGeom>
          <a:noFill/>
          <a:ln/>
        </p:spPr>
        <p:txBody>
          <a:bodyPr wrap="square" rtlCol="0" anchor="ctr"/>
          <a:lstStyle/>
          <a:p>
            <a:pPr rtl="1" algn="r" indent="0" marL="0">
              <a:buNone/>
            </a:pPr>
            <a:r>
              <a:rPr lang="en-US" sz="1200" dirty="0">
                <a:solidFill>
                  <a:srgbClr val="2C3E50"/>
                </a:solidFill>
                <a:latin typeface="Arial" pitchFamily="34" charset="0"/>
                <a:ea typeface="Arial" pitchFamily="34" charset="-122"/>
                <a:cs typeface="Arial" pitchFamily="34" charset="-120"/>
              </a:rPr>
              <a:t>SVD هو أقوى تحليل: موجود لأي مصفوفة m×n ويكشف الرتبة والفضاء الصفري والمجال. للمصفوفات المتماثلة الموجبة، يُختزل إلى التحليل الذاتي. PCA يستخدم SVD على مصفوفة التباين المشترك للبيانات. شرط العدد κ = σ_max/σ_min يقيس الاستقرار العددي.</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9F7"/>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3D2E"/>
          </a:solidFill>
          <a:ln/>
        </p:spPr>
      </p:sp>
      <p:sp>
        <p:nvSpPr>
          <p:cNvPr id="3" name="Text 1"/>
          <p:cNvSpPr/>
          <p:nvPr/>
        </p:nvSpPr>
        <p:spPr>
          <a:xfrm>
            <a:off x="274320" y="45720"/>
            <a:ext cx="8595360" cy="594360"/>
          </a:xfrm>
          <a:prstGeom prst="rect">
            <a:avLst/>
          </a:prstGeom>
          <a:noFill/>
          <a:ln/>
        </p:spPr>
        <p:txBody>
          <a:bodyPr wrap="square" rtlCol="0" anchor="ctr"/>
          <a:lstStyle/>
          <a:p>
            <a:pPr rtl="1" algn="r" indent="0" marL="0">
              <a:buNone/>
            </a:pPr>
            <a:r>
              <a:rPr lang="en-US" sz="1900" b="1" dirty="0">
                <a:solidFill>
                  <a:srgbClr val="FFFFFF"/>
                </a:solidFill>
                <a:latin typeface="Arial" pitchFamily="34" charset="0"/>
                <a:ea typeface="Arial" pitchFamily="34" charset="-122"/>
                <a:cs typeface="Arial" pitchFamily="34" charset="-120"/>
              </a:rPr>
              <a:t>فضاءات المتجهات – البديهيات والأساس وفضاءات الجداء الداخلي</a:t>
            </a:r>
            <a:endParaRPr lang="en-US" sz="1900" dirty="0"/>
          </a:p>
        </p:txBody>
      </p:sp>
      <p:sp>
        <p:nvSpPr>
          <p:cNvPr id="4" name="Text 2"/>
          <p:cNvSpPr/>
          <p:nvPr/>
        </p:nvSpPr>
        <p:spPr>
          <a:xfrm>
            <a:off x="365760" y="777240"/>
            <a:ext cx="8412480" cy="4023360"/>
          </a:xfrm>
          <a:prstGeom prst="rect">
            <a:avLst/>
          </a:prstGeom>
          <a:noFill/>
          <a:ln/>
        </p:spPr>
        <p:txBody>
          <a:bodyPr wrap="square" rtlCol="0" anchor="ctr"/>
          <a:lstStyle/>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بديهيات الفضاء المتجهي V على الحقل F: (1) إغلاق تحت الجمع والضرب القياسي. (2) التبادلية والترابطية للجمع. (3) المحايد الجمعي 0. (4) المعاكس الجمعي. (5) توزيع الضرب القياسي.</a:t>
            </a:r>
            <a:endParaRPr lang="en-US" sz="1300" dirty="0"/>
          </a:p>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الأساس: مجموعة مستقلة خطياً وشاملة S. dim(V) = |S|. أي أساسين لـ V لهما نفس العدد الأساسي.</a:t>
            </a:r>
            <a:endParaRPr lang="en-US" sz="1300" dirty="0"/>
          </a:p>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نظرية الرتبة والإبطال: rank(A) + nullity(A) = n (لمصفوفة m×n). الرتبة = بُعد فضاء الأعمدة.</a:t>
            </a:r>
            <a:endParaRPr lang="en-US" sz="1300" dirty="0"/>
          </a:p>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فضاء الجداء الداخلي: ⟨u,v⟩ يجب أن يكون: خطياً في الحجة الأولى، متماثلاً مترافقاً، موجباً تحديداً. لـ ℝⁿ: ⟨u,v⟩ = uᵀv.</a:t>
            </a:r>
            <a:endParaRPr lang="en-US" sz="1300" dirty="0"/>
          </a:p>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متباينة كوشي-شوارتز: |⟨u,v⟩| ≤ ‖u‖·‖v‖. المساواة إذا وفقط إذا كان u = λv.</a:t>
            </a:r>
            <a:endParaRPr lang="en-US" sz="1300" dirty="0"/>
          </a:p>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عملية غرام-شميت: تحويل أي أساس {v₁,…,vₙ} إلى أساس متعامد وحيد {e₁,…,eₙ} عبر طرح الإسقاطات.</a:t>
            </a:r>
            <a:endParaRPr lang="en-US" sz="1300" dirty="0"/>
          </a:p>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الإسقاط على الفضاء الجزئي W: P = A(AᵀA)⁻¹Aᵀ. خاصية: P² = P وPᵀ = P (مُثبِّت، متماثل).</a:t>
            </a:r>
            <a:endParaRPr lang="en-US" sz="1300" dirty="0"/>
          </a:p>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التحليل الطيفي (A متماثلة): A = Σλᵢeᵢeᵢᵀ (مجموع على القيم الذاتية؛ eᵢ متجهات ذاتية متعامدة).</a:t>
            </a:r>
            <a:endParaRPr lang="en-US" sz="1300" dirty="0"/>
          </a:p>
          <a:p>
            <a:pPr algn="r" indent="0" marL="0">
              <a:buNone/>
            </a:pPr>
            <a:endParaRPr lang="en-US" sz="1300" dirty="0"/>
          </a:p>
        </p:txBody>
      </p:sp>
      <p:sp>
        <p:nvSpPr>
          <p:cNvPr id="5" name="Text 3"/>
          <p:cNvSpPr/>
          <p:nvPr/>
        </p:nvSpPr>
        <p:spPr>
          <a:xfrm>
            <a:off x="274320" y="4663440"/>
            <a:ext cx="8595360" cy="365760"/>
          </a:xfrm>
          <a:prstGeom prst="rect">
            <a:avLst/>
          </a:prstGeom>
          <a:noFill/>
          <a:ln/>
        </p:spPr>
        <p:txBody>
          <a:bodyPr wrap="square" rtlCol="0" anchor="ctr"/>
          <a:lstStyle/>
          <a:p>
            <a:pPr rtl="1" algn="r" indent="0" marL="0">
              <a:buNone/>
            </a:pPr>
            <a:r>
              <a:rPr lang="en-US" sz="1000" i="1" dirty="0">
                <a:solidFill>
                  <a:srgbClr val="7F8C8D"/>
                </a:solidFill>
                <a:latin typeface="Arial" pitchFamily="34" charset="0"/>
                <a:ea typeface="Arial" pitchFamily="34" charset="-122"/>
                <a:cs typeface="Arial" pitchFamily="34" charset="-120"/>
              </a:rPr>
              <a:t>المصدر: أكسلر – الجبر الخطي الصحيح، الطبعة الثالثة؛ سترانج – مقدمة في الجبر الخطي، الطبعة الخامسة</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A3A4A"/>
        </a:solidFill>
      </p:bgPr>
    </p:bg>
    <p:spTree>
      <p:nvGrpSpPr>
        <p:cNvPr id="1" name=""/>
        <p:cNvGrpSpPr/>
        <p:nvPr/>
      </p:nvGrpSpPr>
      <p:grpSpPr>
        <a:xfrm>
          <a:off x="0" y="0"/>
          <a:ext cx="0" cy="0"/>
          <a:chOff x="0" y="0"/>
          <a:chExt cx="0" cy="0"/>
        </a:xfrm>
      </p:grpSpPr>
      <p:sp>
        <p:nvSpPr>
          <p:cNvPr id="2" name="Shape 0"/>
          <p:cNvSpPr/>
          <p:nvPr/>
        </p:nvSpPr>
        <p:spPr>
          <a:xfrm>
            <a:off x="9034272" y="0"/>
            <a:ext cx="109728" cy="5143500"/>
          </a:xfrm>
          <a:prstGeom prst="rect">
            <a:avLst/>
          </a:prstGeom>
          <a:solidFill>
            <a:srgbClr val="C9A84C"/>
          </a:solidFill>
          <a:ln/>
        </p:spPr>
      </p:sp>
      <p:sp>
        <p:nvSpPr>
          <p:cNvPr id="3" name="Text 1"/>
          <p:cNvSpPr/>
          <p:nvPr/>
        </p:nvSpPr>
        <p:spPr>
          <a:xfrm>
            <a:off x="365760" y="914400"/>
            <a:ext cx="8412480" cy="548640"/>
          </a:xfrm>
          <a:prstGeom prst="rect">
            <a:avLst/>
          </a:prstGeom>
          <a:noFill/>
          <a:ln/>
        </p:spPr>
        <p:txBody>
          <a:bodyPr wrap="square" rtlCol="0" anchor="ctr"/>
          <a:lstStyle/>
          <a:p>
            <a:pPr rtl="1" algn="r" indent="0" marL="0">
              <a:buNone/>
            </a:pPr>
            <a:r>
              <a:rPr lang="en-US" sz="1600" b="1" spc="300" kern="0" dirty="0">
                <a:solidFill>
                  <a:srgbClr val="C9A84C"/>
                </a:solidFill>
                <a:latin typeface="Arial" pitchFamily="34" charset="0"/>
                <a:ea typeface="Arial" pitchFamily="34" charset="-122"/>
                <a:cs typeface="Arial" pitchFamily="34" charset="-120"/>
              </a:rPr>
              <a:t>القسم الثامن</a:t>
            </a:r>
            <a:endParaRPr lang="en-US" sz="1600" dirty="0"/>
          </a:p>
        </p:txBody>
      </p:sp>
      <p:sp>
        <p:nvSpPr>
          <p:cNvPr id="4" name="Text 2"/>
          <p:cNvSpPr/>
          <p:nvPr/>
        </p:nvSpPr>
        <p:spPr>
          <a:xfrm>
            <a:off x="365760" y="1463040"/>
            <a:ext cx="8412480" cy="1371600"/>
          </a:xfrm>
          <a:prstGeom prst="rect">
            <a:avLst/>
          </a:prstGeom>
          <a:noFill/>
          <a:ln/>
        </p:spPr>
        <p:txBody>
          <a:bodyPr wrap="square" rtlCol="0" anchor="ctr"/>
          <a:lstStyle/>
          <a:p>
            <a:pPr rtl="1" algn="r" indent="0" marL="0">
              <a:buNone/>
            </a:pPr>
            <a:r>
              <a:rPr lang="en-US" sz="3200" b="1" dirty="0">
                <a:solidFill>
                  <a:srgbClr val="FFFFFF"/>
                </a:solidFill>
                <a:latin typeface="Arial" pitchFamily="34" charset="0"/>
                <a:ea typeface="Arial" pitchFamily="34" charset="-122"/>
                <a:cs typeface="Arial" pitchFamily="34" charset="-120"/>
              </a:rPr>
              <a:t>نظرية المعلومات والتشفير</a:t>
            </a:r>
            <a:endParaRPr lang="en-US" sz="3200" dirty="0"/>
          </a:p>
        </p:txBody>
      </p:sp>
      <p:sp>
        <p:nvSpPr>
          <p:cNvPr id="5" name="Text 3"/>
          <p:cNvSpPr/>
          <p:nvPr/>
        </p:nvSpPr>
        <p:spPr>
          <a:xfrm>
            <a:off x="365760" y="2834640"/>
            <a:ext cx="8412480" cy="822960"/>
          </a:xfrm>
          <a:prstGeom prst="rect">
            <a:avLst/>
          </a:prstGeom>
          <a:noFill/>
          <a:ln/>
        </p:spPr>
        <p:txBody>
          <a:bodyPr wrap="square" rtlCol="0" anchor="ctr"/>
          <a:lstStyle/>
          <a:p>
            <a:pPr rtl="1" algn="r" indent="0" marL="0">
              <a:buNone/>
            </a:pPr>
            <a:r>
              <a:rPr lang="en-US" sz="1500" dirty="0">
                <a:solidFill>
                  <a:srgbClr val="F5E6B8"/>
                </a:solidFill>
                <a:latin typeface="Arial" pitchFamily="34" charset="0"/>
                <a:ea typeface="Arial" pitchFamily="34" charset="-122"/>
                <a:cs typeface="Arial" pitchFamily="34" charset="-120"/>
              </a:rPr>
              <a:t>الإنتروبيا وسعة القناة وتصحيح الأخطاء</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4A"/>
          </a:solidFill>
          <a:ln/>
        </p:spPr>
      </p:sp>
      <p:sp>
        <p:nvSpPr>
          <p:cNvPr id="3" name="Text 1"/>
          <p:cNvSpPr/>
          <p:nvPr/>
        </p:nvSpPr>
        <p:spPr>
          <a:xfrm>
            <a:off x="274320" y="45720"/>
            <a:ext cx="8595360" cy="594360"/>
          </a:xfrm>
          <a:prstGeom prst="rect">
            <a:avLst/>
          </a:prstGeom>
          <a:noFill/>
          <a:ln/>
        </p:spPr>
        <p:txBody>
          <a:bodyPr wrap="square" rtlCol="0" anchor="ctr"/>
          <a:lstStyle/>
          <a:p>
            <a:pPr rtl="1" algn="r" indent="0" marL="0">
              <a:buNone/>
            </a:pPr>
            <a:r>
              <a:rPr lang="en-US" sz="1900" b="1" dirty="0">
                <a:solidFill>
                  <a:srgbClr val="FFFFFF"/>
                </a:solidFill>
                <a:latin typeface="Arial" pitchFamily="34" charset="0"/>
                <a:ea typeface="Arial" pitchFamily="34" charset="-122"/>
                <a:cs typeface="Arial" pitchFamily="34" charset="-120"/>
              </a:rPr>
              <a:t>نظرية معلومات شانون – المقاييس الأساسية والحدود</a:t>
            </a:r>
            <a:endParaRPr lang="en-US" sz="1900" dirty="0"/>
          </a:p>
        </p:txBody>
      </p:sp>
      <p:sp>
        <p:nvSpPr>
          <p:cNvPr id="4" name="Shape 2"/>
          <p:cNvSpPr/>
          <p:nvPr/>
        </p:nvSpPr>
        <p:spPr>
          <a:xfrm>
            <a:off x="457200" y="822960"/>
            <a:ext cx="8229600" cy="502920"/>
          </a:xfrm>
          <a:prstGeom prst="rect">
            <a:avLst/>
          </a:prstGeom>
          <a:solidFill>
            <a:srgbClr val="F0F3F4"/>
          </a:solidFill>
          <a:ln w="19050">
            <a:solidFill>
              <a:srgbClr val="C9A84C"/>
            </a:solidFill>
            <a:prstDash val="solid"/>
          </a:ln>
        </p:spPr>
      </p:sp>
      <p:sp>
        <p:nvSpPr>
          <p:cNvPr id="5" name="Text 3"/>
          <p:cNvSpPr/>
          <p:nvPr/>
        </p:nvSpPr>
        <p:spPr>
          <a:xfrm>
            <a:off x="548640" y="85039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المعلومات الذاتية:  I(x) = −log₂ P(x)  [بت]</a:t>
            </a:r>
            <a:endParaRPr lang="en-US" sz="1300" dirty="0"/>
          </a:p>
        </p:txBody>
      </p:sp>
      <p:sp>
        <p:nvSpPr>
          <p:cNvPr id="6" name="Shape 4"/>
          <p:cNvSpPr/>
          <p:nvPr/>
        </p:nvSpPr>
        <p:spPr>
          <a:xfrm>
            <a:off x="457200" y="1417320"/>
            <a:ext cx="8229600" cy="502920"/>
          </a:xfrm>
          <a:prstGeom prst="rect">
            <a:avLst/>
          </a:prstGeom>
          <a:solidFill>
            <a:srgbClr val="F0F3F4"/>
          </a:solidFill>
          <a:ln w="19050">
            <a:solidFill>
              <a:srgbClr val="C9A84C"/>
            </a:solidFill>
            <a:prstDash val="solid"/>
          </a:ln>
        </p:spPr>
      </p:sp>
      <p:sp>
        <p:nvSpPr>
          <p:cNvPr id="7" name="Text 5"/>
          <p:cNvSpPr/>
          <p:nvPr/>
        </p:nvSpPr>
        <p:spPr>
          <a:xfrm>
            <a:off x="548640" y="144475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إنتروبيا شانون:  H(X) = −Σ P(x) log₂ P(x)  [بت/رمز]</a:t>
            </a:r>
            <a:endParaRPr lang="en-US" sz="1300" dirty="0"/>
          </a:p>
        </p:txBody>
      </p:sp>
      <p:sp>
        <p:nvSpPr>
          <p:cNvPr id="8" name="Shape 6"/>
          <p:cNvSpPr/>
          <p:nvPr/>
        </p:nvSpPr>
        <p:spPr>
          <a:xfrm>
            <a:off x="457200" y="2011680"/>
            <a:ext cx="8229600" cy="502920"/>
          </a:xfrm>
          <a:prstGeom prst="rect">
            <a:avLst/>
          </a:prstGeom>
          <a:solidFill>
            <a:srgbClr val="F0F3F4"/>
          </a:solidFill>
          <a:ln w="19050">
            <a:solidFill>
              <a:srgbClr val="C9A84C"/>
            </a:solidFill>
            <a:prstDash val="solid"/>
          </a:ln>
        </p:spPr>
      </p:sp>
      <p:sp>
        <p:nvSpPr>
          <p:cNvPr id="9" name="Text 7"/>
          <p:cNvSpPr/>
          <p:nvPr/>
        </p:nvSpPr>
        <p:spPr>
          <a:xfrm>
            <a:off x="548640" y="203911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الإنتروبيا المشتركة:  H(X,Y) = −ΣΣ P(x,y) log₂ P(x,y)</a:t>
            </a:r>
            <a:endParaRPr lang="en-US" sz="1300" dirty="0"/>
          </a:p>
        </p:txBody>
      </p:sp>
      <p:sp>
        <p:nvSpPr>
          <p:cNvPr id="10" name="Shape 8"/>
          <p:cNvSpPr/>
          <p:nvPr/>
        </p:nvSpPr>
        <p:spPr>
          <a:xfrm>
            <a:off x="457200" y="2606040"/>
            <a:ext cx="8229600" cy="502920"/>
          </a:xfrm>
          <a:prstGeom prst="rect">
            <a:avLst/>
          </a:prstGeom>
          <a:solidFill>
            <a:srgbClr val="F0F3F4"/>
          </a:solidFill>
          <a:ln w="19050">
            <a:solidFill>
              <a:srgbClr val="C9A84C"/>
            </a:solidFill>
            <a:prstDash val="solid"/>
          </a:ln>
        </p:spPr>
      </p:sp>
      <p:sp>
        <p:nvSpPr>
          <p:cNvPr id="11" name="Text 9"/>
          <p:cNvSpPr/>
          <p:nvPr/>
        </p:nvSpPr>
        <p:spPr>
          <a:xfrm>
            <a:off x="548640" y="263347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الإنتروبيا الشرطية:  H(Y|X) = H(X,Y) − H(X)</a:t>
            </a:r>
            <a:endParaRPr lang="en-US" sz="1300" dirty="0"/>
          </a:p>
        </p:txBody>
      </p:sp>
      <p:sp>
        <p:nvSpPr>
          <p:cNvPr id="12" name="Shape 10"/>
          <p:cNvSpPr/>
          <p:nvPr/>
        </p:nvSpPr>
        <p:spPr>
          <a:xfrm>
            <a:off x="457200" y="3200400"/>
            <a:ext cx="8229600" cy="502920"/>
          </a:xfrm>
          <a:prstGeom prst="rect">
            <a:avLst/>
          </a:prstGeom>
          <a:solidFill>
            <a:srgbClr val="F0F3F4"/>
          </a:solidFill>
          <a:ln w="19050">
            <a:solidFill>
              <a:srgbClr val="C9A84C"/>
            </a:solidFill>
            <a:prstDash val="solid"/>
          </a:ln>
        </p:spPr>
      </p:sp>
      <p:sp>
        <p:nvSpPr>
          <p:cNvPr id="13" name="Text 11"/>
          <p:cNvSpPr/>
          <p:nvPr/>
        </p:nvSpPr>
        <p:spPr>
          <a:xfrm>
            <a:off x="548640" y="322783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المعلومات المتبادلة:  I(X;Y) = H(X) + H(Y) − H(X,Y)</a:t>
            </a:r>
            <a:endParaRPr lang="en-US" sz="1300" dirty="0"/>
          </a:p>
        </p:txBody>
      </p:sp>
      <p:sp>
        <p:nvSpPr>
          <p:cNvPr id="14" name="Shape 12"/>
          <p:cNvSpPr/>
          <p:nvPr/>
        </p:nvSpPr>
        <p:spPr>
          <a:xfrm>
            <a:off x="457200" y="3794760"/>
            <a:ext cx="8229600" cy="502920"/>
          </a:xfrm>
          <a:prstGeom prst="rect">
            <a:avLst/>
          </a:prstGeom>
          <a:solidFill>
            <a:srgbClr val="F0F3F4"/>
          </a:solidFill>
          <a:ln w="19050">
            <a:solidFill>
              <a:srgbClr val="C9A84C"/>
            </a:solidFill>
            <a:prstDash val="solid"/>
          </a:ln>
        </p:spPr>
      </p:sp>
      <p:sp>
        <p:nvSpPr>
          <p:cNvPr id="15" name="Text 13"/>
          <p:cNvSpPr/>
          <p:nvPr/>
        </p:nvSpPr>
        <p:spPr>
          <a:xfrm>
            <a:off x="548640" y="382219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تباعد KL:  D_KL(P‖Q) = Σ P(x) log[P(x)/Q(x)]  ≥ 0</a:t>
            </a:r>
            <a:endParaRPr lang="en-US" sz="1300" dirty="0"/>
          </a:p>
        </p:txBody>
      </p:sp>
      <p:sp>
        <p:nvSpPr>
          <p:cNvPr id="16" name="Shape 14"/>
          <p:cNvSpPr/>
          <p:nvPr/>
        </p:nvSpPr>
        <p:spPr>
          <a:xfrm>
            <a:off x="457200" y="4389120"/>
            <a:ext cx="8229600" cy="502920"/>
          </a:xfrm>
          <a:prstGeom prst="rect">
            <a:avLst/>
          </a:prstGeom>
          <a:solidFill>
            <a:srgbClr val="F0F3F4"/>
          </a:solidFill>
          <a:ln w="19050">
            <a:solidFill>
              <a:srgbClr val="C9A84C"/>
            </a:solidFill>
            <a:prstDash val="solid"/>
          </a:ln>
        </p:spPr>
      </p:sp>
      <p:sp>
        <p:nvSpPr>
          <p:cNvPr id="17" name="Text 15"/>
          <p:cNvSpPr/>
          <p:nvPr/>
        </p:nvSpPr>
        <p:spPr>
          <a:xfrm>
            <a:off x="548640" y="441655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سعة القناة:  C = max_{P(X)} I(X;Y)  [بت/استخدام]</a:t>
            </a:r>
            <a:endParaRPr lang="en-US" sz="1300" dirty="0"/>
          </a:p>
        </p:txBody>
      </p:sp>
      <p:sp>
        <p:nvSpPr>
          <p:cNvPr id="18" name="Shape 16"/>
          <p:cNvSpPr/>
          <p:nvPr/>
        </p:nvSpPr>
        <p:spPr>
          <a:xfrm>
            <a:off x="457200" y="4983480"/>
            <a:ext cx="8229600" cy="502920"/>
          </a:xfrm>
          <a:prstGeom prst="rect">
            <a:avLst/>
          </a:prstGeom>
          <a:solidFill>
            <a:srgbClr val="F0F3F4"/>
          </a:solidFill>
          <a:ln w="19050">
            <a:solidFill>
              <a:srgbClr val="C9A84C"/>
            </a:solidFill>
            <a:prstDash val="solid"/>
          </a:ln>
        </p:spPr>
      </p:sp>
      <p:sp>
        <p:nvSpPr>
          <p:cNvPr id="19" name="Text 17"/>
          <p:cNvSpPr/>
          <p:nvPr/>
        </p:nvSpPr>
        <p:spPr>
          <a:xfrm>
            <a:off x="548640" y="501091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سعة AWGN:  C = B log₂(1 + SNR)  (شانون-هارتلي)</a:t>
            </a:r>
            <a:endParaRPr lang="en-US" sz="1300" dirty="0"/>
          </a:p>
        </p:txBody>
      </p:sp>
      <p:sp>
        <p:nvSpPr>
          <p:cNvPr id="20" name="Text 18"/>
          <p:cNvSpPr/>
          <p:nvPr/>
        </p:nvSpPr>
        <p:spPr>
          <a:xfrm>
            <a:off x="457200" y="5577840"/>
            <a:ext cx="8229600" cy="-708660"/>
          </a:xfrm>
          <a:prstGeom prst="rect">
            <a:avLst/>
          </a:prstGeom>
          <a:noFill/>
          <a:ln/>
        </p:spPr>
        <p:txBody>
          <a:bodyPr wrap="square" rtlCol="0" anchor="ctr"/>
          <a:lstStyle/>
          <a:p>
            <a:pPr rtl="1" algn="r" indent="0" marL="0">
              <a:buNone/>
            </a:pPr>
            <a:r>
              <a:rPr lang="en-US" sz="1200" dirty="0">
                <a:solidFill>
                  <a:srgbClr val="2C3E50"/>
                </a:solidFill>
                <a:latin typeface="Arial" pitchFamily="34" charset="0"/>
                <a:ea typeface="Arial" pitchFamily="34" charset="-122"/>
                <a:cs typeface="Arial" pitchFamily="34" charset="-120"/>
              </a:rPr>
              <a:t>المعلومات المتبادلة متماثلة: I(X;Y) = I(Y;X). تباعد KL غير متماثل – ليس متراً. نظرية سعة القناة (شانون 1948) تنص على أن الاتصال دون C ممكن مع خطأ اعتباطياً ضئيلاً؛ فوق C يصبح الخطأ حتمياً. رموز الاقتراب من السعة الحديثة: رموز توربو، LDPC، والرموز القطبية.</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9F7"/>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3D2E"/>
          </a:solidFill>
          <a:ln/>
        </p:spPr>
      </p:sp>
      <p:sp>
        <p:nvSpPr>
          <p:cNvPr id="3" name="Text 1"/>
          <p:cNvSpPr/>
          <p:nvPr/>
        </p:nvSpPr>
        <p:spPr>
          <a:xfrm>
            <a:off x="274320" y="45720"/>
            <a:ext cx="8595360" cy="594360"/>
          </a:xfrm>
          <a:prstGeom prst="rect">
            <a:avLst/>
          </a:prstGeom>
          <a:noFill/>
          <a:ln/>
        </p:spPr>
        <p:txBody>
          <a:bodyPr wrap="square" rtlCol="0" anchor="ctr"/>
          <a:lstStyle/>
          <a:p>
            <a:pPr rtl="1" algn="r" indent="0" marL="0">
              <a:buNone/>
            </a:pPr>
            <a:r>
              <a:rPr lang="en-US" sz="1800" b="1" dirty="0">
                <a:solidFill>
                  <a:srgbClr val="FFFFFF"/>
                </a:solidFill>
                <a:latin typeface="Arial" pitchFamily="34" charset="0"/>
                <a:ea typeface="Arial" pitchFamily="34" charset="-122"/>
                <a:cs typeface="Arial" pitchFamily="34" charset="-120"/>
              </a:rPr>
              <a:t>رموز تصحيح الأخطاء – التصنيف والمعاملات</a:t>
            </a:r>
            <a:endParaRPr lang="en-US" sz="18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182880" y="777240"/>
          <a:ext cx="8778240" cy="914400"/>
        </p:xfrm>
        <a:graphic>
          <a:graphicData uri="http://schemas.openxmlformats.org/drawingml/2006/table">
            <a:tbl>
              <a:tblPr/>
              <a:tblGrid>
                <a:gridCol w="1463040"/>
                <a:gridCol w="1554480"/>
                <a:gridCol w="1097280"/>
                <a:gridCol w="1371600"/>
                <a:gridCol w="1737360"/>
                <a:gridCol w="1554480"/>
              </a:tblGrid>
              <a:tr h="0">
                <a:tc>
                  <a:txBody>
                    <a:bodyPr/>
                    <a:lstStyle/>
                    <a:p>
                      <a:pPr algn="r" indent="0" marL="0">
                        <a:buNone/>
                      </a:pPr>
                      <a:r>
                        <a:rPr lang="en-US" sz="1000" b="1" dirty="0">
                          <a:solidFill>
                            <a:srgbClr val="FFFFFF"/>
                          </a:solidFill>
                        </a:rPr>
                        <a:t>الرمز</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c>
                  <a:txBody>
                    <a:bodyPr/>
                    <a:lstStyle/>
                    <a:p>
                      <a:pPr algn="r" indent="0" marL="0">
                        <a:buNone/>
                      </a:pPr>
                      <a:r>
                        <a:rPr lang="en-US" sz="1000" b="1" dirty="0">
                          <a:solidFill>
                            <a:srgbClr val="FFFFFF"/>
                          </a:solidFill>
                        </a:rPr>
                        <a:t>النوع</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c>
                  <a:txBody>
                    <a:bodyPr/>
                    <a:lstStyle/>
                    <a:p>
                      <a:pPr algn="r" indent="0" marL="0">
                        <a:buNone/>
                      </a:pPr>
                      <a:r>
                        <a:rPr lang="en-US" sz="1000" b="1" dirty="0">
                          <a:solidFill>
                            <a:srgbClr val="FFFFFF"/>
                          </a:solidFill>
                        </a:rPr>
                        <a:t>المعدل k/n</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c>
                  <a:txBody>
                    <a:bodyPr/>
                    <a:lstStyle/>
                    <a:p>
                      <a:pPr algn="r" indent="0" marL="0">
                        <a:buNone/>
                      </a:pPr>
                      <a:r>
                        <a:rPr lang="en-US" sz="1000" b="1" dirty="0">
                          <a:solidFill>
                            <a:srgbClr val="FFFFFF"/>
                          </a:solidFill>
                        </a:rPr>
                        <a:t>الحد الأدنى d</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c>
                  <a:txBody>
                    <a:bodyPr/>
                    <a:lstStyle/>
                    <a:p>
                      <a:pPr algn="r" indent="0" marL="0">
                        <a:buNone/>
                      </a:pPr>
                      <a:r>
                        <a:rPr lang="en-US" sz="1000" b="1" dirty="0">
                          <a:solidFill>
                            <a:srgbClr val="FFFFFF"/>
                          </a:solidFill>
                        </a:rPr>
                        <a:t>أخطاء قابلة للتصحيح</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c>
                  <a:txBody>
                    <a:bodyPr/>
                    <a:lstStyle/>
                    <a:p>
                      <a:pPr algn="r" indent="0" marL="0">
                        <a:buNone/>
                      </a:pPr>
                      <a:r>
                        <a:rPr lang="en-US" sz="1000" b="1" dirty="0">
                          <a:solidFill>
                            <a:srgbClr val="FFFFFF"/>
                          </a:solidFill>
                        </a:rPr>
                        <a:t>التطبيق</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r>
              <a:tr h="0">
                <a:tc>
                  <a:txBody>
                    <a:bodyPr/>
                    <a:lstStyle/>
                    <a:p>
                      <a:pPr algn="r" indent="0" marL="0">
                        <a:buNone/>
                      </a:pPr>
                      <a:r>
                        <a:rPr lang="en-US" sz="950" dirty="0">
                          <a:solidFill>
                            <a:srgbClr val="2C3E50"/>
                          </a:solidFill>
                        </a:rPr>
                        <a:t>هامينغ(7,4)</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خطي كتلي</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4/7 ≈ 0.57</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3</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1 بت</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ذاكرة ECC</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r h="0">
                <a:tc>
                  <a:txBody>
                    <a:bodyPr/>
                    <a:lstStyle/>
                    <a:p>
                      <a:pPr algn="r" indent="0" marL="0">
                        <a:buNone/>
                      </a:pPr>
                      <a:r>
                        <a:rPr lang="en-US" sz="950" dirty="0">
                          <a:solidFill>
                            <a:srgbClr val="2C3E50"/>
                          </a:solidFill>
                        </a:rPr>
                        <a:t>ريد-سالومون</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دوري غير ثنائي</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(n-k)/n</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n-k+1</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⌊(d-1)/2⌋</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رموز QR، أقراص مدمجة</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r>
              <a:tr h="0">
                <a:tc>
                  <a:txBody>
                    <a:bodyPr/>
                    <a:lstStyle/>
                    <a:p>
                      <a:pPr algn="r" indent="0" marL="0">
                        <a:buNone/>
                      </a:pPr>
                      <a:r>
                        <a:rPr lang="en-US" sz="950" dirty="0">
                          <a:solidFill>
                            <a:srgbClr val="2C3E50"/>
                          </a:solidFill>
                        </a:rPr>
                        <a:t>رموز BCH</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دوري ثنائي</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متغير</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مُصمَّمة</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t خطأ</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اتصالات الأقمار الصناعية</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r h="0">
                <a:tc>
                  <a:txBody>
                    <a:bodyPr/>
                    <a:lstStyle/>
                    <a:p>
                      <a:pPr algn="r" indent="0" marL="0">
                        <a:buNone/>
                      </a:pPr>
                      <a:r>
                        <a:rPr lang="en-US" sz="950" dirty="0">
                          <a:solidFill>
                            <a:srgbClr val="2C3E50"/>
                          </a:solidFill>
                        </a:rPr>
                        <a:t>رمز توربو</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متسلسل متوازي</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~1/2 إلى 1/3</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متغير</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قريب من حد شانون</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شبكات 3G/4G</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r>
              <a:tr h="0">
                <a:tc>
                  <a:txBody>
                    <a:bodyPr/>
                    <a:lstStyle/>
                    <a:p>
                      <a:pPr algn="r" indent="0" marL="0">
                        <a:buNone/>
                      </a:pPr>
                      <a:r>
                        <a:rPr lang="en-US" sz="950" dirty="0">
                          <a:solidFill>
                            <a:srgbClr val="2C3E50"/>
                          </a:solidFill>
                        </a:rPr>
                        <a:t>LDPC</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رسم بياني متناثر</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~1/2</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خطي في n</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قريب من السعة</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5G NR، واي فاي</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r h="0">
                <a:tc>
                  <a:txBody>
                    <a:bodyPr/>
                    <a:lstStyle/>
                    <a:p>
                      <a:pPr algn="r" indent="0" marL="0">
                        <a:buNone/>
                      </a:pPr>
                      <a:r>
                        <a:rPr lang="en-US" sz="950" dirty="0">
                          <a:solidFill>
                            <a:srgbClr val="2C3E50"/>
                          </a:solidFill>
                        </a:rPr>
                        <a:t>رمز قطبي</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تقطيب القناة</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k/n</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أسي</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قريب من السعة</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قناة تحكم 5G</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r>
            </a:tbl>
          </a:graphicData>
        </a:graphic>
      </p:graphicFrame>
      <p:sp>
        <p:nvSpPr>
          <p:cNvPr id="5" name="Text 2"/>
          <p:cNvSpPr/>
          <p:nvPr/>
        </p:nvSpPr>
        <p:spPr>
          <a:xfrm>
            <a:off x="274320" y="4572000"/>
            <a:ext cx="8595360" cy="457200"/>
          </a:xfrm>
          <a:prstGeom prst="rect">
            <a:avLst/>
          </a:prstGeom>
          <a:noFill/>
          <a:ln/>
        </p:spPr>
        <p:txBody>
          <a:bodyPr wrap="square" rtlCol="0" anchor="ctr"/>
          <a:lstStyle/>
          <a:p>
            <a:pPr rtl="1" algn="r" indent="0" marL="0">
              <a:buNone/>
            </a:pPr>
            <a:r>
              <a:rPr lang="en-US" sz="1000" i="1" dirty="0">
                <a:solidFill>
                  <a:srgbClr val="7F8C8D"/>
                </a:solidFill>
                <a:latin typeface="Arial" pitchFamily="34" charset="0"/>
                <a:ea typeface="Arial" pitchFamily="34" charset="-122"/>
                <a:cs typeface="Arial" pitchFamily="34" charset="-120"/>
              </a:rPr>
              <a:t>حدّ سينغلتون: d ≤ n − k + 1. رموز MDS تحقق هذا الحدّ – ريد-سالومون مثال. حدّ هامينغ (تعبئة الكرة): Σᵢ₌₀ᵗ C(n,i) ≤ 2^(n-k). الرموز الكاملة (هامينغ، غولاي) تحقق هذا الحدّ بالمساواة.</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A3A4A"/>
        </a:solidFill>
      </p:bgPr>
    </p:bg>
    <p:spTree>
      <p:nvGrpSpPr>
        <p:cNvPr id="1" name=""/>
        <p:cNvGrpSpPr/>
        <p:nvPr/>
      </p:nvGrpSpPr>
      <p:grpSpPr>
        <a:xfrm>
          <a:off x="0" y="0"/>
          <a:ext cx="0" cy="0"/>
          <a:chOff x="0" y="0"/>
          <a:chExt cx="0" cy="0"/>
        </a:xfrm>
      </p:grpSpPr>
      <p:sp>
        <p:nvSpPr>
          <p:cNvPr id="2" name="Shape 0"/>
          <p:cNvSpPr/>
          <p:nvPr/>
        </p:nvSpPr>
        <p:spPr>
          <a:xfrm>
            <a:off x="9034272" y="0"/>
            <a:ext cx="109728" cy="5143500"/>
          </a:xfrm>
          <a:prstGeom prst="rect">
            <a:avLst/>
          </a:prstGeom>
          <a:solidFill>
            <a:srgbClr val="C9A84C"/>
          </a:solidFill>
          <a:ln/>
        </p:spPr>
      </p:sp>
      <p:sp>
        <p:nvSpPr>
          <p:cNvPr id="3" name="Text 1"/>
          <p:cNvSpPr/>
          <p:nvPr/>
        </p:nvSpPr>
        <p:spPr>
          <a:xfrm>
            <a:off x="365760" y="914400"/>
            <a:ext cx="8412480" cy="548640"/>
          </a:xfrm>
          <a:prstGeom prst="rect">
            <a:avLst/>
          </a:prstGeom>
          <a:noFill/>
          <a:ln/>
        </p:spPr>
        <p:txBody>
          <a:bodyPr wrap="square" rtlCol="0" anchor="ctr"/>
          <a:lstStyle/>
          <a:p>
            <a:pPr rtl="1" algn="r" indent="0" marL="0">
              <a:buNone/>
            </a:pPr>
            <a:r>
              <a:rPr lang="en-US" sz="1600" b="1" spc="300" kern="0" dirty="0">
                <a:solidFill>
                  <a:srgbClr val="C9A84C"/>
                </a:solidFill>
                <a:latin typeface="Arial" pitchFamily="34" charset="0"/>
                <a:ea typeface="Arial" pitchFamily="34" charset="-122"/>
                <a:cs typeface="Arial" pitchFamily="34" charset="-120"/>
              </a:rPr>
              <a:t>القسم التاسع</a:t>
            </a:r>
            <a:endParaRPr lang="en-US" sz="1600" dirty="0"/>
          </a:p>
        </p:txBody>
      </p:sp>
      <p:sp>
        <p:nvSpPr>
          <p:cNvPr id="4" name="Text 2"/>
          <p:cNvSpPr/>
          <p:nvPr/>
        </p:nvSpPr>
        <p:spPr>
          <a:xfrm>
            <a:off x="365760" y="1463040"/>
            <a:ext cx="8412480" cy="1371600"/>
          </a:xfrm>
          <a:prstGeom prst="rect">
            <a:avLst/>
          </a:prstGeom>
          <a:noFill/>
          <a:ln/>
        </p:spPr>
        <p:txBody>
          <a:bodyPr wrap="square" rtlCol="0" anchor="ctr"/>
          <a:lstStyle/>
          <a:p>
            <a:pPr rtl="1" algn="r" indent="0" marL="0">
              <a:buNone/>
            </a:pPr>
            <a:r>
              <a:rPr lang="en-US" sz="3200" b="1" dirty="0">
                <a:solidFill>
                  <a:srgbClr val="FFFFFF"/>
                </a:solidFill>
                <a:latin typeface="Arial" pitchFamily="34" charset="0"/>
                <a:ea typeface="Arial" pitchFamily="34" charset="-122"/>
                <a:cs typeface="Arial" pitchFamily="34" charset="-120"/>
              </a:rPr>
              <a:t>النسبية الخاصة والفيزياء الحديثة</a:t>
            </a:r>
            <a:endParaRPr lang="en-US" sz="3200" dirty="0"/>
          </a:p>
        </p:txBody>
      </p:sp>
      <p:sp>
        <p:nvSpPr>
          <p:cNvPr id="5" name="Text 3"/>
          <p:cNvSpPr/>
          <p:nvPr/>
        </p:nvSpPr>
        <p:spPr>
          <a:xfrm>
            <a:off x="365760" y="2834640"/>
            <a:ext cx="8412480" cy="822960"/>
          </a:xfrm>
          <a:prstGeom prst="rect">
            <a:avLst/>
          </a:prstGeom>
          <a:noFill/>
          <a:ln/>
        </p:spPr>
        <p:txBody>
          <a:bodyPr wrap="square" rtlCol="0" anchor="ctr"/>
          <a:lstStyle/>
          <a:p>
            <a:pPr rtl="1" algn="r" indent="0" marL="0">
              <a:buNone/>
            </a:pPr>
            <a:r>
              <a:rPr lang="en-US" sz="1500" dirty="0">
                <a:solidFill>
                  <a:srgbClr val="F5E6B8"/>
                </a:solidFill>
                <a:latin typeface="Arial" pitchFamily="34" charset="0"/>
                <a:ea typeface="Arial" pitchFamily="34" charset="-122"/>
                <a:cs typeface="Arial" pitchFamily="34" charset="-120"/>
              </a:rPr>
              <a:t>تحويلات لورنتز، الكتلة-الطاقة، وفيزياء الجسيمات</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4A"/>
          </a:solidFill>
          <a:ln/>
        </p:spPr>
      </p:sp>
      <p:sp>
        <p:nvSpPr>
          <p:cNvPr id="3" name="Text 1"/>
          <p:cNvSpPr/>
          <p:nvPr/>
        </p:nvSpPr>
        <p:spPr>
          <a:xfrm>
            <a:off x="274320" y="45720"/>
            <a:ext cx="8595360" cy="594360"/>
          </a:xfrm>
          <a:prstGeom prst="rect">
            <a:avLst/>
          </a:prstGeom>
          <a:noFill/>
          <a:ln/>
        </p:spPr>
        <p:txBody>
          <a:bodyPr wrap="square" rtlCol="0" anchor="ctr"/>
          <a:lstStyle/>
          <a:p>
            <a:pPr rtl="1" algn="r" indent="0" marL="0">
              <a:buNone/>
            </a:pPr>
            <a:r>
              <a:rPr lang="en-US" sz="1900" b="1" dirty="0">
                <a:solidFill>
                  <a:srgbClr val="FFFFFF"/>
                </a:solidFill>
                <a:latin typeface="Arial" pitchFamily="34" charset="0"/>
                <a:ea typeface="Arial" pitchFamily="34" charset="-122"/>
                <a:cs typeface="Arial" pitchFamily="34" charset="-120"/>
              </a:rPr>
              <a:t>النسبية الخاصة – تحويلات لورنتز والحركيات النسبية</a:t>
            </a:r>
            <a:endParaRPr lang="en-US" sz="1900" dirty="0"/>
          </a:p>
        </p:txBody>
      </p:sp>
      <p:sp>
        <p:nvSpPr>
          <p:cNvPr id="4" name="Shape 2"/>
          <p:cNvSpPr/>
          <p:nvPr/>
        </p:nvSpPr>
        <p:spPr>
          <a:xfrm>
            <a:off x="457200" y="822960"/>
            <a:ext cx="8229600" cy="502920"/>
          </a:xfrm>
          <a:prstGeom prst="rect">
            <a:avLst/>
          </a:prstGeom>
          <a:solidFill>
            <a:srgbClr val="F0F3F4"/>
          </a:solidFill>
          <a:ln w="19050">
            <a:solidFill>
              <a:srgbClr val="C9A84C"/>
            </a:solidFill>
            <a:prstDash val="solid"/>
          </a:ln>
        </p:spPr>
      </p:sp>
      <p:sp>
        <p:nvSpPr>
          <p:cNvPr id="5" name="Text 3"/>
          <p:cNvSpPr/>
          <p:nvPr/>
        </p:nvSpPr>
        <p:spPr>
          <a:xfrm>
            <a:off x="548640" y="85039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الفرضيتان: (1) قوانين الفيزياء متطابقة في جميع الأطر القصورية. (2) c = 2.998×10⁸ م/ث ثابت.</a:t>
            </a:r>
            <a:endParaRPr lang="en-US" sz="1300" dirty="0"/>
          </a:p>
        </p:txBody>
      </p:sp>
      <p:sp>
        <p:nvSpPr>
          <p:cNvPr id="6" name="Shape 4"/>
          <p:cNvSpPr/>
          <p:nvPr/>
        </p:nvSpPr>
        <p:spPr>
          <a:xfrm>
            <a:off x="457200" y="1417320"/>
            <a:ext cx="8229600" cy="502920"/>
          </a:xfrm>
          <a:prstGeom prst="rect">
            <a:avLst/>
          </a:prstGeom>
          <a:solidFill>
            <a:srgbClr val="F0F3F4"/>
          </a:solidFill>
          <a:ln w="19050">
            <a:solidFill>
              <a:srgbClr val="C9A84C"/>
            </a:solidFill>
            <a:prstDash val="solid"/>
          </a:ln>
        </p:spPr>
      </p:sp>
      <p:sp>
        <p:nvSpPr>
          <p:cNvPr id="7" name="Text 5"/>
          <p:cNvSpPr/>
          <p:nvPr/>
        </p:nvSpPr>
        <p:spPr>
          <a:xfrm>
            <a:off x="548640" y="144475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عامل لورنتز:  γ = 1/√(1 − v²/c²)  ؛  β = v/c</a:t>
            </a:r>
            <a:endParaRPr lang="en-US" sz="1300" dirty="0"/>
          </a:p>
        </p:txBody>
      </p:sp>
      <p:sp>
        <p:nvSpPr>
          <p:cNvPr id="8" name="Shape 6"/>
          <p:cNvSpPr/>
          <p:nvPr/>
        </p:nvSpPr>
        <p:spPr>
          <a:xfrm>
            <a:off x="457200" y="2011680"/>
            <a:ext cx="8229600" cy="502920"/>
          </a:xfrm>
          <a:prstGeom prst="rect">
            <a:avLst/>
          </a:prstGeom>
          <a:solidFill>
            <a:srgbClr val="F0F3F4"/>
          </a:solidFill>
          <a:ln w="19050">
            <a:solidFill>
              <a:srgbClr val="C9A84C"/>
            </a:solidFill>
            <a:prstDash val="solid"/>
          </a:ln>
        </p:spPr>
      </p:sp>
      <p:sp>
        <p:nvSpPr>
          <p:cNvPr id="9" name="Text 7"/>
          <p:cNvSpPr/>
          <p:nvPr/>
        </p:nvSpPr>
        <p:spPr>
          <a:xfrm>
            <a:off x="548640" y="203911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تمدد الزمن:  Δt' = γΔt  (الساعات المتحركة تتأخر)</a:t>
            </a:r>
            <a:endParaRPr lang="en-US" sz="1300" dirty="0"/>
          </a:p>
        </p:txBody>
      </p:sp>
      <p:sp>
        <p:nvSpPr>
          <p:cNvPr id="10" name="Shape 8"/>
          <p:cNvSpPr/>
          <p:nvPr/>
        </p:nvSpPr>
        <p:spPr>
          <a:xfrm>
            <a:off x="457200" y="2606040"/>
            <a:ext cx="8229600" cy="502920"/>
          </a:xfrm>
          <a:prstGeom prst="rect">
            <a:avLst/>
          </a:prstGeom>
          <a:solidFill>
            <a:srgbClr val="F0F3F4"/>
          </a:solidFill>
          <a:ln w="19050">
            <a:solidFill>
              <a:srgbClr val="C9A84C"/>
            </a:solidFill>
            <a:prstDash val="solid"/>
          </a:ln>
        </p:spPr>
      </p:sp>
      <p:sp>
        <p:nvSpPr>
          <p:cNvPr id="11" name="Text 9"/>
          <p:cNvSpPr/>
          <p:nvPr/>
        </p:nvSpPr>
        <p:spPr>
          <a:xfrm>
            <a:off x="548640" y="263347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انقباض الطول:  L' = L/γ  (العصي المتحركة تنكمش)</a:t>
            </a:r>
            <a:endParaRPr lang="en-US" sz="1300" dirty="0"/>
          </a:p>
        </p:txBody>
      </p:sp>
      <p:sp>
        <p:nvSpPr>
          <p:cNvPr id="12" name="Shape 10"/>
          <p:cNvSpPr/>
          <p:nvPr/>
        </p:nvSpPr>
        <p:spPr>
          <a:xfrm>
            <a:off x="457200" y="3200400"/>
            <a:ext cx="8229600" cy="502920"/>
          </a:xfrm>
          <a:prstGeom prst="rect">
            <a:avLst/>
          </a:prstGeom>
          <a:solidFill>
            <a:srgbClr val="F0F3F4"/>
          </a:solidFill>
          <a:ln w="19050">
            <a:solidFill>
              <a:srgbClr val="C9A84C"/>
            </a:solidFill>
            <a:prstDash val="solid"/>
          </a:ln>
        </p:spPr>
      </p:sp>
      <p:sp>
        <p:nvSpPr>
          <p:cNvPr id="13" name="Text 11"/>
          <p:cNvSpPr/>
          <p:nvPr/>
        </p:nvSpPr>
        <p:spPr>
          <a:xfrm>
            <a:off x="548640" y="322783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تحويل لورنتز:  x' = γ(x − vt)  ؛  t' = γ(t − vx/c²)</a:t>
            </a:r>
            <a:endParaRPr lang="en-US" sz="1300" dirty="0"/>
          </a:p>
        </p:txBody>
      </p:sp>
      <p:sp>
        <p:nvSpPr>
          <p:cNvPr id="14" name="Shape 12"/>
          <p:cNvSpPr/>
          <p:nvPr/>
        </p:nvSpPr>
        <p:spPr>
          <a:xfrm>
            <a:off x="457200" y="3794760"/>
            <a:ext cx="8229600" cy="502920"/>
          </a:xfrm>
          <a:prstGeom prst="rect">
            <a:avLst/>
          </a:prstGeom>
          <a:solidFill>
            <a:srgbClr val="F0F3F4"/>
          </a:solidFill>
          <a:ln w="19050">
            <a:solidFill>
              <a:srgbClr val="C9A84C"/>
            </a:solidFill>
            <a:prstDash val="solid"/>
          </a:ln>
        </p:spPr>
      </p:sp>
      <p:sp>
        <p:nvSpPr>
          <p:cNvPr id="15" name="Text 13"/>
          <p:cNvSpPr/>
          <p:nvPr/>
        </p:nvSpPr>
        <p:spPr>
          <a:xfrm>
            <a:off x="548640" y="382219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الزخم النسبي:  p = γmv  ؛  الطاقة: E = γmc²  ؛  طاقة السكون: E₀ = mc²</a:t>
            </a:r>
            <a:endParaRPr lang="en-US" sz="1300" dirty="0"/>
          </a:p>
        </p:txBody>
      </p:sp>
      <p:sp>
        <p:nvSpPr>
          <p:cNvPr id="16" name="Shape 14"/>
          <p:cNvSpPr/>
          <p:nvPr/>
        </p:nvSpPr>
        <p:spPr>
          <a:xfrm>
            <a:off x="457200" y="4389120"/>
            <a:ext cx="8229600" cy="502920"/>
          </a:xfrm>
          <a:prstGeom prst="rect">
            <a:avLst/>
          </a:prstGeom>
          <a:solidFill>
            <a:srgbClr val="F0F3F4"/>
          </a:solidFill>
          <a:ln w="19050">
            <a:solidFill>
              <a:srgbClr val="C9A84C"/>
            </a:solidFill>
            <a:prstDash val="solid"/>
          </a:ln>
        </p:spPr>
      </p:sp>
      <p:sp>
        <p:nvSpPr>
          <p:cNvPr id="17" name="Text 15"/>
          <p:cNvSpPr/>
          <p:nvPr/>
        </p:nvSpPr>
        <p:spPr>
          <a:xfrm>
            <a:off x="548640" y="441655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علاقة الطاقة-الزخم:  E² = (pc)² + (mc²)²  (ثابت: m²c⁴ = E² − p²c²)</a:t>
            </a:r>
            <a:endParaRPr lang="en-US" sz="1300" dirty="0"/>
          </a:p>
        </p:txBody>
      </p:sp>
      <p:sp>
        <p:nvSpPr>
          <p:cNvPr id="18" name="Shape 16"/>
          <p:cNvSpPr/>
          <p:nvPr/>
        </p:nvSpPr>
        <p:spPr>
          <a:xfrm>
            <a:off x="457200" y="4983480"/>
            <a:ext cx="8229600" cy="502920"/>
          </a:xfrm>
          <a:prstGeom prst="rect">
            <a:avLst/>
          </a:prstGeom>
          <a:solidFill>
            <a:srgbClr val="F0F3F4"/>
          </a:solidFill>
          <a:ln w="19050">
            <a:solidFill>
              <a:srgbClr val="C9A84C"/>
            </a:solidFill>
            <a:prstDash val="solid"/>
          </a:ln>
        </p:spPr>
      </p:sp>
      <p:sp>
        <p:nvSpPr>
          <p:cNvPr id="19" name="Text 17"/>
          <p:cNvSpPr/>
          <p:nvPr/>
        </p:nvSpPr>
        <p:spPr>
          <a:xfrm>
            <a:off x="548640" y="501091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جمع السرعات:  u' = (u − v)/(1 − uv/c²)  (لا تتجاوز c)</a:t>
            </a:r>
            <a:endParaRPr lang="en-US" sz="1300" dirty="0"/>
          </a:p>
        </p:txBody>
      </p:sp>
      <p:sp>
        <p:nvSpPr>
          <p:cNvPr id="20" name="Shape 18"/>
          <p:cNvSpPr/>
          <p:nvPr/>
        </p:nvSpPr>
        <p:spPr>
          <a:xfrm>
            <a:off x="457200" y="5577840"/>
            <a:ext cx="8229600" cy="502920"/>
          </a:xfrm>
          <a:prstGeom prst="rect">
            <a:avLst/>
          </a:prstGeom>
          <a:solidFill>
            <a:srgbClr val="F0F3F4"/>
          </a:solidFill>
          <a:ln w="19050">
            <a:solidFill>
              <a:srgbClr val="C9A84C"/>
            </a:solidFill>
            <a:prstDash val="solid"/>
          </a:ln>
        </p:spPr>
      </p:sp>
      <p:sp>
        <p:nvSpPr>
          <p:cNvPr id="21" name="Text 19"/>
          <p:cNvSpPr/>
          <p:nvPr/>
        </p:nvSpPr>
        <p:spPr>
          <a:xfrm>
            <a:off x="548640" y="560527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الرباعي الزخمي:  p^μ = (E/c, p)  ؛  ثابت: p^μ p_μ = m²c² (متري مينكوفسكي)</a:t>
            </a:r>
            <a:endParaRPr lang="en-US" sz="1300" dirty="0"/>
          </a:p>
        </p:txBody>
      </p:sp>
      <p:sp>
        <p:nvSpPr>
          <p:cNvPr id="22" name="Text 20"/>
          <p:cNvSpPr/>
          <p:nvPr/>
        </p:nvSpPr>
        <p:spPr>
          <a:xfrm>
            <a:off x="457200" y="6172200"/>
            <a:ext cx="8229600" cy="-1303020"/>
          </a:xfrm>
          <a:prstGeom prst="rect">
            <a:avLst/>
          </a:prstGeom>
          <a:noFill/>
          <a:ln/>
        </p:spPr>
        <p:txBody>
          <a:bodyPr wrap="square" rtlCol="0" anchor="ctr"/>
          <a:lstStyle/>
          <a:p>
            <a:pPr rtl="1" algn="r" indent="0" marL="0">
              <a:buNone/>
            </a:pPr>
            <a:r>
              <a:rPr lang="en-US" sz="1200" dirty="0">
                <a:solidFill>
                  <a:srgbClr val="2C3E50"/>
                </a:solidFill>
                <a:latin typeface="Arial" pitchFamily="34" charset="0"/>
                <a:ea typeface="Arial" pitchFamily="34" charset="-122"/>
                <a:cs typeface="Arial" pitchFamily="34" charset="-120"/>
              </a:rPr>
              <a:t>فترة الزمكان s² = c²t² − x² − y² − z² ثابتة تحت تحويلات لورنتز. الجسيمات عديمة الكتلة (الفوتونات) تسافر بسرعة c ولها E = pc. للحدود v ≪ c، يُختزل الزخم النسبي إلى الكلاسيكي p ≈ mv وE ≈ mc² + ½mv².</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3D2E"/>
          </a:solidFill>
          <a:ln/>
        </p:spPr>
      </p:sp>
      <p:sp>
        <p:nvSpPr>
          <p:cNvPr id="3" name="Text 1"/>
          <p:cNvSpPr/>
          <p:nvPr/>
        </p:nvSpPr>
        <p:spPr>
          <a:xfrm>
            <a:off x="274320" y="45720"/>
            <a:ext cx="8595360" cy="594360"/>
          </a:xfrm>
          <a:prstGeom prst="rect">
            <a:avLst/>
          </a:prstGeom>
          <a:noFill/>
          <a:ln/>
        </p:spPr>
        <p:txBody>
          <a:bodyPr wrap="square" rtlCol="0" anchor="ctr"/>
          <a:lstStyle/>
          <a:p>
            <a:pPr rtl="1" algn="r" indent="0" marL="0">
              <a:buNone/>
            </a:pPr>
            <a:r>
              <a:rPr lang="en-US" sz="1700" b="1" dirty="0">
                <a:solidFill>
                  <a:srgbClr val="FFFFFF"/>
                </a:solidFill>
                <a:latin typeface="Arial" pitchFamily="34" charset="0"/>
                <a:ea typeface="Arial" pitchFamily="34" charset="-122"/>
                <a:cs typeface="Arial" pitchFamily="34" charset="-120"/>
              </a:rPr>
              <a:t>النموذج المعياري لفيزياء الجسيمات – تصنيف الجسيمات</a:t>
            </a:r>
            <a:endParaRPr lang="en-US" sz="17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91440" y="777240"/>
          <a:ext cx="8961120" cy="914400"/>
        </p:xfrm>
        <a:graphic>
          <a:graphicData uri="http://schemas.openxmlformats.org/drawingml/2006/table">
            <a:tbl>
              <a:tblPr/>
              <a:tblGrid>
                <a:gridCol w="1188720"/>
                <a:gridCol w="1554480"/>
                <a:gridCol w="822960"/>
                <a:gridCol w="914400"/>
                <a:gridCol w="1463040"/>
                <a:gridCol w="822960"/>
                <a:gridCol w="2194560"/>
              </a:tblGrid>
              <a:tr h="0">
                <a:tc>
                  <a:txBody>
                    <a:bodyPr/>
                    <a:lstStyle/>
                    <a:p>
                      <a:pPr algn="r" indent="0" marL="0">
                        <a:buNone/>
                      </a:pPr>
                      <a:r>
                        <a:rPr lang="en-US" sz="1000" b="1" dirty="0">
                          <a:solidFill>
                            <a:srgbClr val="FFFFFF"/>
                          </a:solidFill>
                        </a:rPr>
                        <a:t>الفئة</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c>
                  <a:txBody>
                    <a:bodyPr/>
                    <a:lstStyle/>
                    <a:p>
                      <a:pPr algn="r" indent="0" marL="0">
                        <a:buNone/>
                      </a:pPr>
                      <a:r>
                        <a:rPr lang="en-US" sz="1000" b="1" dirty="0">
                          <a:solidFill>
                            <a:srgbClr val="FFFFFF"/>
                          </a:solidFill>
                        </a:rPr>
                        <a:t>الجسيم</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c>
                  <a:txBody>
                    <a:bodyPr/>
                    <a:lstStyle/>
                    <a:p>
                      <a:pPr algn="r" indent="0" marL="0">
                        <a:buNone/>
                      </a:pPr>
                      <a:r>
                        <a:rPr lang="en-US" sz="1000" b="1" dirty="0">
                          <a:solidFill>
                            <a:srgbClr val="FFFFFF"/>
                          </a:solidFill>
                        </a:rPr>
                        <a:t>الرمز</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c>
                  <a:txBody>
                    <a:bodyPr/>
                    <a:lstStyle/>
                    <a:p>
                      <a:pPr algn="r" indent="0" marL="0">
                        <a:buNone/>
                      </a:pPr>
                      <a:r>
                        <a:rPr lang="en-US" sz="1000" b="1" dirty="0">
                          <a:solidFill>
                            <a:srgbClr val="FFFFFF"/>
                          </a:solidFill>
                        </a:rPr>
                        <a:t>الشحنة (e)</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c>
                  <a:txBody>
                    <a:bodyPr/>
                    <a:lstStyle/>
                    <a:p>
                      <a:pPr algn="r" indent="0" marL="0">
                        <a:buNone/>
                      </a:pPr>
                      <a:r>
                        <a:rPr lang="en-US" sz="1000" b="1" dirty="0">
                          <a:solidFill>
                            <a:srgbClr val="FFFFFF"/>
                          </a:solidFill>
                        </a:rPr>
                        <a:t>الكتلة (MeV/c²)</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c>
                  <a:txBody>
                    <a:bodyPr/>
                    <a:lstStyle/>
                    <a:p>
                      <a:pPr algn="r" indent="0" marL="0">
                        <a:buNone/>
                      </a:pPr>
                      <a:r>
                        <a:rPr lang="en-US" sz="1000" b="1" dirty="0">
                          <a:solidFill>
                            <a:srgbClr val="FFFFFF"/>
                          </a:solidFill>
                        </a:rPr>
                        <a:t>الدوران</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c>
                  <a:txBody>
                    <a:bodyPr/>
                    <a:lstStyle/>
                    <a:p>
                      <a:pPr algn="r" indent="0" marL="0">
                        <a:buNone/>
                      </a:pPr>
                      <a:r>
                        <a:rPr lang="en-US" sz="1000" b="1" dirty="0">
                          <a:solidFill>
                            <a:srgbClr val="FFFFFF"/>
                          </a:solidFill>
                        </a:rPr>
                        <a:t>القوة/التفاعل</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r>
              <a:tr h="0">
                <a:tc>
                  <a:txBody>
                    <a:bodyPr/>
                    <a:lstStyle/>
                    <a:p>
                      <a:pPr algn="r" indent="0" marL="0">
                        <a:buNone/>
                      </a:pPr>
                      <a:r>
                        <a:rPr lang="en-US" sz="900" dirty="0">
                          <a:solidFill>
                            <a:srgbClr val="2C3E50"/>
                          </a:solidFill>
                        </a:rPr>
                        <a:t>ليبتون</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إلكترون</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e⁻</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−1</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0.511</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1/2</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كهرومغناطيسية، ضعيفة</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r h="0">
                <a:tc>
                  <a:txBody>
                    <a:bodyPr/>
                    <a:lstStyle/>
                    <a:p>
                      <a:pPr algn="r" indent="0" marL="0">
                        <a:buNone/>
                      </a:pPr>
                      <a:r>
                        <a:rPr lang="en-US" sz="900" dirty="0">
                          <a:solidFill>
                            <a:srgbClr val="2C3E50"/>
                          </a:solidFill>
                        </a:rPr>
                        <a:t>ليبتون</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ميون</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μ⁻</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−1</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105.66</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1/2</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كهرومغناطيسية، ضعيفة</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r>
              <a:tr h="0">
                <a:tc>
                  <a:txBody>
                    <a:bodyPr/>
                    <a:lstStyle/>
                    <a:p>
                      <a:pPr algn="r" indent="0" marL="0">
                        <a:buNone/>
                      </a:pPr>
                      <a:r>
                        <a:rPr lang="en-US" sz="900" dirty="0">
                          <a:solidFill>
                            <a:srgbClr val="2C3E50"/>
                          </a:solidFill>
                        </a:rPr>
                        <a:t>ليبتون</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نيوترينو إلكتروني</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νₑ</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0</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&lt;2.2×10⁻³</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1/2</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ضعيفة</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r h="0">
                <a:tc>
                  <a:txBody>
                    <a:bodyPr/>
                    <a:lstStyle/>
                    <a:p>
                      <a:pPr algn="r" indent="0" marL="0">
                        <a:buNone/>
                      </a:pPr>
                      <a:r>
                        <a:rPr lang="en-US" sz="900" dirty="0">
                          <a:solidFill>
                            <a:srgbClr val="2C3E50"/>
                          </a:solidFill>
                        </a:rPr>
                        <a:t>كواركات</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أعلى</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u</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+2/3</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2.2</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1/2</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قوية، كهرومغناطيسية، ضعيفة</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r>
              <a:tr h="0">
                <a:tc>
                  <a:txBody>
                    <a:bodyPr/>
                    <a:lstStyle/>
                    <a:p>
                      <a:pPr algn="r" indent="0" marL="0">
                        <a:buNone/>
                      </a:pPr>
                      <a:r>
                        <a:rPr lang="en-US" sz="900" dirty="0">
                          <a:solidFill>
                            <a:srgbClr val="2C3E50"/>
                          </a:solidFill>
                        </a:rPr>
                        <a:t>كواركات</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أسفل</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d</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−1/3</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4.7</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1/2</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قوية، كهرومغناطيسية، ضعيفة</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r h="0">
                <a:tc>
                  <a:txBody>
                    <a:bodyPr/>
                    <a:lstStyle/>
                    <a:p>
                      <a:pPr algn="r" indent="0" marL="0">
                        <a:buNone/>
                      </a:pPr>
                      <a:r>
                        <a:rPr lang="en-US" sz="900" dirty="0">
                          <a:solidFill>
                            <a:srgbClr val="2C3E50"/>
                          </a:solidFill>
                        </a:rPr>
                        <a:t>كواركات</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قمة</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t</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+2/3</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172,900</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1/2</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قوية، كهرومغناطيسية، ضعيفة</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r>
              <a:tr h="0">
                <a:tc>
                  <a:txBody>
                    <a:bodyPr/>
                    <a:lstStyle/>
                    <a:p>
                      <a:pPr algn="r" indent="0" marL="0">
                        <a:buNone/>
                      </a:pPr>
                      <a:r>
                        <a:rPr lang="en-US" sz="900" dirty="0">
                          <a:solidFill>
                            <a:srgbClr val="2C3E50"/>
                          </a:solidFill>
                        </a:rPr>
                        <a:t>بوزون مقياسي</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فوتون</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γ</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0</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0</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1</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حامل القوة الكهرومغناطيسية</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r h="0">
                <a:tc>
                  <a:txBody>
                    <a:bodyPr/>
                    <a:lstStyle/>
                    <a:p>
                      <a:pPr algn="r" indent="0" marL="0">
                        <a:buNone/>
                      </a:pPr>
                      <a:r>
                        <a:rPr lang="en-US" sz="900" dirty="0">
                          <a:solidFill>
                            <a:srgbClr val="2C3E50"/>
                          </a:solidFill>
                        </a:rPr>
                        <a:t>بوزون مقياسي</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بوزون W</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W±</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±1</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80,379</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1</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حامل القوة الضعيفة</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r>
              <a:tr h="0">
                <a:tc>
                  <a:txBody>
                    <a:bodyPr/>
                    <a:lstStyle/>
                    <a:p>
                      <a:pPr algn="r" indent="0" marL="0">
                        <a:buNone/>
                      </a:pPr>
                      <a:r>
                        <a:rPr lang="en-US" sz="900" dirty="0">
                          <a:solidFill>
                            <a:srgbClr val="2C3E50"/>
                          </a:solidFill>
                        </a:rPr>
                        <a:t>بوزون قياسي</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هيغز</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H⁰</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0</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125,100</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0</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توليد الكتلة</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A3A4A"/>
        </a:solidFill>
      </p:bgPr>
    </p:bg>
    <p:spTree>
      <p:nvGrpSpPr>
        <p:cNvPr id="1" name=""/>
        <p:cNvGrpSpPr/>
        <p:nvPr/>
      </p:nvGrpSpPr>
      <p:grpSpPr>
        <a:xfrm>
          <a:off x="0" y="0"/>
          <a:ext cx="0" cy="0"/>
          <a:chOff x="0" y="0"/>
          <a:chExt cx="0" cy="0"/>
        </a:xfrm>
      </p:grpSpPr>
      <p:sp>
        <p:nvSpPr>
          <p:cNvPr id="2" name="Shape 0"/>
          <p:cNvSpPr/>
          <p:nvPr/>
        </p:nvSpPr>
        <p:spPr>
          <a:xfrm>
            <a:off x="9034272" y="0"/>
            <a:ext cx="109728" cy="5143500"/>
          </a:xfrm>
          <a:prstGeom prst="rect">
            <a:avLst/>
          </a:prstGeom>
          <a:solidFill>
            <a:srgbClr val="C9A84C"/>
          </a:solidFill>
          <a:ln/>
        </p:spPr>
      </p:sp>
      <p:sp>
        <p:nvSpPr>
          <p:cNvPr id="3" name="Text 1"/>
          <p:cNvSpPr/>
          <p:nvPr/>
        </p:nvSpPr>
        <p:spPr>
          <a:xfrm>
            <a:off x="365760" y="914400"/>
            <a:ext cx="8412480" cy="548640"/>
          </a:xfrm>
          <a:prstGeom prst="rect">
            <a:avLst/>
          </a:prstGeom>
          <a:noFill/>
          <a:ln/>
        </p:spPr>
        <p:txBody>
          <a:bodyPr wrap="square" rtlCol="0" anchor="ctr"/>
          <a:lstStyle/>
          <a:p>
            <a:pPr rtl="1" algn="r" indent="0" marL="0">
              <a:buNone/>
            </a:pPr>
            <a:r>
              <a:rPr lang="en-US" sz="1600" b="1" spc="300" kern="0" dirty="0">
                <a:solidFill>
                  <a:srgbClr val="C9A84C"/>
                </a:solidFill>
                <a:latin typeface="Arial" pitchFamily="34" charset="0"/>
                <a:ea typeface="Arial" pitchFamily="34" charset="-122"/>
                <a:cs typeface="Arial" pitchFamily="34" charset="-120"/>
              </a:rPr>
              <a:t>القسم العاشر</a:t>
            </a:r>
            <a:endParaRPr lang="en-US" sz="1600" dirty="0"/>
          </a:p>
        </p:txBody>
      </p:sp>
      <p:sp>
        <p:nvSpPr>
          <p:cNvPr id="4" name="Text 2"/>
          <p:cNvSpPr/>
          <p:nvPr/>
        </p:nvSpPr>
        <p:spPr>
          <a:xfrm>
            <a:off x="365760" y="1463040"/>
            <a:ext cx="8412480" cy="1371600"/>
          </a:xfrm>
          <a:prstGeom prst="rect">
            <a:avLst/>
          </a:prstGeom>
          <a:noFill/>
          <a:ln/>
        </p:spPr>
        <p:txBody>
          <a:bodyPr wrap="square" rtlCol="0" anchor="ctr"/>
          <a:lstStyle/>
          <a:p>
            <a:pPr rtl="1" algn="r" indent="0" marL="0">
              <a:buNone/>
            </a:pPr>
            <a:r>
              <a:rPr lang="en-US" sz="3200" b="1" dirty="0">
                <a:solidFill>
                  <a:srgbClr val="FFFFFF"/>
                </a:solidFill>
                <a:latin typeface="Arial" pitchFamily="34" charset="0"/>
                <a:ea typeface="Arial" pitchFamily="34" charset="-122"/>
                <a:cs typeface="Arial" pitchFamily="34" charset="-120"/>
              </a:rPr>
              <a:t>علم الحاسوب والخوارزميات</a:t>
            </a:r>
            <a:endParaRPr lang="en-US" sz="3200" dirty="0"/>
          </a:p>
        </p:txBody>
      </p:sp>
      <p:sp>
        <p:nvSpPr>
          <p:cNvPr id="5" name="Text 3"/>
          <p:cNvSpPr/>
          <p:nvPr/>
        </p:nvSpPr>
        <p:spPr>
          <a:xfrm>
            <a:off x="365760" y="2834640"/>
            <a:ext cx="8412480" cy="822960"/>
          </a:xfrm>
          <a:prstGeom prst="rect">
            <a:avLst/>
          </a:prstGeom>
          <a:noFill/>
          <a:ln/>
        </p:spPr>
        <p:txBody>
          <a:bodyPr wrap="square" rtlCol="0" anchor="ctr"/>
          <a:lstStyle/>
          <a:p>
            <a:pPr rtl="1" algn="r" indent="0" marL="0">
              <a:buNone/>
            </a:pPr>
            <a:r>
              <a:rPr lang="en-US" sz="1500" dirty="0">
                <a:solidFill>
                  <a:srgbClr val="F5E6B8"/>
                </a:solidFill>
                <a:latin typeface="Arial" pitchFamily="34" charset="0"/>
                <a:ea typeface="Arial" pitchFamily="34" charset="-122"/>
                <a:cs typeface="Arial" pitchFamily="34" charset="-120"/>
              </a:rPr>
              <a:t>التعقيد وهياكل البيانات والتشفير</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9F7"/>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4A"/>
          </a:solidFill>
          <a:ln/>
        </p:spPr>
      </p:sp>
      <p:sp>
        <p:nvSpPr>
          <p:cNvPr id="3" name="Text 1"/>
          <p:cNvSpPr/>
          <p:nvPr/>
        </p:nvSpPr>
        <p:spPr>
          <a:xfrm>
            <a:off x="274320" y="45720"/>
            <a:ext cx="8595360" cy="594360"/>
          </a:xfrm>
          <a:prstGeom prst="rect">
            <a:avLst/>
          </a:prstGeom>
          <a:noFill/>
          <a:ln/>
        </p:spPr>
        <p:txBody>
          <a:bodyPr wrap="square" rtlCol="0" anchor="ctr"/>
          <a:lstStyle/>
          <a:p>
            <a:pPr rtl="1" algn="r" indent="0" marL="0">
              <a:buNone/>
            </a:pPr>
            <a:r>
              <a:rPr lang="en-US" sz="1800" b="1" dirty="0">
                <a:solidFill>
                  <a:srgbClr val="FFFFFF"/>
                </a:solidFill>
                <a:latin typeface="Arial" pitchFamily="34" charset="0"/>
                <a:ea typeface="Arial" pitchFamily="34" charset="-122"/>
                <a:cs typeface="Arial" pitchFamily="34" charset="-120"/>
              </a:rPr>
              <a:t>فئات التعقيد الحسابي والمسائل البارزة</a:t>
            </a:r>
            <a:endParaRPr lang="en-US" sz="18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182880" y="777240"/>
          <a:ext cx="8778240" cy="914400"/>
        </p:xfrm>
        <a:graphic>
          <a:graphicData uri="http://schemas.openxmlformats.org/drawingml/2006/table">
            <a:tbl>
              <a:tblPr/>
              <a:tblGrid>
                <a:gridCol w="1188720"/>
                <a:gridCol w="1920240"/>
                <a:gridCol w="1828800"/>
                <a:gridCol w="2011680"/>
                <a:gridCol w="1828800"/>
              </a:tblGrid>
              <a:tr h="0">
                <a:tc>
                  <a:txBody>
                    <a:bodyPr/>
                    <a:lstStyle/>
                    <a:p>
                      <a:pPr algn="r" indent="0" marL="0">
                        <a:buNone/>
                      </a:pPr>
                      <a:r>
                        <a:rPr lang="en-US" sz="1050" b="1" dirty="0">
                          <a:solidFill>
                            <a:srgbClr val="FFFFFF"/>
                          </a:solidFill>
                        </a:rPr>
                        <a:t>الفئة</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1A3A4A"/>
                    </a:solidFill>
                  </a:tcPr>
                </a:tc>
                <a:tc>
                  <a:txBody>
                    <a:bodyPr/>
                    <a:lstStyle/>
                    <a:p>
                      <a:pPr algn="r" indent="0" marL="0">
                        <a:buNone/>
                      </a:pPr>
                      <a:r>
                        <a:rPr lang="en-US" sz="1050" b="1" dirty="0">
                          <a:solidFill>
                            <a:srgbClr val="FFFFFF"/>
                          </a:solidFill>
                        </a:rPr>
                        <a:t>التعريف</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1A3A4A"/>
                    </a:solidFill>
                  </a:tcPr>
                </a:tc>
                <a:tc>
                  <a:txBody>
                    <a:bodyPr/>
                    <a:lstStyle/>
                    <a:p>
                      <a:pPr algn="r" indent="0" marL="0">
                        <a:buNone/>
                      </a:pPr>
                      <a:r>
                        <a:rPr lang="en-US" sz="1050" b="1" dirty="0">
                          <a:solidFill>
                            <a:srgbClr val="FFFFFF"/>
                          </a:solidFill>
                        </a:rPr>
                        <a:t>مسألة مميزة</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1A3A4A"/>
                    </a:solidFill>
                  </a:tcPr>
                </a:tc>
                <a:tc>
                  <a:txBody>
                    <a:bodyPr/>
                    <a:lstStyle/>
                    <a:p>
                      <a:pPr algn="r" indent="0" marL="0">
                        <a:buNone/>
                      </a:pPr>
                      <a:r>
                        <a:rPr lang="en-US" sz="1050" b="1" dirty="0">
                          <a:solidFill>
                            <a:srgbClr val="FFFFFF"/>
                          </a:solidFill>
                        </a:rPr>
                        <a:t>أفضل خوارزمية معروفة</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1A3A4A"/>
                    </a:solidFill>
                  </a:tcPr>
                </a:tc>
                <a:tc>
                  <a:txBody>
                    <a:bodyPr/>
                    <a:lstStyle/>
                    <a:p>
                      <a:pPr algn="r" indent="0" marL="0">
                        <a:buNone/>
                      </a:pPr>
                      <a:r>
                        <a:rPr lang="en-US" sz="1050" b="1" dirty="0">
                          <a:solidFill>
                            <a:srgbClr val="FFFFFF"/>
                          </a:solidFill>
                        </a:rPr>
                        <a:t>الحالة vs P</a:t>
                      </a:r>
                      <a:endParaRPr lang="en-US" sz="10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1A3A4A"/>
                    </a:solidFill>
                  </a:tcPr>
                </a:tc>
              </a:tr>
              <a:tr h="0">
                <a:tc>
                  <a:txBody>
                    <a:bodyPr/>
                    <a:lstStyle/>
                    <a:p>
                      <a:pPr algn="r" indent="0" marL="0">
                        <a:buNone/>
                      </a:pPr>
                      <a:r>
                        <a:rPr lang="en-US" sz="950" dirty="0">
                          <a:solidFill>
                            <a:srgbClr val="2C3E50"/>
                          </a:solidFill>
                        </a:rPr>
                        <a:t>P</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زمن حتمي متعدد الحدود</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الفرز (Mergesort)</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O(n log n)</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P ⊆ P</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r h="0">
                <a:tc>
                  <a:txBody>
                    <a:bodyPr/>
                    <a:lstStyle/>
                    <a:p>
                      <a:pPr algn="r" indent="0" marL="0">
                        <a:buNone/>
                      </a:pPr>
                      <a:r>
                        <a:rPr lang="en-US" sz="950" dirty="0">
                          <a:solidFill>
                            <a:srgbClr val="2C3E50"/>
                          </a:solidFill>
                        </a:rPr>
                        <a:t>NP</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قابل للتحقق متعدد الحدود</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SAT، Clique</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أسية (معروفة)</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P ⊆ NP؛ P=NP؟ مفتوحة</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r>
              <a:tr h="0">
                <a:tc>
                  <a:txBody>
                    <a:bodyPr/>
                    <a:lstStyle/>
                    <a:p>
                      <a:pPr algn="r" indent="0" marL="0">
                        <a:buNone/>
                      </a:pPr>
                      <a:r>
                        <a:rPr lang="en-US" sz="950" dirty="0">
                          <a:solidFill>
                            <a:srgbClr val="2C3E50"/>
                          </a:solidFill>
                        </a:rPr>
                        <a:t>NP-Hard</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صعب على الأقل مثل NP-Complete</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مسار التجار (تحسين)</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تقريبي + أسي دقيق</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يحتوي كل NP</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r h="0">
                <a:tc>
                  <a:txBody>
                    <a:bodyPr/>
                    <a:lstStyle/>
                    <a:p>
                      <a:pPr algn="r" indent="0" marL="0">
                        <a:buNone/>
                      </a:pPr>
                      <a:r>
                        <a:rPr lang="en-US" sz="950" dirty="0">
                          <a:solidFill>
                            <a:srgbClr val="2C3E50"/>
                          </a:solidFill>
                        </a:rPr>
                        <a:t>NP-Complete</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NP ∩ NP-Hard</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3-SAT (كوك 1971)</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لا متعدد حدود معروف</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متكافئ تحت الاختزالات</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r>
              <a:tr h="0">
                <a:tc>
                  <a:txBody>
                    <a:bodyPr/>
                    <a:lstStyle/>
                    <a:p>
                      <a:pPr algn="r" indent="0" marL="0">
                        <a:buNone/>
                      </a:pPr>
                      <a:r>
                        <a:rPr lang="en-US" sz="950" dirty="0">
                          <a:solidFill>
                            <a:srgbClr val="2C3E50"/>
                          </a:solidFill>
                        </a:rPr>
                        <a:t>PSPACE</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آلة تورينج بمساحة متعددة الحدود</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QBF</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زمن أسي عموماً</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50" dirty="0">
                          <a:solidFill>
                            <a:srgbClr val="2C3E50"/>
                          </a:solidFill>
                        </a:rPr>
                        <a:t>NP ⊆ PSPACE</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r h="0">
                <a:tc>
                  <a:txBody>
                    <a:bodyPr/>
                    <a:lstStyle/>
                    <a:p>
                      <a:pPr algn="r" indent="0" marL="0">
                        <a:buNone/>
                      </a:pPr>
                      <a:r>
                        <a:rPr lang="en-US" sz="950" dirty="0">
                          <a:solidFill>
                            <a:srgbClr val="2C3E50"/>
                          </a:solidFill>
                        </a:rPr>
                        <a:t>BQP</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كمي احتمالي محدود الخطأ</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تحليل الأعداد الصحيحة</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خوارزمية شور</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C3E50"/>
                          </a:solidFill>
                        </a:rPr>
                        <a:t>P ⊆ BQP ⊆ PSPACE</a:t>
                      </a:r>
                      <a:endParaRPr lang="en-US" sz="95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9F7"/>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3D2E"/>
          </a:solidFill>
          <a:ln/>
        </p:spPr>
      </p:sp>
      <p:sp>
        <p:nvSpPr>
          <p:cNvPr id="3" name="Text 1"/>
          <p:cNvSpPr/>
          <p:nvPr/>
        </p:nvSpPr>
        <p:spPr>
          <a:xfrm>
            <a:off x="274320" y="45720"/>
            <a:ext cx="8595360" cy="594360"/>
          </a:xfrm>
          <a:prstGeom prst="rect">
            <a:avLst/>
          </a:prstGeom>
          <a:noFill/>
          <a:ln/>
        </p:spPr>
        <p:txBody>
          <a:bodyPr wrap="square" rtlCol="0" anchor="ctr"/>
          <a:lstStyle/>
          <a:p>
            <a:pPr rtl="1" algn="r" indent="0" marL="0">
              <a:buNone/>
            </a:pPr>
            <a:r>
              <a:rPr lang="en-US" sz="1900" b="1" dirty="0">
                <a:solidFill>
                  <a:srgbClr val="FFFFFF"/>
                </a:solidFill>
                <a:latin typeface="Arial" pitchFamily="34" charset="0"/>
                <a:ea typeface="Arial" pitchFamily="34" charset="-122"/>
                <a:cs typeface="Arial" pitchFamily="34" charset="-120"/>
              </a:rPr>
              <a:t>التشفير الحديث – الخوارزميات وأطوال المفاتيح وخصائص الأمان</a:t>
            </a:r>
            <a:endParaRPr lang="en-US" sz="1900" dirty="0"/>
          </a:p>
        </p:txBody>
      </p:sp>
      <p:sp>
        <p:nvSpPr>
          <p:cNvPr id="4" name="Text 2"/>
          <p:cNvSpPr/>
          <p:nvPr/>
        </p:nvSpPr>
        <p:spPr>
          <a:xfrm>
            <a:off x="365760" y="777240"/>
            <a:ext cx="8412480" cy="4023360"/>
          </a:xfrm>
          <a:prstGeom prst="rect">
            <a:avLst/>
          </a:prstGeom>
          <a:noFill/>
          <a:ln/>
        </p:spPr>
        <p:txBody>
          <a:bodyPr wrap="square" rtlCol="0" anchor="ctr"/>
          <a:lstStyle/>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RSA (1977): الأمان مبني على صعوبة تحليل الأعداد إلى عوامل أولية. توليد المفتاح: اختر أعداداً أولية p,q؛ n=pq؛ φ(n)=(p−1)(q−1)؛ e أولي مع φ(n)؛ d=e⁻¹ mod φ(n). التشفير: C = Mᵉ mod n. الفك: M = Cᵈ mod n. الحد الأدنى الموصى به 2048 بت (3072 بت لما بعد 2030).</a:t>
            </a:r>
            <a:endParaRPr lang="en-US" sz="1300" dirty="0"/>
          </a:p>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ECDH: نقاط على المنحنى E: y²=x³+ax+b على الحقل المنتهي F_p. تبادل المفاتيح: السر المشترك = k_A · k_B · G. توفر NIST P-256 أمان ~128 بت بمفاتيح 256 بت مقارنة بـ 3072 بت في RSA.</a:t>
            </a:r>
            <a:endParaRPr lang="en-US" sz="1300" dirty="0"/>
          </a:p>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AES: شيفرة كتلية متماثلة 128/192/256 بت. 10/12/14 جولة. عمليات SubBytes وShiftRows وMixColumns وAddRoundKey. يوفر AES-256-GCM تشفيراً موثقاً (AEAD).</a:t>
            </a:r>
            <a:endParaRPr lang="en-US" sz="1300" dirty="0"/>
          </a:p>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SHA-3 (Keccak): بنية إسفنجية بمعدل r وسعة c. أطوال الإخراج 224/256/384/512 بت. مقاومة الصورة الأولية: 2^n، مقاومة التصادم: 2^(n/2). مختلف هيكلياً عن SHA-2.</a:t>
            </a:r>
            <a:endParaRPr lang="en-US" sz="1300" dirty="0"/>
          </a:p>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إثبات عدم المعرفة (ZKP): يُقنع المُثبت المُتحقق بصحة عبارة دون الكشف عن السبب. ثلاث خصائص: اكتمال، سلامة، عدم معرفة. zk-SNARKs: تُستخدم في Zcash ودرجات إيثيريوم.</a:t>
            </a:r>
            <a:endParaRPr lang="en-US" sz="1300" dirty="0"/>
          </a:p>
          <a:p>
            <a:pPr rtl="1" algn="r" marL="342900" indent="-342900">
              <a:spcAft>
                <a:spcPts val="400"/>
              </a:spcAft>
              <a:buSzPct val="100000"/>
              <a:buChar char="•"/>
            </a:pPr>
            <a:r>
              <a:rPr lang="en-US" sz="1300" dirty="0">
                <a:solidFill>
                  <a:srgbClr val="2C3E50"/>
                </a:solidFill>
                <a:latin typeface="Arial" pitchFamily="34" charset="0"/>
                <a:ea typeface="Arial" pitchFamily="34" charset="-122"/>
                <a:cs typeface="Arial" pitchFamily="34" charset="-120"/>
              </a:rPr>
              <a:t>تشفير ما بعد الكم (NIST): CRYSTALS-Kyber (تغليف مفتاح، شبكي)، CRYSTALS-Dilithium (توقيعات، شبكي)، SPHINCS+ (توقيعات، قائم على التجزئة). خوارزمية شور تكسر RSA/ECC الكلاسيكية على حاسوب كمي.</a:t>
            </a:r>
            <a:endParaRPr lang="en-US" sz="1300" dirty="0"/>
          </a:p>
          <a:p>
            <a:pPr algn="r" indent="0" marL="0">
              <a:buNone/>
            </a:pPr>
            <a:endParaRPr lang="en-US" sz="1300" dirty="0"/>
          </a:p>
        </p:txBody>
      </p:sp>
      <p:sp>
        <p:nvSpPr>
          <p:cNvPr id="5" name="Text 3"/>
          <p:cNvSpPr/>
          <p:nvPr/>
        </p:nvSpPr>
        <p:spPr>
          <a:xfrm>
            <a:off x="274320" y="4663440"/>
            <a:ext cx="8595360" cy="365760"/>
          </a:xfrm>
          <a:prstGeom prst="rect">
            <a:avLst/>
          </a:prstGeom>
          <a:noFill/>
          <a:ln/>
        </p:spPr>
        <p:txBody>
          <a:bodyPr wrap="square" rtlCol="0" anchor="ctr"/>
          <a:lstStyle/>
          <a:p>
            <a:pPr rtl="1" algn="r" indent="0" marL="0">
              <a:buNone/>
            </a:pPr>
            <a:r>
              <a:rPr lang="en-US" sz="1000" i="1" dirty="0">
                <a:solidFill>
                  <a:srgbClr val="7F8C8D"/>
                </a:solidFill>
                <a:latin typeface="Arial" pitchFamily="34" charset="0"/>
                <a:ea typeface="Arial" pitchFamily="34" charset="-122"/>
                <a:cs typeface="Arial" pitchFamily="34" charset="-120"/>
              </a:rPr>
              <a:t>المرجع: NIST SP 800-131A Rev 2؛ برنشتاين ولانج (2017) – تشفير ما بعد الكم. Nature.</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3D2E"/>
          </a:solidFill>
          <a:ln/>
        </p:spPr>
      </p:sp>
      <p:sp>
        <p:nvSpPr>
          <p:cNvPr id="3" name="Text 1"/>
          <p:cNvSpPr/>
          <p:nvPr/>
        </p:nvSpPr>
        <p:spPr>
          <a:xfrm>
            <a:off x="274320" y="45720"/>
            <a:ext cx="8595360" cy="594360"/>
          </a:xfrm>
          <a:prstGeom prst="rect">
            <a:avLst/>
          </a:prstGeom>
          <a:noFill/>
          <a:ln/>
        </p:spPr>
        <p:txBody>
          <a:bodyPr wrap="square" rtlCol="0" anchor="ctr"/>
          <a:lstStyle/>
          <a:p>
            <a:pPr rtl="1" algn="r" indent="0" marL="0">
              <a:buNone/>
            </a:pPr>
            <a:r>
              <a:rPr lang="en-US" sz="1800" b="1" dirty="0">
                <a:solidFill>
                  <a:srgbClr val="FFFFFF"/>
                </a:solidFill>
                <a:latin typeface="Arial" pitchFamily="34" charset="0"/>
                <a:ea typeface="Arial" pitchFamily="34" charset="-122"/>
                <a:cs typeface="Arial" pitchFamily="34" charset="-120"/>
              </a:rPr>
              <a:t>هياكل البيانات – مرجع التعقيد الزمني والمكاني</a:t>
            </a:r>
            <a:endParaRPr lang="en-US" sz="18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274320" y="777240"/>
          <a:ext cx="8595360" cy="914400"/>
        </p:xfrm>
        <a:graphic>
          <a:graphicData uri="http://schemas.openxmlformats.org/drawingml/2006/table">
            <a:tbl>
              <a:tblPr/>
              <a:tblGrid>
                <a:gridCol w="1645920"/>
                <a:gridCol w="1188720"/>
                <a:gridCol w="1371600"/>
                <a:gridCol w="1371600"/>
                <a:gridCol w="1371600"/>
                <a:gridCol w="1645920"/>
              </a:tblGrid>
              <a:tr h="0">
                <a:tc>
                  <a:txBody>
                    <a:bodyPr/>
                    <a:lstStyle/>
                    <a:p>
                      <a:pPr algn="r" indent="0" marL="0">
                        <a:buNone/>
                      </a:pPr>
                      <a:r>
                        <a:rPr lang="en-US" sz="1100" b="1" dirty="0">
                          <a:solidFill>
                            <a:srgbClr val="FFFFFF"/>
                          </a:solidFill>
                        </a:rPr>
                        <a:t>الهيكل</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c>
                  <a:txBody>
                    <a:bodyPr/>
                    <a:lstStyle/>
                    <a:p>
                      <a:pPr algn="r" indent="0" marL="0">
                        <a:buNone/>
                      </a:pPr>
                      <a:r>
                        <a:rPr lang="en-US" sz="1100" b="1" dirty="0">
                          <a:solidFill>
                            <a:srgbClr val="FFFFFF"/>
                          </a:solidFill>
                        </a:rPr>
                        <a:t>الوصول</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c>
                  <a:txBody>
                    <a:bodyPr/>
                    <a:lstStyle/>
                    <a:p>
                      <a:pPr algn="r" indent="0" marL="0">
                        <a:buNone/>
                      </a:pPr>
                      <a:r>
                        <a:rPr lang="en-US" sz="1100" b="1" dirty="0">
                          <a:solidFill>
                            <a:srgbClr val="FFFFFF"/>
                          </a:solidFill>
                        </a:rPr>
                        <a:t>البحث</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c>
                  <a:txBody>
                    <a:bodyPr/>
                    <a:lstStyle/>
                    <a:p>
                      <a:pPr algn="r" indent="0" marL="0">
                        <a:buNone/>
                      </a:pPr>
                      <a:r>
                        <a:rPr lang="en-US" sz="1100" b="1" dirty="0">
                          <a:solidFill>
                            <a:srgbClr val="FFFFFF"/>
                          </a:solidFill>
                        </a:rPr>
                        <a:t>الإدراج</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c>
                  <a:txBody>
                    <a:bodyPr/>
                    <a:lstStyle/>
                    <a:p>
                      <a:pPr algn="r" indent="0" marL="0">
                        <a:buNone/>
                      </a:pPr>
                      <a:r>
                        <a:rPr lang="en-US" sz="1100" b="1" dirty="0">
                          <a:solidFill>
                            <a:srgbClr val="FFFFFF"/>
                          </a:solidFill>
                        </a:rPr>
                        <a:t>الحذف</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c>
                  <a:txBody>
                    <a:bodyPr/>
                    <a:lstStyle/>
                    <a:p>
                      <a:pPr algn="r" indent="0" marL="0">
                        <a:buNone/>
                      </a:pPr>
                      <a:r>
                        <a:rPr lang="en-US" sz="1100" b="1" dirty="0">
                          <a:solidFill>
                            <a:srgbClr val="FFFFFF"/>
                          </a:solidFill>
                        </a:rPr>
                        <a:t>المساحة</a:t>
                      </a:r>
                      <a:endParaRPr lang="en-US" sz="11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r>
              <a:tr h="0">
                <a:tc>
                  <a:txBody>
                    <a:bodyPr/>
                    <a:lstStyle/>
                    <a:p>
                      <a:pPr algn="r" indent="0" marL="0">
                        <a:buNone/>
                      </a:pPr>
                      <a:r>
                        <a:rPr lang="en-US" sz="1000" dirty="0">
                          <a:solidFill>
                            <a:srgbClr val="2C3E50"/>
                          </a:solidFill>
                        </a:rPr>
                        <a:t>مصفوفة</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O(1)</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O(n)</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O(n)</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O(n)</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O(n)</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r h="0">
                <a:tc>
                  <a:txBody>
                    <a:bodyPr/>
                    <a:lstStyle/>
                    <a:p>
                      <a:pPr algn="r" indent="0" marL="0">
                        <a:buNone/>
                      </a:pPr>
                      <a:r>
                        <a:rPr lang="en-US" sz="1000" dirty="0">
                          <a:solidFill>
                            <a:srgbClr val="2C3E50"/>
                          </a:solidFill>
                        </a:rPr>
                        <a:t>قائمة مرتبطة</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C3E50"/>
                          </a:solidFill>
                        </a:rPr>
                        <a:t>O(n)</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C3E50"/>
                          </a:solidFill>
                        </a:rPr>
                        <a:t>O(n)</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C3E50"/>
                          </a:solidFill>
                        </a:rPr>
                        <a:t>O(1)*</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C3E50"/>
                          </a:solidFill>
                        </a:rPr>
                        <a:t>O(1)*</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C3E50"/>
                          </a:solidFill>
                        </a:rPr>
                        <a:t>O(n)</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r>
              <a:tr h="0">
                <a:tc>
                  <a:txBody>
                    <a:bodyPr/>
                    <a:lstStyle/>
                    <a:p>
                      <a:pPr algn="r" indent="0" marL="0">
                        <a:buNone/>
                      </a:pPr>
                      <a:r>
                        <a:rPr lang="en-US" sz="1000" dirty="0">
                          <a:solidFill>
                            <a:srgbClr val="2C3E50"/>
                          </a:solidFill>
                        </a:rPr>
                        <a:t>جدول تجزئة</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لا يوجد</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O(1) متوسط</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O(1) متوسط</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O(1) متوسط</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O(n)</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r h="0">
                <a:tc>
                  <a:txBody>
                    <a:bodyPr/>
                    <a:lstStyle/>
                    <a:p>
                      <a:pPr algn="r" indent="0" marL="0">
                        <a:buNone/>
                      </a:pPr>
                      <a:r>
                        <a:rPr lang="en-US" sz="1000" dirty="0">
                          <a:solidFill>
                            <a:srgbClr val="2C3E50"/>
                          </a:solidFill>
                        </a:rPr>
                        <a:t>BST (متوازن)</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C3E50"/>
                          </a:solidFill>
                        </a:rPr>
                        <a:t>O(log n)</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C3E50"/>
                          </a:solidFill>
                        </a:rPr>
                        <a:t>O(log n)</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C3E50"/>
                          </a:solidFill>
                        </a:rPr>
                        <a:t>O(log n)</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C3E50"/>
                          </a:solidFill>
                        </a:rPr>
                        <a:t>O(log n)</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C3E50"/>
                          </a:solidFill>
                        </a:rPr>
                        <a:t>O(n)</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r>
              <a:tr h="0">
                <a:tc>
                  <a:txBody>
                    <a:bodyPr/>
                    <a:lstStyle/>
                    <a:p>
                      <a:pPr algn="r" indent="0" marL="0">
                        <a:buNone/>
                      </a:pPr>
                      <a:r>
                        <a:rPr lang="en-US" sz="1000" dirty="0">
                          <a:solidFill>
                            <a:srgbClr val="2C3E50"/>
                          </a:solidFill>
                        </a:rPr>
                        <a:t>شجرة AVL</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O(log n)</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O(log n)</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O(log n)</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O(log n)</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O(n)</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r h="0">
                <a:tc>
                  <a:txBody>
                    <a:bodyPr/>
                    <a:lstStyle/>
                    <a:p>
                      <a:pPr algn="r" indent="0" marL="0">
                        <a:buNone/>
                      </a:pPr>
                      <a:r>
                        <a:rPr lang="en-US" sz="1000" dirty="0">
                          <a:solidFill>
                            <a:srgbClr val="2C3E50"/>
                          </a:solidFill>
                        </a:rPr>
                        <a:t>كومة ثنائية</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C3E50"/>
                          </a:solidFill>
                        </a:rPr>
                        <a:t>O(1)†</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C3E50"/>
                          </a:solidFill>
                        </a:rPr>
                        <a:t>O(n)</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C3E50"/>
                          </a:solidFill>
                        </a:rPr>
                        <a:t>O(log n)</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C3E50"/>
                          </a:solidFill>
                        </a:rPr>
                        <a:t>O(log n)</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C3E50"/>
                          </a:solidFill>
                        </a:rPr>
                        <a:t>O(n)</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r>
              <a:tr h="0">
                <a:tc>
                  <a:txBody>
                    <a:bodyPr/>
                    <a:lstStyle/>
                    <a:p>
                      <a:pPr algn="r" indent="0" marL="0">
                        <a:buNone/>
                      </a:pPr>
                      <a:r>
                        <a:rPr lang="en-US" sz="1000" dirty="0">
                          <a:solidFill>
                            <a:srgbClr val="2C3E50"/>
                          </a:solidFill>
                        </a:rPr>
                        <a:t>كومة فيبوناتشي</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لا يوجد</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O(n)</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O(1) مُخففة</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O(log n) مُخففة</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O(n)</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r h="0">
                <a:tc>
                  <a:txBody>
                    <a:bodyPr/>
                    <a:lstStyle/>
                    <a:p>
                      <a:pPr algn="r" indent="0" marL="0">
                        <a:buNone/>
                      </a:pPr>
                      <a:r>
                        <a:rPr lang="en-US" sz="1000" dirty="0">
                          <a:solidFill>
                            <a:srgbClr val="2C3E50"/>
                          </a:solidFill>
                        </a:rPr>
                        <a:t>Trie</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C3E50"/>
                          </a:solidFill>
                        </a:rPr>
                        <a:t>O(k)</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C3E50"/>
                          </a:solidFill>
                        </a:rPr>
                        <a:t>O(k)</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C3E50"/>
                          </a:solidFill>
                        </a:rPr>
                        <a:t>O(k)</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C3E50"/>
                          </a:solidFill>
                        </a:rPr>
                        <a:t>O(k)</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C3E50"/>
                          </a:solidFill>
                        </a:rPr>
                        <a:t>O(n·k)</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r>
              <a:tr h="0">
                <a:tc>
                  <a:txBody>
                    <a:bodyPr/>
                    <a:lstStyle/>
                    <a:p>
                      <a:pPr algn="r" indent="0" marL="0">
                        <a:buNone/>
                      </a:pPr>
                      <a:r>
                        <a:rPr lang="en-US" sz="1000" dirty="0">
                          <a:solidFill>
                            <a:srgbClr val="2C3E50"/>
                          </a:solidFill>
                        </a:rPr>
                        <a:t>قائمة تخطي</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O(log n) متوسط</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O(log n)</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O(log n)</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O(log n)</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1000" dirty="0">
                          <a:solidFill>
                            <a:srgbClr val="2C3E50"/>
                          </a:solidFill>
                        </a:rPr>
                        <a:t>O(n log n)</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bl>
          </a:graphicData>
        </a:graphic>
      </p:graphicFrame>
      <p:sp>
        <p:nvSpPr>
          <p:cNvPr id="5" name="Text 2"/>
          <p:cNvSpPr/>
          <p:nvPr/>
        </p:nvSpPr>
        <p:spPr>
          <a:xfrm>
            <a:off x="274320" y="4663440"/>
            <a:ext cx="8595360" cy="365760"/>
          </a:xfrm>
          <a:prstGeom prst="rect">
            <a:avLst/>
          </a:prstGeom>
          <a:noFill/>
          <a:ln/>
        </p:spPr>
        <p:txBody>
          <a:bodyPr wrap="square" rtlCol="0" anchor="ctr"/>
          <a:lstStyle/>
          <a:p>
            <a:pPr rtl="1" algn="r" indent="0" marL="0">
              <a:buNone/>
            </a:pPr>
            <a:r>
              <a:rPr lang="en-US" sz="1000" i="1" dirty="0">
                <a:solidFill>
                  <a:srgbClr val="7F8C8D"/>
                </a:solidFill>
                <a:latin typeface="Arial" pitchFamily="34" charset="0"/>
                <a:ea typeface="Arial" pitchFamily="34" charset="-122"/>
                <a:cs typeface="Arial" pitchFamily="34" charset="-120"/>
              </a:rPr>
              <a:t>* يفترض وصول O(1) إلى مؤشر العقدة. † الحد الأدنى/الأقصى فقط. k = طول المفتاح. n = عدد العناصر. جميع التعقيدات أسوأ حالة ما لم تُعلَّم 'متوسط' أو 'مُخففة'.</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A3A4A"/>
        </a:solidFill>
      </p:bgPr>
    </p:bg>
    <p:spTree>
      <p:nvGrpSpPr>
        <p:cNvPr id="1" name=""/>
        <p:cNvGrpSpPr/>
        <p:nvPr/>
      </p:nvGrpSpPr>
      <p:grpSpPr>
        <a:xfrm>
          <a:off x="0" y="0"/>
          <a:ext cx="0" cy="0"/>
          <a:chOff x="0" y="0"/>
          <a:chExt cx="0" cy="0"/>
        </a:xfrm>
      </p:grpSpPr>
      <p:sp>
        <p:nvSpPr>
          <p:cNvPr id="2" name="Shape 0"/>
          <p:cNvSpPr/>
          <p:nvPr/>
        </p:nvSpPr>
        <p:spPr>
          <a:xfrm>
            <a:off x="9034272" y="0"/>
            <a:ext cx="109728" cy="5143500"/>
          </a:xfrm>
          <a:prstGeom prst="rect">
            <a:avLst/>
          </a:prstGeom>
          <a:solidFill>
            <a:srgbClr val="C9A84C"/>
          </a:solidFill>
          <a:ln/>
        </p:spPr>
      </p:sp>
      <p:sp>
        <p:nvSpPr>
          <p:cNvPr id="3" name="Text 1"/>
          <p:cNvSpPr/>
          <p:nvPr/>
        </p:nvSpPr>
        <p:spPr>
          <a:xfrm>
            <a:off x="365760" y="914400"/>
            <a:ext cx="8412480" cy="548640"/>
          </a:xfrm>
          <a:prstGeom prst="rect">
            <a:avLst/>
          </a:prstGeom>
          <a:noFill/>
          <a:ln/>
        </p:spPr>
        <p:txBody>
          <a:bodyPr wrap="square" rtlCol="0" anchor="ctr"/>
          <a:lstStyle/>
          <a:p>
            <a:pPr rtl="1" algn="r" indent="0" marL="0">
              <a:buNone/>
            </a:pPr>
            <a:r>
              <a:rPr lang="en-US" sz="1600" b="1" spc="300" kern="0" dirty="0">
                <a:solidFill>
                  <a:srgbClr val="C9A84C"/>
                </a:solidFill>
                <a:latin typeface="Arial" pitchFamily="34" charset="0"/>
                <a:ea typeface="Arial" pitchFamily="34" charset="-122"/>
                <a:cs typeface="Arial" pitchFamily="34" charset="-120"/>
              </a:rPr>
              <a:t>القسم الحادي عشر</a:t>
            </a:r>
            <a:endParaRPr lang="en-US" sz="1600" dirty="0"/>
          </a:p>
        </p:txBody>
      </p:sp>
      <p:sp>
        <p:nvSpPr>
          <p:cNvPr id="4" name="Text 2"/>
          <p:cNvSpPr/>
          <p:nvPr/>
        </p:nvSpPr>
        <p:spPr>
          <a:xfrm>
            <a:off x="365760" y="1463040"/>
            <a:ext cx="8412480" cy="1371600"/>
          </a:xfrm>
          <a:prstGeom prst="rect">
            <a:avLst/>
          </a:prstGeom>
          <a:noFill/>
          <a:ln/>
        </p:spPr>
        <p:txBody>
          <a:bodyPr wrap="square" rtlCol="0" anchor="ctr"/>
          <a:lstStyle/>
          <a:p>
            <a:pPr rtl="1" algn="r" indent="0" marL="0">
              <a:buNone/>
            </a:pPr>
            <a:r>
              <a:rPr lang="en-US" sz="3200" b="1" dirty="0">
                <a:solidFill>
                  <a:srgbClr val="FFFFFF"/>
                </a:solidFill>
                <a:latin typeface="Arial" pitchFamily="34" charset="0"/>
                <a:ea typeface="Arial" pitchFamily="34" charset="-122"/>
                <a:cs typeface="Arial" pitchFamily="34" charset="-120"/>
              </a:rPr>
              <a:t>الكيمياء الحيوية والبيولوجيا الجزيئية</a:t>
            </a:r>
            <a:endParaRPr lang="en-US" sz="3200" dirty="0"/>
          </a:p>
        </p:txBody>
      </p:sp>
      <p:sp>
        <p:nvSpPr>
          <p:cNvPr id="5" name="Text 3"/>
          <p:cNvSpPr/>
          <p:nvPr/>
        </p:nvSpPr>
        <p:spPr>
          <a:xfrm>
            <a:off x="365760" y="2834640"/>
            <a:ext cx="8412480" cy="822960"/>
          </a:xfrm>
          <a:prstGeom prst="rect">
            <a:avLst/>
          </a:prstGeom>
          <a:noFill/>
          <a:ln/>
        </p:spPr>
        <p:txBody>
          <a:bodyPr wrap="square" rtlCol="0" anchor="ctr"/>
          <a:lstStyle/>
          <a:p>
            <a:pPr rtl="1" algn="r" indent="0" marL="0">
              <a:buNone/>
            </a:pPr>
            <a:r>
              <a:rPr lang="en-US" sz="1500" dirty="0">
                <a:solidFill>
                  <a:srgbClr val="F5E6B8"/>
                </a:solidFill>
                <a:latin typeface="Arial" pitchFamily="34" charset="0"/>
                <a:ea typeface="Arial" pitchFamily="34" charset="-122"/>
                <a:cs typeface="Arial" pitchFamily="34" charset="-120"/>
              </a:rPr>
              <a:t>الإنزيمات والحمض النووي والمسارات الأيضية</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4A"/>
          </a:solidFill>
          <a:ln/>
        </p:spPr>
      </p:sp>
      <p:sp>
        <p:nvSpPr>
          <p:cNvPr id="3" name="Text 1"/>
          <p:cNvSpPr/>
          <p:nvPr/>
        </p:nvSpPr>
        <p:spPr>
          <a:xfrm>
            <a:off x="274320" y="45720"/>
            <a:ext cx="8595360" cy="594360"/>
          </a:xfrm>
          <a:prstGeom prst="rect">
            <a:avLst/>
          </a:prstGeom>
          <a:noFill/>
          <a:ln/>
        </p:spPr>
        <p:txBody>
          <a:bodyPr wrap="square" rtlCol="0" anchor="ctr"/>
          <a:lstStyle/>
          <a:p>
            <a:pPr rtl="1" algn="r" indent="0" marL="0">
              <a:buNone/>
            </a:pPr>
            <a:r>
              <a:rPr lang="en-US" sz="1900" b="1" dirty="0">
                <a:solidFill>
                  <a:srgbClr val="FFFFFF"/>
                </a:solidFill>
                <a:latin typeface="Arial" pitchFamily="34" charset="0"/>
                <a:ea typeface="Arial" pitchFamily="34" charset="-122"/>
                <a:cs typeface="Arial" pitchFamily="34" charset="-120"/>
              </a:rPr>
              <a:t>حركية الإنزيمات – ميكايليس-منتن وخط لاينويفر-بورك والتثبيط</a:t>
            </a:r>
            <a:endParaRPr lang="en-US" sz="1900" dirty="0"/>
          </a:p>
        </p:txBody>
      </p:sp>
      <p:sp>
        <p:nvSpPr>
          <p:cNvPr id="4" name="Shape 2"/>
          <p:cNvSpPr/>
          <p:nvPr/>
        </p:nvSpPr>
        <p:spPr>
          <a:xfrm>
            <a:off x="457200" y="822960"/>
            <a:ext cx="8229600" cy="502920"/>
          </a:xfrm>
          <a:prstGeom prst="rect">
            <a:avLst/>
          </a:prstGeom>
          <a:solidFill>
            <a:srgbClr val="F0F3F4"/>
          </a:solidFill>
          <a:ln w="19050">
            <a:solidFill>
              <a:srgbClr val="C9A84C"/>
            </a:solidFill>
            <a:prstDash val="solid"/>
          </a:ln>
        </p:spPr>
      </p:sp>
      <p:sp>
        <p:nvSpPr>
          <p:cNvPr id="5" name="Text 3"/>
          <p:cNvSpPr/>
          <p:nvPr/>
        </p:nvSpPr>
        <p:spPr>
          <a:xfrm>
            <a:off x="548640" y="85039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ميكايليس-منتن: v = V_max[S] / (K_M + [S])  ؛  عند [S]=K_M: v = V_max/2</a:t>
            </a:r>
            <a:endParaRPr lang="en-US" sz="1300" dirty="0"/>
          </a:p>
        </p:txBody>
      </p:sp>
      <p:sp>
        <p:nvSpPr>
          <p:cNvPr id="6" name="Shape 4"/>
          <p:cNvSpPr/>
          <p:nvPr/>
        </p:nvSpPr>
        <p:spPr>
          <a:xfrm>
            <a:off x="457200" y="1417320"/>
            <a:ext cx="8229600" cy="502920"/>
          </a:xfrm>
          <a:prstGeom prst="rect">
            <a:avLst/>
          </a:prstGeom>
          <a:solidFill>
            <a:srgbClr val="F0F3F4"/>
          </a:solidFill>
          <a:ln w="19050">
            <a:solidFill>
              <a:srgbClr val="C9A84C"/>
            </a:solidFill>
            <a:prstDash val="solid"/>
          </a:ln>
        </p:spPr>
      </p:sp>
      <p:sp>
        <p:nvSpPr>
          <p:cNvPr id="7" name="Text 5"/>
          <p:cNvSpPr/>
          <p:nvPr/>
        </p:nvSpPr>
        <p:spPr>
          <a:xfrm>
            <a:off x="548640" y="144475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خط لاينويفر-بورك: 1/v = (K_M/V_max)(1/[S]) + 1/V_max</a:t>
            </a:r>
            <a:endParaRPr lang="en-US" sz="1300" dirty="0"/>
          </a:p>
        </p:txBody>
      </p:sp>
      <p:sp>
        <p:nvSpPr>
          <p:cNvPr id="8" name="Shape 6"/>
          <p:cNvSpPr/>
          <p:nvPr/>
        </p:nvSpPr>
        <p:spPr>
          <a:xfrm>
            <a:off x="457200" y="2011680"/>
            <a:ext cx="8229600" cy="502920"/>
          </a:xfrm>
          <a:prstGeom prst="rect">
            <a:avLst/>
          </a:prstGeom>
          <a:solidFill>
            <a:srgbClr val="F0F3F4"/>
          </a:solidFill>
          <a:ln w="19050">
            <a:solidFill>
              <a:srgbClr val="C9A84C"/>
            </a:solidFill>
            <a:prstDash val="solid"/>
          </a:ln>
        </p:spPr>
      </p:sp>
      <p:sp>
        <p:nvSpPr>
          <p:cNvPr id="9" name="Text 7"/>
          <p:cNvSpPr/>
          <p:nvPr/>
        </p:nvSpPr>
        <p:spPr>
          <a:xfrm>
            <a:off x="548640" y="203911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الكفاءة التحفيزية: k_cat/K_M  [م⁻¹ث⁻¹]  (حد الانتشار ~10⁸–10⁹)</a:t>
            </a:r>
            <a:endParaRPr lang="en-US" sz="1300" dirty="0"/>
          </a:p>
        </p:txBody>
      </p:sp>
      <p:sp>
        <p:nvSpPr>
          <p:cNvPr id="10" name="Shape 8"/>
          <p:cNvSpPr/>
          <p:nvPr/>
        </p:nvSpPr>
        <p:spPr>
          <a:xfrm>
            <a:off x="457200" y="2606040"/>
            <a:ext cx="8229600" cy="502920"/>
          </a:xfrm>
          <a:prstGeom prst="rect">
            <a:avLst/>
          </a:prstGeom>
          <a:solidFill>
            <a:srgbClr val="F0F3F4"/>
          </a:solidFill>
          <a:ln w="19050">
            <a:solidFill>
              <a:srgbClr val="C9A84C"/>
            </a:solidFill>
            <a:prstDash val="solid"/>
          </a:ln>
        </p:spPr>
      </p:sp>
      <p:sp>
        <p:nvSpPr>
          <p:cNvPr id="11" name="Text 9"/>
          <p:cNvSpPr/>
          <p:nvPr/>
        </p:nvSpPr>
        <p:spPr>
          <a:xfrm>
            <a:off x="548640" y="263347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التثبيط التنافسي: K_M_app = K_M(1 + [I]/K_i)  ؛  V_max دون تغيير</a:t>
            </a:r>
            <a:endParaRPr lang="en-US" sz="1300" dirty="0"/>
          </a:p>
        </p:txBody>
      </p:sp>
      <p:sp>
        <p:nvSpPr>
          <p:cNvPr id="12" name="Shape 10"/>
          <p:cNvSpPr/>
          <p:nvPr/>
        </p:nvSpPr>
        <p:spPr>
          <a:xfrm>
            <a:off x="457200" y="3200400"/>
            <a:ext cx="8229600" cy="502920"/>
          </a:xfrm>
          <a:prstGeom prst="rect">
            <a:avLst/>
          </a:prstGeom>
          <a:solidFill>
            <a:srgbClr val="F0F3F4"/>
          </a:solidFill>
          <a:ln w="19050">
            <a:solidFill>
              <a:srgbClr val="C9A84C"/>
            </a:solidFill>
            <a:prstDash val="solid"/>
          </a:ln>
        </p:spPr>
      </p:sp>
      <p:sp>
        <p:nvSpPr>
          <p:cNvPr id="13" name="Text 11"/>
          <p:cNvSpPr/>
          <p:nvPr/>
        </p:nvSpPr>
        <p:spPr>
          <a:xfrm>
            <a:off x="548640" y="322783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التثبيط غير التنافسي: V_max_app = V_max/(1+[I]/K_i)  ؛  K_M_app = K_M/(1+[I]/K_i)</a:t>
            </a:r>
            <a:endParaRPr lang="en-US" sz="1300" dirty="0"/>
          </a:p>
        </p:txBody>
      </p:sp>
      <p:sp>
        <p:nvSpPr>
          <p:cNvPr id="14" name="Shape 12"/>
          <p:cNvSpPr/>
          <p:nvPr/>
        </p:nvSpPr>
        <p:spPr>
          <a:xfrm>
            <a:off x="457200" y="3794760"/>
            <a:ext cx="8229600" cy="502920"/>
          </a:xfrm>
          <a:prstGeom prst="rect">
            <a:avLst/>
          </a:prstGeom>
          <a:solidFill>
            <a:srgbClr val="F0F3F4"/>
          </a:solidFill>
          <a:ln w="19050">
            <a:solidFill>
              <a:srgbClr val="C9A84C"/>
            </a:solidFill>
            <a:prstDash val="solid"/>
          </a:ln>
        </p:spPr>
      </p:sp>
      <p:sp>
        <p:nvSpPr>
          <p:cNvPr id="15" name="Text 13"/>
          <p:cNvSpPr/>
          <p:nvPr/>
        </p:nvSpPr>
        <p:spPr>
          <a:xfrm>
            <a:off x="548640" y="382219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التثبيط اللاتنافسي: V_max_app = V_max/(1+[I]/K_i)  ؛  K_M دون تغيير</a:t>
            </a:r>
            <a:endParaRPr lang="en-US" sz="1300" dirty="0"/>
          </a:p>
        </p:txBody>
      </p:sp>
      <p:sp>
        <p:nvSpPr>
          <p:cNvPr id="16" name="Shape 14"/>
          <p:cNvSpPr/>
          <p:nvPr/>
        </p:nvSpPr>
        <p:spPr>
          <a:xfrm>
            <a:off x="457200" y="4389120"/>
            <a:ext cx="8229600" cy="502920"/>
          </a:xfrm>
          <a:prstGeom prst="rect">
            <a:avLst/>
          </a:prstGeom>
          <a:solidFill>
            <a:srgbClr val="F0F3F4"/>
          </a:solidFill>
          <a:ln w="19050">
            <a:solidFill>
              <a:srgbClr val="C9A84C"/>
            </a:solidFill>
            <a:prstDash val="solid"/>
          </a:ln>
        </p:spPr>
      </p:sp>
      <p:sp>
        <p:nvSpPr>
          <p:cNvPr id="17" name="Text 15"/>
          <p:cNvSpPr/>
          <p:nvPr/>
        </p:nvSpPr>
        <p:spPr>
          <a:xfrm>
            <a:off x="548640" y="4416552"/>
            <a:ext cx="8046720" cy="457200"/>
          </a:xfrm>
          <a:prstGeom prst="rect">
            <a:avLst/>
          </a:prstGeom>
          <a:noFill/>
          <a:ln/>
        </p:spPr>
        <p:txBody>
          <a:bodyPr wrap="square" rtlCol="0" anchor="ctr"/>
          <a:lstStyle/>
          <a:p>
            <a:pPr algn="l" indent="0" marL="0">
              <a:buNone/>
            </a:pPr>
            <a:r>
              <a:rPr lang="en-US" sz="1300" b="1" dirty="0">
                <a:solidFill>
                  <a:srgbClr val="1A3A4A"/>
                </a:solidFill>
                <a:latin typeface="Consolas" pitchFamily="34" charset="0"/>
                <a:ea typeface="Consolas" pitchFamily="34" charset="-122"/>
                <a:cs typeface="Consolas" pitchFamily="34" charset="-120"/>
              </a:rPr>
              <a:t>معادلة هيل: v = V_max[S]^n / (K₀.₅ⁿ + [S]^n)  ؛  n&gt;1: تعاون إيجابي</a:t>
            </a:r>
            <a:endParaRPr lang="en-US" sz="1300" dirty="0"/>
          </a:p>
        </p:txBody>
      </p:sp>
      <p:sp>
        <p:nvSpPr>
          <p:cNvPr id="18" name="Text 16"/>
          <p:cNvSpPr/>
          <p:nvPr/>
        </p:nvSpPr>
        <p:spPr>
          <a:xfrm>
            <a:off x="457200" y="4983480"/>
            <a:ext cx="8229600" cy="-114300"/>
          </a:xfrm>
          <a:prstGeom prst="rect">
            <a:avLst/>
          </a:prstGeom>
          <a:noFill/>
          <a:ln/>
        </p:spPr>
        <p:txBody>
          <a:bodyPr wrap="square" rtlCol="0" anchor="ctr"/>
          <a:lstStyle/>
          <a:p>
            <a:pPr rtl="1" algn="r" indent="0" marL="0">
              <a:buNone/>
            </a:pPr>
            <a:r>
              <a:rPr lang="en-US" sz="1200" dirty="0">
                <a:solidFill>
                  <a:srgbClr val="2C3E50"/>
                </a:solidFill>
                <a:latin typeface="Arial" pitchFamily="34" charset="0"/>
                <a:ea typeface="Arial" pitchFamily="34" charset="-122"/>
                <a:cs typeface="Arial" pitchFamily="34" charset="-120"/>
              </a:rPr>
              <a:t>K_M هو تركيز الركيزة عند نصف السرعة القصوى – مقياس لألفة الإنزيم-الركيزة. k_cat (رقم الدوران) هو الحد الأقصى لمعدل تحويل الركيزة لكل موقع نشط. تُظهر الإنزيمات الآلوستيرية ذات معامل هيل n&gt;1 حركيات سينية وهي نقاط تنظيمية رئيسية في المسارات الأيضية.</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9F7"/>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3D2E"/>
          </a:solidFill>
          <a:ln/>
        </p:spPr>
      </p:sp>
      <p:sp>
        <p:nvSpPr>
          <p:cNvPr id="3" name="Text 1"/>
          <p:cNvSpPr/>
          <p:nvPr/>
        </p:nvSpPr>
        <p:spPr>
          <a:xfrm>
            <a:off x="274320" y="45720"/>
            <a:ext cx="8595360" cy="594360"/>
          </a:xfrm>
          <a:prstGeom prst="rect">
            <a:avLst/>
          </a:prstGeom>
          <a:noFill/>
          <a:ln/>
        </p:spPr>
        <p:txBody>
          <a:bodyPr wrap="square" rtlCol="0" anchor="ctr"/>
          <a:lstStyle/>
          <a:p>
            <a:pPr rtl="1" algn="r" indent="0" marL="0">
              <a:buNone/>
            </a:pPr>
            <a:r>
              <a:rPr lang="en-US" sz="1600" b="1" dirty="0">
                <a:solidFill>
                  <a:srgbClr val="FFFFFF"/>
                </a:solidFill>
                <a:latin typeface="Arial" pitchFamily="34" charset="0"/>
                <a:ea typeface="Arial" pitchFamily="34" charset="-122"/>
                <a:cs typeface="Arial" pitchFamily="34" charset="-120"/>
              </a:rPr>
              <a:t>المسارات الأيضية الرئيسية – الموقع وإنتاج ATP والإنزيمات الرئيسية</a:t>
            </a:r>
            <a:endParaRPr lang="en-US" sz="16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182880" y="777240"/>
          <a:ext cx="8778240" cy="914400"/>
        </p:xfrm>
        <a:graphic>
          <a:graphicData uri="http://schemas.openxmlformats.org/drawingml/2006/table">
            <a:tbl>
              <a:tblPr/>
              <a:tblGrid>
                <a:gridCol w="1828800"/>
                <a:gridCol w="1645920"/>
                <a:gridCol w="1554480"/>
                <a:gridCol w="2103120"/>
                <a:gridCol w="1645920"/>
              </a:tblGrid>
              <a:tr h="0">
                <a:tc>
                  <a:txBody>
                    <a:bodyPr/>
                    <a:lstStyle/>
                    <a:p>
                      <a:pPr algn="r" indent="0" marL="0">
                        <a:buNone/>
                      </a:pPr>
                      <a:r>
                        <a:rPr lang="en-US" sz="1000" b="1" dirty="0">
                          <a:solidFill>
                            <a:srgbClr val="FFFFFF"/>
                          </a:solidFill>
                        </a:rPr>
                        <a:t>المسار</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c>
                  <a:txBody>
                    <a:bodyPr/>
                    <a:lstStyle/>
                    <a:p>
                      <a:pPr algn="r" indent="0" marL="0">
                        <a:buNone/>
                      </a:pPr>
                      <a:r>
                        <a:rPr lang="en-US" sz="1000" b="1" dirty="0">
                          <a:solidFill>
                            <a:srgbClr val="FFFFFF"/>
                          </a:solidFill>
                        </a:rPr>
                        <a:t>الموقع</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c>
                  <a:txBody>
                    <a:bodyPr/>
                    <a:lstStyle/>
                    <a:p>
                      <a:pPr algn="r" indent="0" marL="0">
                        <a:buNone/>
                      </a:pPr>
                      <a:r>
                        <a:rPr lang="en-US" sz="1000" b="1" dirty="0">
                          <a:solidFill>
                            <a:srgbClr val="FFFFFF"/>
                          </a:solidFill>
                        </a:rPr>
                        <a:t>صافي ATP</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c>
                  <a:txBody>
                    <a:bodyPr/>
                    <a:lstStyle/>
                    <a:p>
                      <a:pPr algn="r" indent="0" marL="0">
                        <a:buNone/>
                      </a:pPr>
                      <a:r>
                        <a:rPr lang="en-US" sz="1000" b="1" dirty="0">
                          <a:solidFill>
                            <a:srgbClr val="FFFFFF"/>
                          </a:solidFill>
                        </a:rPr>
                        <a:t>الإنزيمات الرئيسية</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c>
                  <a:txBody>
                    <a:bodyPr/>
                    <a:lstStyle/>
                    <a:p>
                      <a:pPr algn="r" indent="0" marL="0">
                        <a:buNone/>
                      </a:pPr>
                      <a:r>
                        <a:rPr lang="en-US" sz="1000" b="1" dirty="0">
                          <a:solidFill>
                            <a:srgbClr val="FFFFFF"/>
                          </a:solidFill>
                        </a:rPr>
                        <a:t>التنظيم</a:t>
                      </a:r>
                      <a:endParaRPr lang="en-US" sz="10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0B3D2E"/>
                    </a:solidFill>
                  </a:tcPr>
                </a:tc>
              </a:tr>
              <a:tr h="0">
                <a:tc>
                  <a:txBody>
                    <a:bodyPr/>
                    <a:lstStyle/>
                    <a:p>
                      <a:pPr algn="r" indent="0" marL="0">
                        <a:buNone/>
                      </a:pPr>
                      <a:r>
                        <a:rPr lang="en-US" sz="900" dirty="0">
                          <a:solidFill>
                            <a:srgbClr val="2C3E50"/>
                          </a:solidFill>
                        </a:rPr>
                        <a:t>التحلل السكري</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السيتوبلازم</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2 ATP صافي (4 إجمالي)</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هيكسوكيناز، PFK-1، كيناز البيروفات</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F2,6-BP؛ نسبة ATP:AMP</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r h="0">
                <a:tc>
                  <a:txBody>
                    <a:bodyPr/>
                    <a:lstStyle/>
                    <a:p>
                      <a:pPr algn="r" indent="0" marL="0">
                        <a:buNone/>
                      </a:pPr>
                      <a:r>
                        <a:rPr lang="en-US" sz="900" dirty="0">
                          <a:solidFill>
                            <a:srgbClr val="2C3E50"/>
                          </a:solidFill>
                        </a:rPr>
                        <a:t>دورة كربس</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مصفوفة الميتوكندريا</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2 ATP + 8 NADH + 2 FADH₂</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ايزوسيترات DH، α-KG DH</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NADH؛ ATP؛ Ca²⁺</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r>
              <a:tr h="0">
                <a:tc>
                  <a:txBody>
                    <a:bodyPr/>
                    <a:lstStyle/>
                    <a:p>
                      <a:pPr algn="r" indent="0" marL="0">
                        <a:buNone/>
                      </a:pPr>
                      <a:r>
                        <a:rPr lang="en-US" sz="900" dirty="0">
                          <a:solidFill>
                            <a:srgbClr val="2C3E50"/>
                          </a:solidFill>
                        </a:rPr>
                        <a:t>الفسفرة التأكسدية</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غشاء الميتوكندريا الداخلي</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~32–34 ATP إجمالي</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المركبات I–IV؛ ATP سينثاز</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توافر ADP؛ O₂</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r h="0">
                <a:tc>
                  <a:txBody>
                    <a:bodyPr/>
                    <a:lstStyle/>
                    <a:p>
                      <a:pPr algn="r" indent="0" marL="0">
                        <a:buNone/>
                      </a:pPr>
                      <a:r>
                        <a:rPr lang="en-US" sz="900" dirty="0">
                          <a:solidFill>
                            <a:srgbClr val="2C3E50"/>
                          </a:solidFill>
                        </a:rPr>
                        <a:t>أكسدة الأحماض الدهنية</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الميتوكندريا</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يتفاوت حسب طول السلسلة</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أسيل-CoA DH</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مالونيل-CoA (تثبيط)</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r>
              <a:tr h="0">
                <a:tc>
                  <a:txBody>
                    <a:bodyPr/>
                    <a:lstStyle/>
                    <a:p>
                      <a:pPr algn="r" indent="0" marL="0">
                        <a:buNone/>
                      </a:pPr>
                      <a:r>
                        <a:rPr lang="en-US" sz="900" dirty="0">
                          <a:solidFill>
                            <a:srgbClr val="2C3E50"/>
                          </a:solidFill>
                        </a:rPr>
                        <a:t>تخليق الأحماض الدهنية</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السيتوبلازم</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يستهلك 7 ATP + 14 NADPH</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ACC، مركب FAS</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الأنسولين؛ الجلوكاغون</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r h="0">
                <a:tc>
                  <a:txBody>
                    <a:bodyPr/>
                    <a:lstStyle/>
                    <a:p>
                      <a:pPr algn="r" indent="0" marL="0">
                        <a:buNone/>
                      </a:pPr>
                      <a:r>
                        <a:rPr lang="en-US" sz="900" dirty="0">
                          <a:solidFill>
                            <a:srgbClr val="2C3E50"/>
                          </a:solidFill>
                        </a:rPr>
                        <a:t>مسار البنتوز فوسفات</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السيتوبلازم</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0 (ينتج NADPH)</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G6PDH، 6-PGD</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نسبة NADP⁺:NADPH</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r>
              <a:tr h="0">
                <a:tc>
                  <a:txBody>
                    <a:bodyPr/>
                    <a:lstStyle/>
                    <a:p>
                      <a:pPr algn="r" indent="0" marL="0">
                        <a:buNone/>
                      </a:pPr>
                      <a:r>
                        <a:rPr lang="en-US" sz="900" dirty="0">
                          <a:solidFill>
                            <a:srgbClr val="2C3E50"/>
                          </a:solidFill>
                        </a:rPr>
                        <a:t>استحداث الجلوكوز</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كبد (سيتوبلازم+ميتو.)</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يستهلك 6 ATP مكافئ</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PEPCK، FBPase-1</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c>
                  <a:txBody>
                    <a:bodyPr/>
                    <a:lstStyle/>
                    <a:p>
                      <a:pPr algn="r" indent="0" marL="0">
                        <a:buNone/>
                      </a:pPr>
                      <a:r>
                        <a:rPr lang="en-US" sz="900" dirty="0">
                          <a:solidFill>
                            <a:srgbClr val="2C3E50"/>
                          </a:solidFill>
                        </a:rPr>
                        <a:t>كورتيزول؛ جلوكاغون</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E8F8F5"/>
                    </a:solidFill>
                  </a:tcPr>
                </a:tc>
              </a:tr>
              <a:tr h="0">
                <a:tc>
                  <a:txBody>
                    <a:bodyPr/>
                    <a:lstStyle/>
                    <a:p>
                      <a:pPr algn="r" indent="0" marL="0">
                        <a:buNone/>
                      </a:pPr>
                      <a:r>
                        <a:rPr lang="en-US" sz="900" dirty="0">
                          <a:solidFill>
                            <a:srgbClr val="2C3E50"/>
                          </a:solidFill>
                        </a:rPr>
                        <a:t>دورة اليوريا</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الكبد (كلا الحجرتين)</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يستهلك 4 ATP مكافئ</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CPS-I، أرجيناز</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rPr>
                        <a:t>N-acetylglutamate</a:t>
                      </a:r>
                      <a:endParaRPr lang="en-US" sz="900" dirty="0"/>
                    </a:p>
                  </a:txBody>
                  <a:tcPr marL="91440" marR="91440" marT="45720" marB="45720">
                    <a:lnL w="6350" cap="flat" cmpd="sng" algn="ctr">
                      <a:solidFill>
                        <a:srgbClr val="A9DFBF"/>
                      </a:solidFill>
                      <a:prstDash val="solid"/>
                      <a:round/>
                      <a:headEnd type="none" w="med" len="med"/>
                      <a:tailEnd type="none" w="med" len="med"/>
                    </a:lnL>
                    <a:lnR w="6350" cap="flat" cmpd="sng" algn="ctr">
                      <a:solidFill>
                        <a:srgbClr val="A9DFBF"/>
                      </a:solidFill>
                      <a:prstDash val="solid"/>
                      <a:round/>
                      <a:headEnd type="none" w="med" len="med"/>
                      <a:tailEnd type="none" w="med" len="med"/>
                    </a:lnR>
                    <a:lnT w="6350" cap="flat" cmpd="sng" algn="ctr">
                      <a:solidFill>
                        <a:srgbClr val="A9DFBF"/>
                      </a:solidFill>
                      <a:prstDash val="solid"/>
                      <a:round/>
                      <a:headEnd type="none" w="med" len="med"/>
                      <a:tailEnd type="none" w="med" len="med"/>
                    </a:lnT>
                    <a:lnB w="6350" cap="flat" cmpd="sng" algn="ctr">
                      <a:solidFill>
                        <a:srgbClr val="A9DFB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3D2E"/>
        </a:solidFill>
      </p:bgPr>
    </p:bg>
    <p:spTree>
      <p:nvGrpSpPr>
        <p:cNvPr id="1" name=""/>
        <p:cNvGrpSpPr/>
        <p:nvPr/>
      </p:nvGrpSpPr>
      <p:grpSpPr>
        <a:xfrm>
          <a:off x="0" y="0"/>
          <a:ext cx="0" cy="0"/>
          <a:chOff x="0" y="0"/>
          <a:chExt cx="0" cy="0"/>
        </a:xfrm>
      </p:grpSpPr>
      <p:sp>
        <p:nvSpPr>
          <p:cNvPr id="2" name="Shape 0"/>
          <p:cNvSpPr/>
          <p:nvPr/>
        </p:nvSpPr>
        <p:spPr>
          <a:xfrm>
            <a:off x="0" y="3931920"/>
            <a:ext cx="9144000" cy="1211580"/>
          </a:xfrm>
          <a:prstGeom prst="rect">
            <a:avLst/>
          </a:prstGeom>
          <a:solidFill>
            <a:srgbClr val="C9A84C"/>
          </a:solidFill>
          <a:ln/>
        </p:spPr>
      </p:sp>
      <p:sp>
        <p:nvSpPr>
          <p:cNvPr id="3" name="Text 1"/>
          <p:cNvSpPr/>
          <p:nvPr/>
        </p:nvSpPr>
        <p:spPr>
          <a:xfrm>
            <a:off x="365760" y="274320"/>
            <a:ext cx="8412480" cy="73152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فهرس المستند وملخص المحتوى</a:t>
            </a:r>
            <a:endParaRPr lang="en-US" sz="2600" dirty="0"/>
          </a:p>
        </p:txBody>
      </p:sp>
      <p:sp>
        <p:nvSpPr>
          <p:cNvPr id="4" name="Text 2"/>
          <p:cNvSpPr/>
          <p:nvPr/>
        </p:nvSpPr>
        <p:spPr>
          <a:xfrm>
            <a:off x="365760" y="1097280"/>
            <a:ext cx="8412480" cy="2651760"/>
          </a:xfrm>
          <a:prstGeom prst="rect">
            <a:avLst/>
          </a:prstGeom>
          <a:noFill/>
          <a:ln/>
        </p:spPr>
        <p:txBody>
          <a:bodyPr wrap="square" rtlCol="0" anchor="ctr"/>
          <a:lstStyle/>
          <a:p>
            <a:pPr rtl="1" algn="r" marL="342900" indent="-342900">
              <a:spcAft>
                <a:spcPts val="200"/>
              </a:spcAft>
              <a:buSzPct val="100000"/>
              <a:buChar char="•"/>
            </a:pPr>
            <a:r>
              <a:rPr lang="en-US" sz="1100" dirty="0">
                <a:solidFill>
                  <a:srgbClr val="ECF0F1"/>
                </a:solidFill>
                <a:latin typeface="Arial" pitchFamily="34" charset="0"/>
                <a:ea typeface="Arial" pitchFamily="34" charset="-122"/>
                <a:cs typeface="Arial" pitchFamily="34" charset="-120"/>
              </a:rPr>
              <a:t>القسم الأول: الميكانيكا الكلاسيكية – الشرائح 3–5 · قوانين نيوتن، الحركة، الديناميكا الدورانية</a:t>
            </a:r>
            <a:endParaRPr lang="en-US" sz="1100" dirty="0"/>
          </a:p>
          <a:p>
            <a:pPr rtl="1" algn="r" marL="342900" indent="-342900">
              <a:spcAft>
                <a:spcPts val="200"/>
              </a:spcAft>
              <a:buSzPct val="100000"/>
              <a:buChar char="•"/>
            </a:pPr>
            <a:r>
              <a:rPr lang="en-US" sz="1100" dirty="0">
                <a:solidFill>
                  <a:srgbClr val="ECF0F1"/>
                </a:solidFill>
                <a:latin typeface="Arial" pitchFamily="34" charset="0"/>
                <a:ea typeface="Arial" pitchFamily="34" charset="-122"/>
                <a:cs typeface="Arial" pitchFamily="34" charset="-120"/>
              </a:rPr>
              <a:t>القسم الثاني: الديناميكا الحرارية – الشرائح 7–9 · القوانين، عمليات الغاز المثالي، الإنتروبيا</a:t>
            </a:r>
            <a:endParaRPr lang="en-US" sz="1100" dirty="0"/>
          </a:p>
          <a:p>
            <a:pPr rtl="1" algn="r" marL="342900" indent="-342900">
              <a:spcAft>
                <a:spcPts val="200"/>
              </a:spcAft>
              <a:buSzPct val="100000"/>
              <a:buChar char="•"/>
            </a:pPr>
            <a:r>
              <a:rPr lang="en-US" sz="1100" dirty="0">
                <a:solidFill>
                  <a:srgbClr val="ECF0F1"/>
                </a:solidFill>
                <a:latin typeface="Arial" pitchFamily="34" charset="0"/>
                <a:ea typeface="Arial" pitchFamily="34" charset="-122"/>
                <a:cs typeface="Arial" pitchFamily="34" charset="-120"/>
              </a:rPr>
              <a:t>القسم الثالث: الكهرومغناطيسية – الشرائح 11–12 · معادلات ماكسويل، تحليل الدوائر</a:t>
            </a:r>
            <a:endParaRPr lang="en-US" sz="1100" dirty="0"/>
          </a:p>
          <a:p>
            <a:pPr rtl="1" algn="r" marL="342900" indent="-342900">
              <a:spcAft>
                <a:spcPts val="200"/>
              </a:spcAft>
              <a:buSzPct val="100000"/>
              <a:buChar char="•"/>
            </a:pPr>
            <a:r>
              <a:rPr lang="en-US" sz="1100" dirty="0">
                <a:solidFill>
                  <a:srgbClr val="ECF0F1"/>
                </a:solidFill>
                <a:latin typeface="Arial" pitchFamily="34" charset="0"/>
                <a:ea typeface="Arial" pitchFamily="34" charset="-122"/>
                <a:cs typeface="Arial" pitchFamily="34" charset="-120"/>
              </a:rPr>
              <a:t>القسم الرابع: ميكانيكا الكم – الشرائح 14–15 · شرودنغر، الهيدروجين، الأعداد الكمية</a:t>
            </a:r>
            <a:endParaRPr lang="en-US" sz="1100" dirty="0"/>
          </a:p>
          <a:p>
            <a:pPr rtl="1" algn="r" marL="342900" indent="-342900">
              <a:spcAft>
                <a:spcPts val="200"/>
              </a:spcAft>
              <a:buSzPct val="100000"/>
              <a:buChar char="•"/>
            </a:pPr>
            <a:r>
              <a:rPr lang="en-US" sz="1100" dirty="0">
                <a:solidFill>
                  <a:srgbClr val="ECF0F1"/>
                </a:solidFill>
                <a:latin typeface="Arial" pitchFamily="34" charset="0"/>
                <a:ea typeface="Arial" pitchFamily="34" charset="-122"/>
                <a:cs typeface="Arial" pitchFamily="34" charset="-120"/>
              </a:rPr>
              <a:t>القسم الخامس: التفاضل والتكامل – الشرائح 17–18 · النظرية الأساسية، التحويلات، ODE</a:t>
            </a:r>
            <a:endParaRPr lang="en-US" sz="1100" dirty="0"/>
          </a:p>
          <a:p>
            <a:pPr rtl="1" algn="r" marL="342900" indent="-342900">
              <a:spcAft>
                <a:spcPts val="200"/>
              </a:spcAft>
              <a:buSzPct val="100000"/>
              <a:buChar char="•"/>
            </a:pPr>
            <a:r>
              <a:rPr lang="en-US" sz="1100" dirty="0">
                <a:solidFill>
                  <a:srgbClr val="ECF0F1"/>
                </a:solidFill>
                <a:latin typeface="Arial" pitchFamily="34" charset="0"/>
                <a:ea typeface="Arial" pitchFamily="34" charset="-122"/>
                <a:cs typeface="Arial" pitchFamily="34" charset="-120"/>
              </a:rPr>
              <a:t>القسم السادس: الاحتمالات والإحصاء – الشرائح 20–22 · التوزيعات، الفرضيات، بايز</a:t>
            </a:r>
            <a:endParaRPr lang="en-US" sz="1100" dirty="0"/>
          </a:p>
          <a:p>
            <a:pPr rtl="1" algn="r" marL="342900" indent="-342900">
              <a:spcAft>
                <a:spcPts val="200"/>
              </a:spcAft>
              <a:buSzPct val="100000"/>
              <a:buChar char="•"/>
            </a:pPr>
            <a:r>
              <a:rPr lang="en-US" sz="1100" dirty="0">
                <a:solidFill>
                  <a:srgbClr val="ECF0F1"/>
                </a:solidFill>
                <a:latin typeface="Arial" pitchFamily="34" charset="0"/>
                <a:ea typeface="Arial" pitchFamily="34" charset="-122"/>
                <a:cs typeface="Arial" pitchFamily="34" charset="-120"/>
              </a:rPr>
              <a:t>القسم السابع: الجبر الخطي – الشرائح 25–26 · التحليلات، فضاءات المتجهات</a:t>
            </a:r>
            <a:endParaRPr lang="en-US" sz="1100" dirty="0"/>
          </a:p>
          <a:p>
            <a:pPr rtl="1" algn="r" marL="342900" indent="-342900">
              <a:spcAft>
                <a:spcPts val="200"/>
              </a:spcAft>
              <a:buSzPct val="100000"/>
              <a:buChar char="•"/>
            </a:pPr>
            <a:r>
              <a:rPr lang="en-US" sz="1100" dirty="0">
                <a:solidFill>
                  <a:srgbClr val="ECF0F1"/>
                </a:solidFill>
                <a:latin typeface="Arial" pitchFamily="34" charset="0"/>
                <a:ea typeface="Arial" pitchFamily="34" charset="-122"/>
                <a:cs typeface="Arial" pitchFamily="34" charset="-120"/>
              </a:rPr>
              <a:t>القسم الثامن: نظرية المعلومات – الشرائح 28–29 · إنتروبيا شانون، السعة، رموز ECC</a:t>
            </a:r>
            <a:endParaRPr lang="en-US" sz="1100" dirty="0"/>
          </a:p>
          <a:p>
            <a:pPr rtl="1" algn="r" marL="342900" indent="-342900">
              <a:spcAft>
                <a:spcPts val="200"/>
              </a:spcAft>
              <a:buSzPct val="100000"/>
              <a:buChar char="•"/>
            </a:pPr>
            <a:r>
              <a:rPr lang="en-US" sz="1100" dirty="0">
                <a:solidFill>
                  <a:srgbClr val="ECF0F1"/>
                </a:solidFill>
                <a:latin typeface="Arial" pitchFamily="34" charset="0"/>
                <a:ea typeface="Arial" pitchFamily="34" charset="-122"/>
                <a:cs typeface="Arial" pitchFamily="34" charset="-120"/>
              </a:rPr>
              <a:t>القسم التاسع: النسبية الخاصة – الشرائح 31–32 · لورنتز، الحركيات النسبية، النموذج المعياري</a:t>
            </a:r>
            <a:endParaRPr lang="en-US" sz="1100" dirty="0"/>
          </a:p>
          <a:p>
            <a:pPr rtl="1" algn="r" marL="342900" indent="-342900">
              <a:spcAft>
                <a:spcPts val="200"/>
              </a:spcAft>
              <a:buSzPct val="100000"/>
              <a:buChar char="•"/>
            </a:pPr>
            <a:r>
              <a:rPr lang="en-US" sz="1100" dirty="0">
                <a:solidFill>
                  <a:srgbClr val="ECF0F1"/>
                </a:solidFill>
                <a:latin typeface="Arial" pitchFamily="34" charset="0"/>
                <a:ea typeface="Arial" pitchFamily="34" charset="-122"/>
                <a:cs typeface="Arial" pitchFamily="34" charset="-120"/>
              </a:rPr>
              <a:t>القسم العاشر: علم الحاسوب – الشرائح 34–36 · فئات التعقيد، التشفير، هياكل البيانات</a:t>
            </a:r>
            <a:endParaRPr lang="en-US" sz="1100" dirty="0"/>
          </a:p>
          <a:p>
            <a:pPr rtl="1" algn="r" marL="342900" indent="-342900">
              <a:spcAft>
                <a:spcPts val="200"/>
              </a:spcAft>
              <a:buSzPct val="100000"/>
              <a:buChar char="•"/>
            </a:pPr>
            <a:r>
              <a:rPr lang="en-US" sz="1100" dirty="0">
                <a:solidFill>
                  <a:srgbClr val="ECF0F1"/>
                </a:solidFill>
                <a:latin typeface="Arial" pitchFamily="34" charset="0"/>
                <a:ea typeface="Arial" pitchFamily="34" charset="-122"/>
                <a:cs typeface="Arial" pitchFamily="34" charset="-120"/>
              </a:rPr>
              <a:t>القسم الحادي عشر: الكيمياء الحيوية – الشرائح 38–39 · حركية الإنزيمات، المسارات الأيضية</a:t>
            </a:r>
            <a:endParaRPr lang="en-US" sz="1100" dirty="0"/>
          </a:p>
          <a:p>
            <a:pPr algn="r" indent="0" marL="0">
              <a:buNone/>
            </a:pPr>
            <a:endParaRPr lang="en-US" sz="1100" dirty="0"/>
          </a:p>
        </p:txBody>
      </p:sp>
      <p:sp>
        <p:nvSpPr>
          <p:cNvPr id="5" name="Text 3"/>
          <p:cNvSpPr/>
          <p:nvPr/>
        </p:nvSpPr>
        <p:spPr>
          <a:xfrm>
            <a:off x="365760" y="4023360"/>
            <a:ext cx="8412480" cy="548640"/>
          </a:xfrm>
          <a:prstGeom prst="rect">
            <a:avLst/>
          </a:prstGeom>
          <a:noFill/>
          <a:ln/>
        </p:spPr>
        <p:txBody>
          <a:bodyPr wrap="square" rtlCol="0" anchor="ctr"/>
          <a:lstStyle/>
          <a:p>
            <a:pPr rtl="1" algn="r" indent="0" marL="0">
              <a:buNone/>
            </a:pPr>
            <a:r>
              <a:rPr lang="en-US" sz="1200" dirty="0">
                <a:solidFill>
                  <a:srgbClr val="FFFFFF"/>
                </a:solidFill>
                <a:latin typeface="Arial" pitchFamily="34" charset="0"/>
                <a:ea typeface="Arial" pitchFamily="34" charset="-122"/>
                <a:cs typeface="Arial" pitchFamily="34" charset="-120"/>
              </a:rPr>
              <a:t>مجموعة اختبار الاستخراج Studymaxing  |  النسخة العربية  |  ٤٠ شريحة  |  محتوى مرجعي مكثف</a:t>
            </a:r>
            <a:endParaRPr lang="en-US" sz="1200" dirty="0"/>
          </a:p>
        </p:txBody>
      </p:sp>
      <p:sp>
        <p:nvSpPr>
          <p:cNvPr id="6" name="Text 4"/>
          <p:cNvSpPr/>
          <p:nvPr/>
        </p:nvSpPr>
        <p:spPr>
          <a:xfrm>
            <a:off x="365760" y="4526280"/>
            <a:ext cx="8412480" cy="457200"/>
          </a:xfrm>
          <a:prstGeom prst="rect">
            <a:avLst/>
          </a:prstGeom>
          <a:noFill/>
          <a:ln/>
        </p:spPr>
        <p:txBody>
          <a:bodyPr wrap="square" rtlCol="0" anchor="ctr"/>
          <a:lstStyle/>
          <a:p>
            <a:pPr rtl="1" algn="r" indent="0" marL="0">
              <a:buNone/>
            </a:pPr>
            <a:r>
              <a:rPr lang="en-US" sz="1100" i="1" dirty="0">
                <a:solidFill>
                  <a:srgbClr val="FFFFFF"/>
                </a:solidFill>
                <a:latin typeface="Arial" pitchFamily="34" charset="0"/>
                <a:ea typeface="Arial" pitchFamily="34" charset="-122"/>
                <a:cs typeface="Arial" pitchFamily="34" charset="-120"/>
              </a:rPr>
              <a:t>مُنشأ لاختبار استخراج النظام. يحتوي على معادلات وجداول ومخططات وتخطيطات متعددة الأعمدة وهياكل هرمية.</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اختبار الاستخراج المتقدم – النسخة العربية</dc:title>
  <dc:subject>PptxGenJS Presentation</dc:subject>
  <dc:creator>Studymaxing QA</dc:creator>
  <cp:lastModifiedBy>Studymaxing QA</cp:lastModifiedBy>
  <cp:revision>1</cp:revision>
  <dcterms:created xsi:type="dcterms:W3CDTF">2026-06-05T20:15:46Z</dcterms:created>
  <dcterms:modified xsi:type="dcterms:W3CDTF">2026-06-05T20:15:46Z</dcterms:modified>
</cp:coreProperties>
</file>