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log₁₀(|value in SI|)</c:v>
                </c:pt>
              </c:strCache>
            </c:strRef>
          </c:tx>
          <c:spPr>
            <a:solidFill>
              <a:srgbClr val="0D948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Sheet1!$A$2:$A$8</c:f>
              <c:multiLvlStrCache>
                <c:ptCount val="7"/>
                <c:lvl>
                  <c:pt idx="0">
                    <c:v>Speed of Light c</c:v>
                  </c:pt>
                  <c:pt idx="1">
                    <c:v>Avogadro Nₐ</c:v>
                  </c:pt>
                  <c:pt idx="2">
                    <c:v>Boltzmann k_B</c:v>
                  </c:pt>
                  <c:pt idx="3">
                    <c:v>Planck h</c:v>
                  </c:pt>
                  <c:pt idx="4">
                    <c:v>Electron charge e</c:v>
                  </c:pt>
                  <c:pt idx="5">
                    <c:v>Gravitational G</c:v>
                  </c:pt>
                  <c:pt idx="6">
                    <c:v>Electron mass mₑ</c:v>
                  </c:pt>
                </c:lvl>
              </c:multiLvlStrCache>
            </c:multiLvlStrRef>
          </c:cat>
          <c:val>
            <c:numRef>
              <c:f>Sheet1!$B$2:$B$8</c:f>
              <c:numCache>
                <c:formatCode>General</c:formatCode>
                <c:ptCount val="7"/>
                <c:pt idx="0">
                  <c:v>8.48</c:v>
                </c:pt>
                <c:pt idx="1">
                  <c:v>23.78</c:v>
                </c:pt>
                <c:pt idx="2">
                  <c:v>-22.87</c:v>
                </c:pt>
                <c:pt idx="3">
                  <c:v>-33.58</c:v>
                </c:pt>
                <c:pt idx="4">
                  <c:v>-19.3</c:v>
                </c:pt>
                <c:pt idx="5">
                  <c:v>-10.18</c:v>
                </c:pt>
                <c:pt idx="6">
                  <c:v>-30.04</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C3E5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D5DBD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17A589"/>
          </a:solidFill>
          <a:ln/>
        </p:spPr>
      </p:sp>
      <p:sp>
        <p:nvSpPr>
          <p:cNvPr id="3" name="Text 1"/>
          <p:cNvSpPr/>
          <p:nvPr/>
        </p:nvSpPr>
        <p:spPr>
          <a:xfrm>
            <a:off x="365760" y="1097280"/>
            <a:ext cx="8412480" cy="2286000"/>
          </a:xfrm>
          <a:prstGeom prst="rect">
            <a:avLst/>
          </a:prstGeom>
          <a:noFill/>
          <a:ln/>
        </p:spPr>
        <p:txBody>
          <a:bodyPr wrap="square"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Advanced Science &amp; Mathematics</a:t>
            </a:r>
            <a:endParaRPr lang="en-US" sz="3800" dirty="0"/>
          </a:p>
          <a:p>
            <a:pPr algn="l" indent="0" marL="0">
              <a:buNone/>
            </a:pPr>
            <a:r>
              <a:rPr lang="en-US" sz="3800" b="1" dirty="0">
                <a:solidFill>
                  <a:srgbClr val="FFFFFF"/>
                </a:solidFill>
                <a:latin typeface="Calibri" pitchFamily="34" charset="0"/>
                <a:ea typeface="Calibri" pitchFamily="34" charset="-122"/>
                <a:cs typeface="Calibri" pitchFamily="34" charset="-120"/>
              </a:rPr>
              <a:t>Extraction Test Document</a:t>
            </a:r>
            <a:endParaRPr lang="en-US" sz="3800" dirty="0"/>
          </a:p>
        </p:txBody>
      </p:sp>
      <p:sp>
        <p:nvSpPr>
          <p:cNvPr id="4" name="Text 2"/>
          <p:cNvSpPr/>
          <p:nvPr/>
        </p:nvSpPr>
        <p:spPr>
          <a:xfrm>
            <a:off x="365760" y="3474720"/>
            <a:ext cx="8412480" cy="731520"/>
          </a:xfrm>
          <a:prstGeom prst="rect">
            <a:avLst/>
          </a:prstGeom>
          <a:noFill/>
          <a:ln/>
        </p:spPr>
        <p:txBody>
          <a:bodyPr wrap="square" rtlCol="0" anchor="ctr"/>
          <a:lstStyle/>
          <a:p>
            <a:pPr algn="l" indent="0" marL="0">
              <a:buNone/>
            </a:pPr>
            <a:r>
              <a:rPr lang="en-US" sz="1800" dirty="0">
                <a:solidFill>
                  <a:srgbClr val="A9DFBF"/>
                </a:solidFill>
                <a:latin typeface="Calibri" pitchFamily="34" charset="0"/>
                <a:ea typeface="Calibri" pitchFamily="34" charset="-122"/>
                <a:cs typeface="Calibri" pitchFamily="34" charset="-120"/>
              </a:rPr>
              <a:t>40-Slide Dense Reference Deck  |  Equations · Tables · Charts · Mixed Content</a:t>
            </a:r>
            <a:endParaRPr lang="en-US" sz="1800" dirty="0"/>
          </a:p>
        </p:txBody>
      </p:sp>
      <p:sp>
        <p:nvSpPr>
          <p:cNvPr id="5" name="Text 3"/>
          <p:cNvSpPr/>
          <p:nvPr/>
        </p:nvSpPr>
        <p:spPr>
          <a:xfrm>
            <a:off x="365760" y="4480560"/>
            <a:ext cx="8412480" cy="548640"/>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Studymaxing Extraction Test Suite  |  English Edition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01</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Classical Mechanics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Newtonian Dynamics, Work-Energy, and Rotational Motion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Newton's Laws of Motion – Formal Statements &amp; Equations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First Law (Inertia):  ΣF = 0  ⟹  v = constant</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Second Law:  F = ma  ⟹  F = dp/dt  (p = mv)</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Third Law:  F₁₂ = −F₂₁  (action-reaction pair)</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Momentum:  p = mv  ;  Impulse J = ΔP = F·Δt</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Work–Energy Theorem:  W_net = ΔKE = ½mv₂² − ½mv₁²</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Power:  P = dW/dt = F·v·cos(θ)</a:t>
            </a:r>
            <a:endParaRPr lang="en-US" sz="1400" dirty="0"/>
          </a:p>
        </p:txBody>
      </p:sp>
      <p:sp>
        <p:nvSpPr>
          <p:cNvPr id="16" name="Text 14"/>
          <p:cNvSpPr/>
          <p:nvPr/>
        </p:nvSpPr>
        <p:spPr>
          <a:xfrm>
            <a:off x="457200" y="4389120"/>
            <a:ext cx="8229600" cy="48006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Note: All quantities are vectors unless written in italics. F is net external force, m is inertial mass (constant for non-relativistic speeds), and a is instantaneous acceleration. The work-energy theorem applies only when forces are conservative or the path is specified.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Kinematic Equations – Constant Acceleration Reference Table</a:t>
            </a:r>
            <a:endParaRPr lang="en-US" sz="1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2560320"/>
                <a:gridCol w="2011680"/>
                <a:gridCol w="1828800"/>
                <a:gridCol w="2194560"/>
              </a:tblGrid>
              <a:tr h="0">
                <a:tc>
                  <a:txBody>
                    <a:bodyPr/>
                    <a:lstStyle/>
                    <a:p>
                      <a:pPr indent="0" marL="0">
                        <a:buNone/>
                      </a:pPr>
                      <a:r>
                        <a:rPr lang="en-US" sz="1200" b="1" dirty="0">
                          <a:solidFill>
                            <a:srgbClr val="FFFFFF"/>
                          </a:solidFill>
                        </a:rPr>
                        <a:t>Equation</a:t>
                      </a:r>
                      <a:endParaRPr lang="en-US" sz="12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rPr>
                        <a:t>Variables Used</a:t>
                      </a:r>
                      <a:endParaRPr lang="en-US" sz="12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rPr>
                        <a:t>Missing Variable</a:t>
                      </a:r>
                      <a:endParaRPr lang="en-US" sz="12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200" b="1" dirty="0">
                          <a:solidFill>
                            <a:srgbClr val="FFFFFF"/>
                          </a:solidFill>
                        </a:rPr>
                        <a:t>Notes</a:t>
                      </a:r>
                      <a:endParaRPr lang="en-US" sz="12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r>
              <a:tr h="0">
                <a:tc>
                  <a:txBody>
                    <a:bodyPr/>
                    <a:lstStyle/>
                    <a:p>
                      <a:pPr indent="0" marL="0">
                        <a:buNone/>
                      </a:pPr>
                      <a:r>
                        <a:rPr lang="en-US" sz="1100" dirty="0">
                          <a:solidFill>
                            <a:srgbClr val="2C3E50"/>
                          </a:solidFill>
                        </a:rPr>
                        <a:t>v = v₀ + at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v, v₀, a, 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x</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Direct velocity-time relation</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1100" dirty="0">
                          <a:solidFill>
                            <a:srgbClr val="2C3E50"/>
                          </a:solidFill>
                        </a:rPr>
                        <a:t>x = v₀t + ½at²</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x, v₀, a, 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v</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Displacement from rest + accel</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C3E50"/>
                          </a:solidFill>
                        </a:rPr>
                        <a:t>v² = v₀² + 2ax</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v, v₀, a, x</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Velocity-displacement (time-independent)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1100" dirty="0">
                          <a:solidFill>
                            <a:srgbClr val="2C3E50"/>
                          </a:solidFill>
                        </a:rPr>
                        <a:t>x = ½(v + v₀)t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x, v, v₀, 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a</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Average-velocity form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C3E50"/>
                          </a:solidFill>
                        </a:rPr>
                        <a:t>x = vt − ½at²</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x, v, a, 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v₀</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Useful when initial speed unknown</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bl>
          </a:graphicData>
        </a:graphic>
      </p:graphicFrame>
      <p:sp>
        <p:nvSpPr>
          <p:cNvPr id="5" name="Text 2"/>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All equations assume constant acceleration a. v₀ = initial velocity, v = final velocity, x = displacement, t = elapsed time.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Rotational Dynamics – Angular Quantities &amp; Torque</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Torque:  τ = r × F  ⟹  |τ| = rF sin(θ)  [N·m]</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Angular Momentum:  L = Iω  ;  τ_net = dL/dt</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Rotational KE:  KE_rot = ½Iω²</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Moment of Inertia (solid disk):  I = ½MR²</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Moment of Inertia (hollow sphere):  I = (2/3)MR²</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Parallel Axis Theorem:  I = I_cm + Md²</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Rolling without slipping:  v_cm = Rω  ;  a_cm = Rα</a:t>
            </a:r>
            <a:endParaRPr lang="en-US" sz="1400" dirty="0"/>
          </a:p>
        </p:txBody>
      </p:sp>
      <p:sp>
        <p:nvSpPr>
          <p:cNvPr id="18" name="Text 16"/>
          <p:cNvSpPr/>
          <p:nvPr/>
        </p:nvSpPr>
        <p:spPr>
          <a:xfrm>
            <a:off x="457200" y="4983480"/>
            <a:ext cx="8229600" cy="-1143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 parallel-axis theorem shifts the rotation axis by distance d from the center of mass. For compound objects, moment of inertia is additive. Note that ω is in rad/s and α in rad/s². Always check whether 'rolling without slipping' applies before using v_cm = Rω.</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02</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Thermodynamics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Laws of Heat, Entropy, and Statistical Mechanics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Four Laws of Thermodynamics – Definitions and Implications</a:t>
            </a:r>
            <a:endParaRPr lang="en-US" sz="2000" dirty="0"/>
          </a:p>
        </p:txBody>
      </p:sp>
      <p:sp>
        <p:nvSpPr>
          <p:cNvPr id="4" name="Text 2"/>
          <p:cNvSpPr/>
          <p:nvPr/>
        </p:nvSpPr>
        <p:spPr>
          <a:xfrm>
            <a:off x="365760" y="777240"/>
            <a:ext cx="8412480" cy="4023360"/>
          </a:xfrm>
          <a:prstGeom prst="rect">
            <a:avLst/>
          </a:prstGeom>
          <a:noFill/>
          <a:ln/>
        </p:spPr>
        <p:txBody>
          <a:bodyPr wrap="square" rtlCol="0" anchor="ctr"/>
          <a:lstStyle/>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Zeroth Law: If A is in thermal equilibrium with B, and B with C, then A is in equilibrium with C. Defines temperature as a transitive property.</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First Law: ΔU = Q − W  (energy conservation). For reversible process: dU = TdS − PdV. For an ideal gas: ΔU = nCᵥΔT.</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Second Law: Entropy of an isolated system never decreases: ΔS ≥ 0. Clausius statement: Heat cannot spontaneously flow from cold to hot. Kelvin–Planck: No engine converts heat entirely to work.</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Third Law: As T → 0 K, entropy approaches a constant minimum (S → 0 for a perfect crystal). Implies impossibility of reaching absolute zero.</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Carnot Efficiency: η_Carnot = 1 − T_cold/T_hot. This is the theoretical maximum for any heat engine operating between two reservoirs.</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Gibbs Free Energy: G = H − TS. Spontaneous process ⟹ ΔG &lt; 0 at constant T and P. At equilibrium: ΔG = 0.</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Helmholtz Free Energy: A = U − TS. Relevant at constant volume. ΔA &lt; 0 for spontaneous isothermal process at constant V.</a:t>
            </a:r>
            <a:endParaRPr lang="en-US" sz="1300" dirty="0"/>
          </a:p>
          <a:p>
            <a:pP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Source: Atkins' Physical Chemistry, 10th ed.; Callen, Thermodynamics and an Introduction to Thermostatistics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4057"/>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Ideal Gas Processes – Comparative Reference</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463040"/>
                <a:gridCol w="1645920"/>
                <a:gridCol w="2011680"/>
                <a:gridCol w="1463040"/>
                <a:gridCol w="1097280"/>
                <a:gridCol w="914400"/>
              </a:tblGrid>
              <a:tr h="0">
                <a:tc>
                  <a:txBody>
                    <a:bodyPr/>
                    <a:lstStyle/>
                    <a:p>
                      <a:pPr indent="0" marL="0">
                        <a:buNone/>
                      </a:pPr>
                      <a:r>
                        <a:rPr lang="en-US" sz="1100" b="1" dirty="0">
                          <a:solidFill>
                            <a:srgbClr val="FFFFFF"/>
                          </a:solidFill>
                        </a:rPr>
                        <a:t>Process</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Constraint</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Work W</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Heat Q</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ΔU</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ΔS</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r>
              <a:tr h="0">
                <a:tc>
                  <a:txBody>
                    <a:bodyPr/>
                    <a:lstStyle/>
                    <a:p>
                      <a:pPr indent="0" marL="0">
                        <a:buNone/>
                      </a:pPr>
                      <a:r>
                        <a:rPr lang="en-US" sz="1050" dirty="0">
                          <a:solidFill>
                            <a:srgbClr val="2C3E50"/>
                          </a:solidFill>
                        </a:rPr>
                        <a:t>Isothermal</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T = const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nRT ln(V₂/V₁)</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 W</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0</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nR ln(V₂/V₁)</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50" dirty="0">
                          <a:solidFill>
                            <a:srgbClr val="2C3E50"/>
                          </a:solidFill>
                        </a:rPr>
                        <a:t>Adiabatic</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Q = 0</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−ΔU = nCᵥ(T₁−T₂)</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0</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nCᵥΔT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0</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C3E50"/>
                          </a:solidFill>
                        </a:rPr>
                        <a:t>Isobaric</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P = const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PΔV = nRΔT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nCₚΔT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nCᵥΔT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nCₚ ln(T₂/T₁)</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50" dirty="0">
                          <a:solidFill>
                            <a:srgbClr val="2C3E50"/>
                          </a:solidFill>
                        </a:rPr>
                        <a:t>Isochoric</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V = const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0</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nCᵥΔT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nCᵥΔT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50" dirty="0">
                          <a:solidFill>
                            <a:srgbClr val="2C3E50"/>
                          </a:solidFill>
                        </a:rPr>
                        <a:t>nCᵥ ln(T₂/T₁)</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2C3E50"/>
                          </a:solidFill>
                        </a:rPr>
                        <a:t>Polytropic</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PVⁿ = const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(P₂V₂−P₁V₁)/(1−n)</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Q=ΔU+W</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nCᵥΔT</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50" dirty="0">
                          <a:solidFill>
                            <a:srgbClr val="2C3E50"/>
                          </a:solidFill>
                        </a:rPr>
                        <a:t>Depends on n</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bl>
          </a:graphicData>
        </a:graphic>
      </p:graphicFrame>
      <p:sp>
        <p:nvSpPr>
          <p:cNvPr id="5" name="Text 2"/>
          <p:cNvSpPr/>
          <p:nvPr/>
        </p:nvSpPr>
        <p:spPr>
          <a:xfrm>
            <a:off x="274320" y="4617720"/>
            <a:ext cx="8595360" cy="45720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γ = Cₚ/Cᵥ = 5/3 for monatomic, 7/5 for diatomic ideal gas. Polytropic index n: isothermal n=1, adiabatic n=γ, isobaric n=0, isochoric 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Entropy, Boltzmann, and Statistical Foundations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Boltzmann Entropy:  S = k_B ln(Ω)  [Ω = number of microstates]</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Thermodynamic Entropy:  dS = δQ_rev / T  (Clausius inequality: dS ≥ δQ/T)</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Partition Function:  Z = Σᵢ exp(−Eᵢ / k_BT)</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Average Energy:  ⟨E⟩ = −∂(ln Z)/∂β  where β = 1/(k_BT)</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Helmholtz Free Energy from Z:  A = −k_BT ln(Z)</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Maxwell–Boltzmann Speed Distribution:  f(v) = 4π(m/2πk_BT)^(3/2) v² exp(−mv²/2k_BT)</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Most Probable Speed:  v_p = √(2k_BT/m)  ;  RMS Speed:  v_rms = √(3k_BT/m)</a:t>
            </a:r>
            <a:endParaRPr lang="en-US" sz="1400" dirty="0"/>
          </a:p>
        </p:txBody>
      </p:sp>
      <p:sp>
        <p:nvSpPr>
          <p:cNvPr id="18" name="Text 16"/>
          <p:cNvSpPr/>
          <p:nvPr/>
        </p:nvSpPr>
        <p:spPr>
          <a:xfrm>
            <a:off x="457200" y="4983480"/>
            <a:ext cx="8229600" cy="-1143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 partition function Z encodes all thermodynamic information of a system. Differentiating ln(Z) with respect to β yields mean energy; with respect to volume yields pressure. The Maxwell-Boltzmann distribution describes non-interacting classical particles; it fails at low temperatures where quantum statistics (Fermi-Dirac or Bose-Einstein) apply.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03</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Electromagnetism</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Maxwell's Equations, Waves, and Circuit Theory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Maxwell's Equations – Differential and Integral Forms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Gauss's Law (E):  ∇·E = ρ/ε₀  ⟺  ∮_S E·dA = Q_enc/ε₀</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Gauss's Law (B):  ∇·B = 0  ⟺  ∮_S B·dA = 0  (no magnetic monopoles)</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Faraday's Law:  ∇×E = −∂B/∂t  ⟺  ∮ E·dl = −dΦ_B/dt</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Ampère–Maxwell:  ∇×B = μ₀J + μ₀ε₀ ∂E/∂t  ⟺  ∮ B·dl = μ₀(I + ε₀ dΦ_E/dt)</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Wave Equation in vacuum:  ∇²E = μ₀ε₀ ∂²E/∂t²  →  c = 1/√(μ₀ε₀) ≈ 3×10⁸ m/s</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Poynting Vector:  S = (1/μ₀)(E × B)  [W/m²]  (energy flux of EM wave)</a:t>
            </a:r>
            <a:endParaRPr lang="en-US" sz="1400" dirty="0"/>
          </a:p>
        </p:txBody>
      </p:sp>
      <p:sp>
        <p:nvSpPr>
          <p:cNvPr id="16" name="Text 14"/>
          <p:cNvSpPr/>
          <p:nvPr/>
        </p:nvSpPr>
        <p:spPr>
          <a:xfrm>
            <a:off x="457200" y="4389120"/>
            <a:ext cx="8229600" cy="48006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 displacement current term μ₀ε₀ ∂E/∂t added by Maxwell to Ampère's Law was essential for predicting electromagnetic waves. Without it, the equations are inconsistent at capacitor gaps. In material media, replace ε₀→ε=ε_rε₀ and μ₀→μ=μ_rμ₀.</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AC Circuit Analysis – Impedance, Phasors &amp; Power</a:t>
            </a:r>
            <a:endParaRPr lang="en-US" sz="1900" dirty="0"/>
          </a:p>
        </p:txBody>
      </p:sp>
      <p:sp>
        <p:nvSpPr>
          <p:cNvPr id="4" name="Text 2"/>
          <p:cNvSpPr/>
          <p:nvPr/>
        </p:nvSpPr>
        <p:spPr>
          <a:xfrm>
            <a:off x="274320" y="777240"/>
            <a:ext cx="8595360" cy="4114800"/>
          </a:xfrm>
          <a:prstGeom prst="rect">
            <a:avLst/>
          </a:prstGeom>
          <a:noFill/>
          <a:ln/>
        </p:spPr>
        <p:txBody>
          <a:bodyPr wrap="square" rtlCol="0" anchor="ctr"/>
          <a:lstStyle/>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Impedance: Z = R + jX  (j = √−1)</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Resistor: Z_R = R  (purely real)</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Capacitor: Z_C = 1/(jωC) = −j/(ωC)</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Inductor: Z_L = jωL</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Series RLC: Z = R + j(ωL − 1/ωC)</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Resonance: ω₀ = 1/√(LC)  ;  Q = ω₀L/R</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Ohm's Law (AC): V = IZ  (phasor form)</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Active Power: P = VI cos(φ)  [W]</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Reactive Power: Q = VI sin(φ)  [VAr]</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Apparent Power: S = VI* = P + jQ  [VA]</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Power Factor: pf = cos(φ) = P/|S|</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Kirchhoff's Current Law: ΣI = 0 (at node)</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Kirchhoff's Voltage Law: ΣV = 0 (around loop)</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Thevenin: Replace network with V_th + Z_th in series</a:t>
            </a:r>
            <a:endParaRPr lang="en-US" sz="1150" dirty="0"/>
          </a:p>
          <a:p>
            <a:pPr marL="342900" indent="-342900">
              <a:spcAft>
                <a:spcPts val="200"/>
              </a:spcAft>
              <a:buSzPct val="100000"/>
              <a:buChar char="•"/>
            </a:pPr>
            <a:r>
              <a:rPr lang="en-US" sz="1150" dirty="0">
                <a:solidFill>
                  <a:srgbClr val="2C3E50"/>
                </a:solidFill>
                <a:latin typeface="Calibri" pitchFamily="34" charset="0"/>
                <a:ea typeface="Calibri" pitchFamily="34" charset="-122"/>
                <a:cs typeface="Calibri" pitchFamily="34" charset="-120"/>
              </a:rPr>
              <a:t>Norton: Replace network with I_N parallel Z_N</a:t>
            </a:r>
            <a:pPr indent="0" marL="0">
              <a:buNone/>
            </a:pP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04</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Quantum Mechanics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Wave Functions, Operators, and Schrödinger's Equation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Schrödinger Equation &amp; Quantum Postulates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Time-Dependent SE:  iħ ∂Ψ/∂t = ĤΨ  =  [−ħ²/2m ∇² + V(r,t)]Ψ</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Time-Independent SE:  ĤΨ = EΨ  (stationary states)</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Normalization:  ∫|Ψ|² dV = 1  (probability interpretation)</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Expectation Value:  ⟨A⟩ = ∫ Ψ* Â Ψ dV</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Heisenberg Uncertainty:  ΔxΔp ≥ ħ/2  ;  ΔEΔt ≥ ħ/2</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De Broglie:  λ = h/p  ;  E = hf = ħω</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Commutator:  [x̂, p̂] = iħ  (canonical quantization condition)</a:t>
            </a:r>
            <a:endParaRPr lang="en-US" sz="1400" dirty="0"/>
          </a:p>
        </p:txBody>
      </p:sp>
      <p:sp>
        <p:nvSpPr>
          <p:cNvPr id="18" name="Text 16"/>
          <p:cNvSpPr/>
          <p:nvPr/>
        </p:nvSpPr>
        <p:spPr>
          <a:xfrm>
            <a:off x="457200" y="4983480"/>
            <a:ext cx="8229600" cy="-1143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Ψ(r,t) is the complex-valued wave function. |Ψ|² is the probability density. The Hamiltonian Ĥ is the total energy operator. Commuting observables share eigenstates; non-commuting ones are subject to uncertainty. The Copenhagen interpretation treats the wave function collapse as occurring upon measurement.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Hydrogen Atom – Energy Levels, Quantum Numbers &amp; Spectral Series</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645920"/>
                <a:gridCol w="1280160"/>
                <a:gridCol w="1280160"/>
                <a:gridCol w="2194560"/>
                <a:gridCol w="2194560"/>
              </a:tblGrid>
              <a:tr h="0">
                <a:tc>
                  <a:txBody>
                    <a:bodyPr/>
                    <a:lstStyle/>
                    <a:p>
                      <a:pPr indent="0" marL="0">
                        <a:buNone/>
                      </a:pPr>
                      <a:r>
                        <a:rPr lang="en-US" sz="1100" b="1" dirty="0">
                          <a:solidFill>
                            <a:srgbClr val="FFFFFF"/>
                          </a:solidFill>
                        </a:rPr>
                        <a:t>Series</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n_initial</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n_final</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Spectral Region</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100" b="1" dirty="0">
                          <a:solidFill>
                            <a:srgbClr val="FFFFFF"/>
                          </a:solidFill>
                        </a:rPr>
                        <a:t>Wavelength Range</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r>
              <a:tr h="0">
                <a:tc>
                  <a:txBody>
                    <a:bodyPr/>
                    <a:lstStyle/>
                    <a:p>
                      <a:pPr indent="0" marL="0">
                        <a:buNone/>
                      </a:pPr>
                      <a:r>
                        <a:rPr lang="en-US" sz="1100" dirty="0">
                          <a:solidFill>
                            <a:srgbClr val="2C3E50"/>
                          </a:solidFill>
                        </a:rPr>
                        <a:t>Lyman</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≥2</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1</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Ultraviolet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91–121 nm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1100" dirty="0">
                          <a:solidFill>
                            <a:srgbClr val="2C3E50"/>
                          </a:solidFill>
                        </a:rPr>
                        <a:t>Balmer</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≥3</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2</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Visible/Near-UV</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364–656 nm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C3E50"/>
                          </a:solidFill>
                        </a:rPr>
                        <a:t>Paschen</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≥4</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3</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Near-Infrared</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820–1875 nm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1100" dirty="0">
                          <a:solidFill>
                            <a:srgbClr val="2C3E50"/>
                          </a:solidFill>
                        </a:rPr>
                        <a:t>Brackett</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≥5</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4</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Infrared</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1100" dirty="0">
                          <a:solidFill>
                            <a:srgbClr val="2C3E50"/>
                          </a:solidFill>
                        </a:rPr>
                        <a:t>1.46–4.05 μm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C3E50"/>
                          </a:solidFill>
                        </a:rPr>
                        <a:t>Pfund</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≥6</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5</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Mid-Infrared</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1100" dirty="0">
                          <a:solidFill>
                            <a:srgbClr val="2C3E50"/>
                          </a:solidFill>
                        </a:rPr>
                        <a:t>2.28–7.46 μm</a:t>
                      </a:r>
                      <a:endParaRPr lang="en-US" sz="11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bl>
          </a:graphicData>
        </a:graphic>
      </p:graphicFrame>
      <p:sp>
        <p:nvSpPr>
          <p:cNvPr id="5" name="Text 2"/>
          <p:cNvSpPr/>
          <p:nvPr/>
        </p:nvSpPr>
        <p:spPr>
          <a:xfrm>
            <a:off x="274320" y="4114800"/>
            <a:ext cx="8595360" cy="822960"/>
          </a:xfrm>
          <a:prstGeom prst="rect">
            <a:avLst/>
          </a:prstGeom>
          <a:noFill/>
          <a:ln/>
        </p:spPr>
        <p:txBody>
          <a:bodyPr wrap="square" rtlCol="0" anchor="ctr"/>
          <a:lstStyle/>
          <a:p>
            <a:pPr indent="0" marL="0">
              <a:buNone/>
            </a:pPr>
            <a:r>
              <a:rPr lang="en-US" sz="1100" dirty="0">
                <a:solidFill>
                  <a:srgbClr val="2C3E50"/>
                </a:solidFill>
                <a:latin typeface="Calibri" pitchFamily="34" charset="0"/>
                <a:ea typeface="Calibri" pitchFamily="34" charset="-122"/>
                <a:cs typeface="Calibri" pitchFamily="34" charset="-120"/>
              </a:rPr>
              <a:t>Energy formula: E_n = −13.6 eV / n²  (n = 1,2,3,…). Quantum numbers: n (principal), l (angular momentum, 0 to n−1), m_l (magnetic, −l to +l), m_s (spin, ±½). Degeneracy per n: 2n². Rydberg constant R_∞ = 1.0974×10⁷ m⁻¹. Rydberg formula: 1/λ = R_∞(1/n₁² − 1/n₂²).</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05</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Calculus &amp; Differential Equations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Limits, Integration Theorems, and ODEs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Calculus Core: Fundamental Theorem, Series, and Transforms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Fundamental Theorem:  ∫_a^b f(x)dx = F(b) − F(a)  where F'(x) = f(x)</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Taylor Series:  f(x) = Σ_{n=0}^∞ f^(n)(a)/n! · (x−a)^n</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Euler's Formula:  e^(iθ) = cos(θ) + i sin(θ)  ⟹  e^(iπ) + 1 = 0</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Laplace Transform:  ℒ{f(t)} = F(s) = ∫_0^∞ f(t)e^(−st) dt</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Fourier Transform:  F(ω) = ∫_{−∞}^{+∞} f(t)e^(−iωt) dt</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Convolution Theorem:  ℒ{f*g} = F(s)·G(s)  ;  f*g = ∫f(τ)g(t−τ)dτ</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Green's Theorem:  ∮_C (Ldx + Mdy) = ∬_D (∂M/∂x − ∂L/∂y) dA</a:t>
            </a:r>
            <a:endParaRPr lang="en-US" sz="1400" dirty="0"/>
          </a:p>
        </p:txBody>
      </p:sp>
      <p:sp>
        <p:nvSpPr>
          <p:cNvPr id="18" name="Shape 16"/>
          <p:cNvSpPr/>
          <p:nvPr/>
        </p:nvSpPr>
        <p:spPr>
          <a:xfrm>
            <a:off x="457200" y="4983480"/>
            <a:ext cx="8229600" cy="502920"/>
          </a:xfrm>
          <a:prstGeom prst="rect">
            <a:avLst/>
          </a:prstGeom>
          <a:solidFill>
            <a:srgbClr val="F0F3F4"/>
          </a:solidFill>
          <a:ln w="19050">
            <a:solidFill>
              <a:srgbClr val="17A589"/>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Stokes' Theorem:  ∮_C F·dr = ∬_S (∇×F)·dS</a:t>
            </a:r>
            <a:endParaRPr lang="en-US" sz="1400" dirty="0"/>
          </a:p>
        </p:txBody>
      </p:sp>
      <p:sp>
        <p:nvSpPr>
          <p:cNvPr id="20" name="Shape 18"/>
          <p:cNvSpPr/>
          <p:nvPr/>
        </p:nvSpPr>
        <p:spPr>
          <a:xfrm>
            <a:off x="457200" y="5577840"/>
            <a:ext cx="8229600" cy="502920"/>
          </a:xfrm>
          <a:prstGeom prst="rect">
            <a:avLst/>
          </a:prstGeom>
          <a:solidFill>
            <a:srgbClr val="F0F3F4"/>
          </a:solidFill>
          <a:ln w="19050">
            <a:solidFill>
              <a:srgbClr val="17A589"/>
            </a:solidFill>
            <a:prstDash val="solid"/>
          </a:ln>
        </p:spPr>
      </p:sp>
      <p:sp>
        <p:nvSpPr>
          <p:cNvPr id="21" name="Text 19"/>
          <p:cNvSpPr/>
          <p:nvPr/>
        </p:nvSpPr>
        <p:spPr>
          <a:xfrm>
            <a:off x="548640" y="56052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Divergence Theorem:  ∯_S F·dS = ∭_V (∇·F) dV</a:t>
            </a:r>
            <a:endParaRPr lang="en-US" sz="1400" dirty="0"/>
          </a:p>
        </p:txBody>
      </p:sp>
      <p:sp>
        <p:nvSpPr>
          <p:cNvPr id="22" name="Text 20"/>
          <p:cNvSpPr/>
          <p:nvPr/>
        </p:nvSpPr>
        <p:spPr>
          <a:xfrm>
            <a:off x="457200" y="6172200"/>
            <a:ext cx="8229600" cy="-130302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These identities connect local and global properties of functions and vector fields. Euler's formula is the most beautiful equation in mathematics. The Laplace and Fourier transforms convert differential equations into algebraic ones — essential tools in control theory, signal processing, and physics.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4057"/>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Ordinary Differential Equations – Classification and Solution Methods</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645920"/>
                <a:gridCol w="2194560"/>
                <a:gridCol w="2194560"/>
                <a:gridCol w="2560320"/>
              </a:tblGrid>
              <a:tr h="0">
                <a:tc>
                  <a:txBody>
                    <a:bodyPr/>
                    <a:lstStyle/>
                    <a:p>
                      <a:pPr indent="0" marL="0">
                        <a:buNone/>
                      </a:pPr>
                      <a:r>
                        <a:rPr lang="en-US" sz="1100" b="1" dirty="0">
                          <a:solidFill>
                            <a:srgbClr val="FFFFFF"/>
                          </a:solidFill>
                        </a:rPr>
                        <a:t>Type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Form</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Solution Method</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Example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r>
              <a:tr h="0">
                <a:tc>
                  <a:txBody>
                    <a:bodyPr/>
                    <a:lstStyle/>
                    <a:p>
                      <a:pPr indent="0" marL="0">
                        <a:buNone/>
                      </a:pPr>
                      <a:r>
                        <a:rPr lang="en-US" sz="1000" dirty="0">
                          <a:solidFill>
                            <a:srgbClr val="2C3E50"/>
                          </a:solidFill>
                        </a:rPr>
                        <a:t>Separable</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dy/dx = g(x)h(y)</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Separate &amp; integrate</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dy/y = dx  ⟹  y = Ce^x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Linear 1st-order</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y' + P(x)y = Q(x)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Integrating factor μ=e^∫P dx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y' + y = e^x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Exact</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M dx + N dy = 0, M_y=N_x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Find potential function F</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∂F/∂x=M, ∂F/∂y=N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Bernoulli</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y' + P(x)y = Q(x)yⁿ</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Substitution v = y^(1−n)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y' − y = y²</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Homogeneous 2nd</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ay'' + by' + cy = 0</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Characteristic equation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r² + br/a + c/a = 0</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Non-homogeneous</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ay'' + by' + cy = g(x)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Particular + complementary</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Variation of parameters</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Cauchy–Euler</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ax²y'' + bxy' + cy = 0</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Try y = x^m</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Euler's substitution t=ln x</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06</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Probability &amp; Statistics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Distributions, Hypothesis Testing, and Bayesian Inference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Key Probability Distributions – Parameters and Properties</a:t>
            </a:r>
            <a:endParaRPr lang="en-US" sz="1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554480"/>
                <a:gridCol w="2560320"/>
                <a:gridCol w="914400"/>
                <a:gridCol w="1371600"/>
                <a:gridCol w="2377440"/>
              </a:tblGrid>
              <a:tr h="0">
                <a:tc>
                  <a:txBody>
                    <a:bodyPr/>
                    <a:lstStyle/>
                    <a:p>
                      <a:pPr indent="0" marL="0">
                        <a:buNone/>
                      </a:pPr>
                      <a:r>
                        <a:rPr lang="en-US" sz="1100" b="1" dirty="0">
                          <a:solidFill>
                            <a:srgbClr val="FFFFFF"/>
                          </a:solidFill>
                        </a:rPr>
                        <a:t>Distribution</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100" b="1" dirty="0">
                          <a:solidFill>
                            <a:srgbClr val="FFFFFF"/>
                          </a:solidFill>
                        </a:rPr>
                        <a:t>PMF / PDF</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100" b="1" dirty="0">
                          <a:solidFill>
                            <a:srgbClr val="FFFFFF"/>
                          </a:solidFill>
                        </a:rPr>
                        <a:t>Mean</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100" b="1" dirty="0">
                          <a:solidFill>
                            <a:srgbClr val="FFFFFF"/>
                          </a:solidFill>
                        </a:rPr>
                        <a:t>Variance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100" b="1" dirty="0">
                          <a:solidFill>
                            <a:srgbClr val="FFFFFF"/>
                          </a:solidFill>
                        </a:rPr>
                        <a:t>MGF</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r>
              <a:tr h="0">
                <a:tc>
                  <a:txBody>
                    <a:bodyPr/>
                    <a:lstStyle/>
                    <a:p>
                      <a:pPr indent="0" marL="0">
                        <a:buNone/>
                      </a:pPr>
                      <a:r>
                        <a:rPr lang="en-US" sz="950" dirty="0">
                          <a:solidFill>
                            <a:srgbClr val="2C3E50"/>
                          </a:solidFill>
                        </a:rPr>
                        <a:t>Bernoulli(p)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P(X=k)=pᵏ(1-p)^(1-k)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p(1-p)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1-p+pe^t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Binomial(n,p)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C(n,k)pᵏ(1-p)^(n-k)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np(1-p)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(1-p+pe^t)ⁿ</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Poisson(λ)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e^(−λ)λᵏ/k!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exp(λ(e^t−1))</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Normal(μ,σ²)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(2πσ²)^(-½)exp(−(x-μ)²/2σ²)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μ</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σ²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exp(μt+σ²t²/2)</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Exponential(λ)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λe^(−λx)  (x≥0)</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1/λ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1/λ²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λ/(λ-t) for t&lt;λ</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Gamma(α,β)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x^(α-1)e^(-x/β)/(β^α Γ(α))</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αβ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αβ²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(1-βt)^(-α)</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Beta(α,β)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x^(α-1)(1-x)^(β-1)/B(α,β)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α/(α+β)</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αβ/((α+β)²(α+β+1))</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Complex</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Chi-squared(k)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Special case Gamma(k/2,2)</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2k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(1-2t)^(-k/2)</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Hypothesis Testing – Steps, Test Statistics &amp; Error Types</a:t>
            </a:r>
            <a:endParaRPr lang="en-US" sz="2000" dirty="0"/>
          </a:p>
        </p:txBody>
      </p:sp>
      <p:sp>
        <p:nvSpPr>
          <p:cNvPr id="4" name="Text 2"/>
          <p:cNvSpPr/>
          <p:nvPr/>
        </p:nvSpPr>
        <p:spPr>
          <a:xfrm>
            <a:off x="365760" y="777240"/>
            <a:ext cx="8412480" cy="4023360"/>
          </a:xfrm>
          <a:prstGeom prst="rect">
            <a:avLst/>
          </a:prstGeom>
          <a:noFill/>
          <a:ln/>
        </p:spPr>
        <p:txBody>
          <a:bodyPr wrap="square" rtlCol="0" anchor="ctr"/>
          <a:lstStyle/>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Step 1 – State hypotheses: H₀ (null) and H₁ (alternative). Decide one-tailed vs two-tailed test based on research question.</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Step 2 – Choose significance level α (commonly 0.05 or 0.01). This is the acceptable probability of a Type I error.</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Step 3 – Select test statistic: z = (x̄ − μ₀)/(σ/√n) for known σ; t = (x̄ − μ₀)/(s/√n) with df = n−1 for unknown σ.</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Step 4 – Compute p-value: P(observing result as or more extreme | H₀ true). Reject H₀ if p-value &lt; α.</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Step 5 – Effect size: Cohen's d = (x̄₁ − x̄₂)/s_pooled. Small d≈0.2, medium d≈0.5, large d≥0.8.</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Type I Error (α): Rejecting a true H₀. Type II Error (β): Failing to reject a false H₀. Power = 1 − β.</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ANOVA F-statistic: F = MS_between / MS_within where MS = SS/df. Tests equality of means across ≥3 groups.</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Chi-square test: χ² = Σ(O−E)²/E. Tests independence (contingency table) or goodness-of-fit to distribution.</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Multiple testing correction: Bonferroni α_adjusted = α/m; Benjamini–Hochberg controls False Discovery Rate.</a:t>
            </a:r>
            <a:endParaRPr lang="en-US" sz="1300" dirty="0"/>
          </a:p>
          <a:p>
            <a:pP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Reference: Field, A. (2018). Discovering Statistics Using IBM SPSS Statistics, 5th ed.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Bayesian Inference – Theorem, Priors, and Posterior Updates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Bayes' Theorem:  P(H|D) = P(D|H)·P(H) / P(D)</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Posterior  ∝  Likelihood × Prior:  π(θ|x) ∝ L(x|θ)·π(θ)</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Beta-Binomial conjugacy:  Beta(α,β) prior + Binomial(n,p) → Beta(α+k, β+n-k)</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MAP Estimate:  θ_MAP = argmax_θ [log L(x|θ) + log π(θ)]</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Marginal Likelihood (evidence):  P(D) = ∫ P(D|θ)π(θ)dθ</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Credible Interval vs CI: Bayesian 95% CI means 'P(θ ∈ [a,b]|D) = 0.95'</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MCMC (Metropolis-Hastings): Propose θ* ~ q(θ*|θ), accept with P = min(1, π(θ*)L(x|θ*)q(θ|θ*) / [π(θ)L(x|θ)q(θ*|θ)])</a:t>
            </a:r>
            <a:endParaRPr lang="en-US" sz="1400" dirty="0"/>
          </a:p>
        </p:txBody>
      </p:sp>
      <p:sp>
        <p:nvSpPr>
          <p:cNvPr id="18" name="Text 16"/>
          <p:cNvSpPr/>
          <p:nvPr/>
        </p:nvSpPr>
        <p:spPr>
          <a:xfrm>
            <a:off x="457200" y="4983480"/>
            <a:ext cx="8229600" cy="-1143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Bayesian methods treat parameters as random variables with distributions. The prior encodes belief before seeing data; the posterior updates that belief. Conjugate priors yield closed-form posteriors — e.g., Beta-Binomial, Normal-Normal, Dirichlet-Multinomial. MCMC is required when the posterior is intractable.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Fundamental Physical Constants – Orders of Magnitude (log₁₀ scale)</a:t>
            </a:r>
            <a:endParaRPr lang="en-US" sz="1800" dirty="0"/>
          </a:p>
        </p:txBody>
      </p:sp>
      <p:graphicFrame>
        <p:nvGraphicFramePr>
          <p:cNvPr id="4" name="Chart 0" descr=""/>
          <p:cNvGraphicFramePr/>
          <p:nvPr/>
        </p:nvGraphicFramePr>
        <p:xfrm>
          <a:off x="274320" y="777240"/>
          <a:ext cx="8595360" cy="402336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07</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Linear Algebra</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Vectors, Matrices, Eigenvalues &amp; Transformations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Matrix Algebra – Decompositions and Key Theorems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Matrix Multiplication:  (AB)_ij = Σ_k A_ik B_kj  (not commutative in general)</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Determinant (2×2):  det(A) = ad − bc  ;  Invertible ⟺ det(A) ≠ 0</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Eigenvalue Problem:  Av = λv  ⟺  det(A − λI) = 0  (characteristic polynomial)</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Spectral Theorem:  A = QΛQ⁻¹  (diagonalization, if n lin. indep. eigenvectors)</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SVD:  A = UΣVᵀ  (U, V unitary; Σ diagonal non-negative real)</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LU Decomposition:  A = LU  (L lower, U upper triangular; used for Ax=b)</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QR Decomposition:  A = QR  (Q orthogonal, R upper triangular; least-squares)</a:t>
            </a:r>
            <a:endParaRPr lang="en-US" sz="1400" dirty="0"/>
          </a:p>
        </p:txBody>
      </p:sp>
      <p:sp>
        <p:nvSpPr>
          <p:cNvPr id="18" name="Shape 16"/>
          <p:cNvSpPr/>
          <p:nvPr/>
        </p:nvSpPr>
        <p:spPr>
          <a:xfrm>
            <a:off x="457200" y="4983480"/>
            <a:ext cx="8229600" cy="502920"/>
          </a:xfrm>
          <a:prstGeom prst="rect">
            <a:avLst/>
          </a:prstGeom>
          <a:solidFill>
            <a:srgbClr val="F0F3F4"/>
          </a:solidFill>
          <a:ln w="19050">
            <a:solidFill>
              <a:srgbClr val="17A589"/>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Cayley-Hamilton:  Every matrix satisfies its own characteristic equation</a:t>
            </a:r>
            <a:endParaRPr lang="en-US" sz="1400" dirty="0"/>
          </a:p>
        </p:txBody>
      </p:sp>
      <p:sp>
        <p:nvSpPr>
          <p:cNvPr id="20" name="Text 18"/>
          <p:cNvSpPr/>
          <p:nvPr/>
        </p:nvSpPr>
        <p:spPr>
          <a:xfrm>
            <a:off x="457200" y="5577840"/>
            <a:ext cx="8229600" cy="-70866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SVD is the most powerful decomposition: it exists for any m×n matrix and reveals rank, null space, and range. For symmetric positive definite A, SVD reduces to eigendecomposition. PCA uses SVD on the data covariance matrix. Condition number κ = σ_max/σ_min measures numerical stability.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Vector Spaces – Axioms, Basis, and Inner Product Spaces</a:t>
            </a:r>
            <a:endParaRPr lang="en-US" sz="2000" dirty="0"/>
          </a:p>
        </p:txBody>
      </p:sp>
      <p:sp>
        <p:nvSpPr>
          <p:cNvPr id="4" name="Text 2"/>
          <p:cNvSpPr/>
          <p:nvPr/>
        </p:nvSpPr>
        <p:spPr>
          <a:xfrm>
            <a:off x="365760" y="777240"/>
            <a:ext cx="8412480" cy="4023360"/>
          </a:xfrm>
          <a:prstGeom prst="rect">
            <a:avLst/>
          </a:prstGeom>
          <a:noFill/>
          <a:ln/>
        </p:spPr>
        <p:txBody>
          <a:bodyPr wrap="square" rtlCol="0" anchor="ctr"/>
          <a:lstStyle/>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Axioms of a vector space V over field F: (1) Closure under + and scalar mult. (2) Commutativity and associativity of +. (3) Additive identity 0. (4) Additive inverse. (5) Distributivity of scalar mult.</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Basis: A linearly independent spanning set S. dim(V) = |S|. Any two bases of V have the same cardinality.</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Rank-Nullity Theorem: rank(A) + nullity(A) = n  (for m×n matrix A). rank = dim(column space), nullity = dim(null space).</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Inner Product Space: ⟨u,v⟩ must be: linear in first arg, conjugate-symmetric, positive definite. For ℝⁿ: ⟨u,v⟩ = uᵀv.</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Cauchy–Schwarz Inequality: |⟨u,v⟩| ≤ ‖u‖·‖v‖. Equality iff u = λv.</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Gram-Schmidt Process: Converts any basis {v₁,…,vₙ} to orthonormal basis {e₁,…,eₙ} via projection subtraction.</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Projection onto subspace W: P = A(AᵀA)⁻¹Aᵀ  (columns of A span W). P² = P and Pᵀ = P (idempotent, symmetric).</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Spectral Decomposition (symmetric A): A = Σλᵢeᵢeᵢᵀ  (sum over eigenvalues; eᵢ are orthonormal eigenvectors).</a:t>
            </a:r>
            <a:endParaRPr lang="en-US" sz="1300" dirty="0"/>
          </a:p>
          <a:p>
            <a:pP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Source: Axler, Linear Algebra Done Right, 3rd ed.; Strang, Introduction to Linear Algebra, 5th ed.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08</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Information Theory &amp; Coding</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Entropy, Channel Capacity, and Error Correction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Shannon Information Theory – Core Measures and Limits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Self-Information:  I(x) = −log₂ P(x)  [bits]</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Shannon Entropy:  H(X) = −Σ P(x) log₂ P(x)  [bits/symbol]</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Joint Entropy:  H(X,Y) = −ΣΣ P(x,y) log₂ P(x,y)</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Conditional Entropy:  H(Y|X) = H(X,Y) − H(X)</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Mutual Information:  I(X;Y) = H(X) + H(Y) − H(X,Y) = KL(P(X,Y) ‖ P(X)P(Y))</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KL Divergence:  D_KL(P‖Q) = Σ P(x) log[P(x)/Q(x)]  ≥ 0  (Gibbs' inequality)</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Channel Capacity:  C = max_{P(X)} I(X;Y)  [bits/channel use]</a:t>
            </a:r>
            <a:endParaRPr lang="en-US" sz="1400" dirty="0"/>
          </a:p>
        </p:txBody>
      </p:sp>
      <p:sp>
        <p:nvSpPr>
          <p:cNvPr id="18" name="Shape 16"/>
          <p:cNvSpPr/>
          <p:nvPr/>
        </p:nvSpPr>
        <p:spPr>
          <a:xfrm>
            <a:off x="457200" y="4983480"/>
            <a:ext cx="8229600" cy="502920"/>
          </a:xfrm>
          <a:prstGeom prst="rect">
            <a:avLst/>
          </a:prstGeom>
          <a:solidFill>
            <a:srgbClr val="F0F3F4"/>
          </a:solidFill>
          <a:ln w="19050">
            <a:solidFill>
              <a:srgbClr val="17A589"/>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AWGN Capacity:  C = B log₂(1 + SNR)  (Shannon–Hartley; B = bandwidth)</a:t>
            </a:r>
            <a:endParaRPr lang="en-US" sz="1400" dirty="0"/>
          </a:p>
        </p:txBody>
      </p:sp>
      <p:sp>
        <p:nvSpPr>
          <p:cNvPr id="20" name="Text 18"/>
          <p:cNvSpPr/>
          <p:nvPr/>
        </p:nvSpPr>
        <p:spPr>
          <a:xfrm>
            <a:off x="457200" y="5577840"/>
            <a:ext cx="8229600" cy="-70866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Mutual information is symmetric: I(X;Y) = I(Y;X). KL divergence is NOT symmetric — it is not a metric. The channel capacity theorem (Shannon 1948) states that communication below C is achievable with arbitrarily low error; above C, error is unavoidable. Modern capacity-achieving codes: turbo codes, LDPC, and polar codes.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4057"/>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Error-Correcting Codes – Classification and Parameters</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463040"/>
                <a:gridCol w="1463040"/>
                <a:gridCol w="1097280"/>
                <a:gridCol w="1371600"/>
                <a:gridCol w="1554480"/>
                <a:gridCol w="1828800"/>
              </a:tblGrid>
              <a:tr h="0">
                <a:tc>
                  <a:txBody>
                    <a:bodyPr/>
                    <a:lstStyle/>
                    <a:p>
                      <a:pPr indent="0" marL="0">
                        <a:buNone/>
                      </a:pPr>
                      <a:r>
                        <a:rPr lang="en-US" sz="1050" b="1" dirty="0">
                          <a:solidFill>
                            <a:srgbClr val="FFFFFF"/>
                          </a:solidFill>
                        </a:rPr>
                        <a:t>Code</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050" b="1" dirty="0">
                          <a:solidFill>
                            <a:srgbClr val="FFFFFF"/>
                          </a:solidFill>
                        </a:rPr>
                        <a:t>Type</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050" b="1" dirty="0">
                          <a:solidFill>
                            <a:srgbClr val="FFFFFF"/>
                          </a:solidFill>
                        </a:rPr>
                        <a:t>Rate k/n</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050" b="1" dirty="0">
                          <a:solidFill>
                            <a:srgbClr val="FFFFFF"/>
                          </a:solidFill>
                        </a:rPr>
                        <a:t>Min Distance d</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050" b="1" dirty="0">
                          <a:solidFill>
                            <a:srgbClr val="FFFFFF"/>
                          </a:solidFill>
                        </a:rPr>
                        <a:t>Errors Correctable</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050" b="1" dirty="0">
                          <a:solidFill>
                            <a:srgbClr val="FFFFFF"/>
                          </a:solidFill>
                        </a:rPr>
                        <a:t>Application</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r>
              <a:tr h="0">
                <a:tc>
                  <a:txBody>
                    <a:bodyPr/>
                    <a:lstStyle/>
                    <a:p>
                      <a:pPr indent="0" marL="0">
                        <a:buNone/>
                      </a:pPr>
                      <a:r>
                        <a:rPr lang="en-US" sz="950" dirty="0">
                          <a:solidFill>
                            <a:srgbClr val="2C3E50"/>
                          </a:solidFill>
                        </a:rPr>
                        <a:t>Hamming(7,4)</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Linear block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4/7 ≈ 0.57</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3</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1-bit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DRAM ECC</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950" dirty="0">
                          <a:solidFill>
                            <a:srgbClr val="2C3E50"/>
                          </a:solidFill>
                        </a:rPr>
                        <a:t>Reed-Solomon(n,k)</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Non-binary cyclic</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(n-k)/n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n-k+1</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⌊(d-1)/2⌋</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QR codes, CDs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BCH codes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Binary cyclic</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Variable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Designed-in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t errors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Satellite comms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950" dirty="0">
                          <a:solidFill>
                            <a:srgbClr val="2C3E50"/>
                          </a:solidFill>
                        </a:rPr>
                        <a:t>Turbo code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Parallel concat.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~1/2 to 1/3</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Variable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~Shannon limit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3G/4G cellular</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LDPC code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Sparse graph</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~1/2</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Linear in 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Near-capacity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950" dirty="0">
                          <a:solidFill>
                            <a:srgbClr val="2C3E50"/>
                          </a:solidFill>
                        </a:rPr>
                        <a:t>5G NR, WiFi</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950" dirty="0">
                          <a:solidFill>
                            <a:srgbClr val="2C3E50"/>
                          </a:solidFill>
                        </a:rPr>
                        <a:t>Polar code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Channel-polarizing</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k/n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Exponential</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Near-capacity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5G control ch.</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bl>
          </a:graphicData>
        </a:graphic>
      </p:graphicFrame>
      <p:sp>
        <p:nvSpPr>
          <p:cNvPr id="5" name="Text 2"/>
          <p:cNvSpPr/>
          <p:nvPr/>
        </p:nvSpPr>
        <p:spPr>
          <a:xfrm>
            <a:off x="274320" y="4572000"/>
            <a:ext cx="8595360" cy="45720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Singleton Bound: d ≤ n − k + 1. MDS (Maximum Distance Separable) codes meet this bound — Reed-Solomon is an example. Hamming Bound (sphere packing): Σᵢ₌₀ᵗ C(n,i) ≤ 2^(n-k). Perfect codes (e.g., Hamming, Golay) achieve this bound with equality.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09</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Special Relativity &amp; Modern Physics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Lorentz Transforms, Mass-Energy, and Particle Physics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Special Relativity – Lorentz Transformations and Relativistic Kinematics</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Postulates: (1) Laws of physics identical in all inertial frames. (2) c = 2.998×10⁸ m/s is constant in all frames.</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Lorentz Factor:  γ = 1/√(1 − v²/c²)  ;  β = v/c</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Time Dilation:  Δt' = γΔt  (moving clocks run slow)</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Length Contraction:  L' = L/γ  (moving rods shrink along motion axis)</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Lorentz Transform:  x' = γ(x − vt)  ;  t' = γ(t − vx/c²)</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Relativistic Momentum:  p = γmv  ;  Energy: E = γmc²  ;  Rest energy: E₀ = mc²</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Energy-Momentum Relation:  E² = (pc)² + (mc²)²  (invariant: m²c⁴ = E² − p²c²)</a:t>
            </a:r>
            <a:endParaRPr lang="en-US" sz="1400" dirty="0"/>
          </a:p>
        </p:txBody>
      </p:sp>
      <p:sp>
        <p:nvSpPr>
          <p:cNvPr id="18" name="Shape 16"/>
          <p:cNvSpPr/>
          <p:nvPr/>
        </p:nvSpPr>
        <p:spPr>
          <a:xfrm>
            <a:off x="457200" y="4983480"/>
            <a:ext cx="8229600" cy="502920"/>
          </a:xfrm>
          <a:prstGeom prst="rect">
            <a:avLst/>
          </a:prstGeom>
          <a:solidFill>
            <a:srgbClr val="F0F3F4"/>
          </a:solidFill>
          <a:ln w="19050">
            <a:solidFill>
              <a:srgbClr val="17A589"/>
            </a:solidFill>
            <a:prstDash val="solid"/>
          </a:ln>
        </p:spPr>
      </p:sp>
      <p:sp>
        <p:nvSpPr>
          <p:cNvPr id="19" name="Text 17"/>
          <p:cNvSpPr/>
          <p:nvPr/>
        </p:nvSpPr>
        <p:spPr>
          <a:xfrm>
            <a:off x="548640" y="50109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Velocity Addition:  u' = (u − v)/(1 − uv/c²)  (never exceeds c)</a:t>
            </a:r>
            <a:endParaRPr lang="en-US" sz="1400" dirty="0"/>
          </a:p>
        </p:txBody>
      </p:sp>
      <p:sp>
        <p:nvSpPr>
          <p:cNvPr id="20" name="Shape 18"/>
          <p:cNvSpPr/>
          <p:nvPr/>
        </p:nvSpPr>
        <p:spPr>
          <a:xfrm>
            <a:off x="457200" y="5577840"/>
            <a:ext cx="8229600" cy="502920"/>
          </a:xfrm>
          <a:prstGeom prst="rect">
            <a:avLst/>
          </a:prstGeom>
          <a:solidFill>
            <a:srgbClr val="F0F3F4"/>
          </a:solidFill>
          <a:ln w="19050">
            <a:solidFill>
              <a:srgbClr val="17A589"/>
            </a:solidFill>
            <a:prstDash val="solid"/>
          </a:ln>
        </p:spPr>
      </p:sp>
      <p:sp>
        <p:nvSpPr>
          <p:cNvPr id="21" name="Text 19"/>
          <p:cNvSpPr/>
          <p:nvPr/>
        </p:nvSpPr>
        <p:spPr>
          <a:xfrm>
            <a:off x="548640" y="56052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4-Momentum:  p^μ = (E/c, p)  ;  Invariant: p^μ p_μ = m²c² (Minkowski metric)</a:t>
            </a:r>
            <a:endParaRPr lang="en-US" sz="1400" dirty="0"/>
          </a:p>
        </p:txBody>
      </p:sp>
      <p:sp>
        <p:nvSpPr>
          <p:cNvPr id="22" name="Text 20"/>
          <p:cNvSpPr/>
          <p:nvPr/>
        </p:nvSpPr>
        <p:spPr>
          <a:xfrm>
            <a:off x="457200" y="6172200"/>
            <a:ext cx="8229600" cy="-130302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 spacetime interval s² = c²t² − x² − y² − z² is invariant under Lorentz transformations. Massless particles (photons) travel at c and have E = pc. For v ≪ c, relativistic momentum reduces to classical p ≈ mv and E ≈ mc² + ½mv².</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Standard Model of Particle Physics – Particle Classification</a:t>
            </a:r>
            <a:endParaRPr lang="en-US" sz="1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188720"/>
                <a:gridCol w="1554480"/>
                <a:gridCol w="822960"/>
                <a:gridCol w="914400"/>
                <a:gridCol w="1554480"/>
                <a:gridCol w="640080"/>
                <a:gridCol w="2103120"/>
              </a:tblGrid>
              <a:tr h="0">
                <a:tc>
                  <a:txBody>
                    <a:bodyPr/>
                    <a:lstStyle/>
                    <a:p>
                      <a:pPr indent="0" marL="0">
                        <a:buNone/>
                      </a:pPr>
                      <a:r>
                        <a:rPr lang="en-US" sz="1000" b="1" dirty="0">
                          <a:solidFill>
                            <a:srgbClr val="FFFFFF"/>
                          </a:solidFill>
                        </a:rPr>
                        <a:t>Category</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Particle</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Symbol</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Charge (e)</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Mass (MeV/c²)</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Spin</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00" b="1" dirty="0">
                          <a:solidFill>
                            <a:srgbClr val="FFFFFF"/>
                          </a:solidFill>
                        </a:rPr>
                        <a:t>Force/Interaction</a:t>
                      </a:r>
                      <a:endParaRPr lang="en-US" sz="10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r>
              <a:tr h="0">
                <a:tc>
                  <a:txBody>
                    <a:bodyPr/>
                    <a:lstStyle/>
                    <a:p>
                      <a:pPr indent="0" marL="0">
                        <a:buNone/>
                      </a:pPr>
                      <a:r>
                        <a:rPr lang="en-US" sz="900" dirty="0">
                          <a:solidFill>
                            <a:srgbClr val="2C3E50"/>
                          </a:solidFill>
                        </a:rPr>
                        <a:t>Lepton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Electron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0.511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EM, 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Lepton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Muon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μ⁻</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105.66</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EM, 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Lepton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Electron neutrino</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νₑ</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&lt;0.0022×10⁻³</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Quark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Up</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u</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+2/3</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2.2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Strong, EM, 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Quark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Down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d</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−1/3</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4.7</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Strong, EM, 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Quark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Top</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t</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+2/3</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172,900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1/2</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Strong, EM, Weak</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Gauge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Photon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γ</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EM force carrier</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Gauge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W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W±</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80,379</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Weak force carrier</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Gauge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Gluon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g</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1</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Strong force carrier</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Scalar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Higgs boson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H⁰</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125,100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0</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Mass generation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10</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Computer Science &amp; Algorithms</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Complexity, Data Structures, and Cryptography</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Computational Complexity Classes and Landmark Problems</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097280"/>
                <a:gridCol w="1828800"/>
                <a:gridCol w="1828800"/>
                <a:gridCol w="1828800"/>
                <a:gridCol w="2194560"/>
              </a:tblGrid>
              <a:tr h="0">
                <a:tc>
                  <a:txBody>
                    <a:bodyPr/>
                    <a:lstStyle/>
                    <a:p>
                      <a:pPr indent="0" marL="0">
                        <a:buNone/>
                      </a:pPr>
                      <a:r>
                        <a:rPr lang="en-US" sz="1050" b="1" dirty="0">
                          <a:solidFill>
                            <a:srgbClr val="FFFFFF"/>
                          </a:solidFill>
                        </a:rPr>
                        <a:t>Class</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050" b="1" dirty="0">
                          <a:solidFill>
                            <a:srgbClr val="FFFFFF"/>
                          </a:solidFill>
                        </a:rPr>
                        <a:t>Definition</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050" b="1" dirty="0">
                          <a:solidFill>
                            <a:srgbClr val="FFFFFF"/>
                          </a:solidFill>
                        </a:rPr>
                        <a:t>Characteristic Problem</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050" b="1" dirty="0">
                          <a:solidFill>
                            <a:srgbClr val="FFFFFF"/>
                          </a:solidFill>
                        </a:rPr>
                        <a:t>Best Known Algorithm</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c>
                  <a:txBody>
                    <a:bodyPr/>
                    <a:lstStyle/>
                    <a:p>
                      <a:pPr indent="0" marL="0">
                        <a:buNone/>
                      </a:pPr>
                      <a:r>
                        <a:rPr lang="en-US" sz="1050" b="1" dirty="0">
                          <a:solidFill>
                            <a:srgbClr val="FFFFFF"/>
                          </a:solidFill>
                        </a:rPr>
                        <a:t>Status vs P</a:t>
                      </a:r>
                      <a:endParaRPr lang="en-US" sz="10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C3E50"/>
                    </a:solidFill>
                  </a:tcPr>
                </a:tc>
              </a:tr>
              <a:tr h="0">
                <a:tc>
                  <a:txBody>
                    <a:bodyPr/>
                    <a:lstStyle/>
                    <a:p>
                      <a:pPr indent="0" marL="0">
                        <a:buNone/>
                      </a:pPr>
                      <a:r>
                        <a:rPr lang="en-US" sz="950" dirty="0">
                          <a:solidFill>
                            <a:srgbClr val="2C3E50"/>
                          </a:solidFill>
                        </a:rPr>
                        <a:t>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Deterministic polynomial time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Sorting (Mergesort)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O(n log 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 ⊆ P (trivially)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Nondeterministic poly. / verifiable poly.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SAT, Clique, Vertex Cover</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Exponential (known)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P ⊆ NP; P=NP? open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NP-Hard</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At least as hard as NP-complete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Traveling Salesman (opt.)</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Approx. + exact exp.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Contains all 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NP-Complete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NP ∩ NP-Hard</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3-SAT (Cook 1971)</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No poly. known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Equivalent under reductions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PSPACE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Poly. space Turing machine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QBF (Quantified Boolean)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Exp. time generally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NP ⊆ PSPACE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BPP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Bounded-error probabilistic poly.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Primality (pre-AKS)</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AKS (2002) is in 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P ⊆ BPP ⊆ PSPACE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2C3E50"/>
                          </a:solidFill>
                        </a:rPr>
                        <a:t>BQP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Bounded-error quantum poly.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Integer Factoring</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Shor's Algorithm</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c>
                  <a:txBody>
                    <a:bodyPr/>
                    <a:lstStyle/>
                    <a:p>
                      <a:pPr indent="0" marL="0">
                        <a:buNone/>
                      </a:pPr>
                      <a:r>
                        <a:rPr lang="en-US" sz="950" dirty="0">
                          <a:solidFill>
                            <a:srgbClr val="2C3E50"/>
                          </a:solidFill>
                        </a:rPr>
                        <a:t>P ⊆ BQP, BQP ⊆ PSPACE</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4F6F7"/>
                    </a:solidFill>
                  </a:tcPr>
                </a:tc>
              </a:tr>
              <a:tr h="0">
                <a:tc>
                  <a:txBody>
                    <a:bodyPr/>
                    <a:lstStyle/>
                    <a:p>
                      <a:pPr indent="0" marL="0">
                        <a:buNone/>
                      </a:pPr>
                      <a:r>
                        <a:rPr lang="en-US" sz="950" dirty="0">
                          <a:solidFill>
                            <a:srgbClr val="2C3E50"/>
                          </a:solidFill>
                        </a:rPr>
                        <a:t>co-NP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Complement of NP</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TAUTOLOGY</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No poly. known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950" dirty="0">
                          <a:solidFill>
                            <a:srgbClr val="2C3E50"/>
                          </a:solidFill>
                        </a:rPr>
                        <a:t>NP ⊆ co-NP? open</a:t>
                      </a:r>
                      <a:endParaRPr lang="en-US" sz="95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Modern Cryptography – Algorithms, Key Lengths &amp; Security Properties</a:t>
            </a:r>
            <a:endParaRPr lang="en-US" sz="2000" dirty="0"/>
          </a:p>
        </p:txBody>
      </p:sp>
      <p:sp>
        <p:nvSpPr>
          <p:cNvPr id="4" name="Text 2"/>
          <p:cNvSpPr/>
          <p:nvPr/>
        </p:nvSpPr>
        <p:spPr>
          <a:xfrm>
            <a:off x="365760" y="777240"/>
            <a:ext cx="8412480" cy="4023360"/>
          </a:xfrm>
          <a:prstGeom prst="rect">
            <a:avLst/>
          </a:prstGeom>
          <a:noFill/>
          <a:ln/>
        </p:spPr>
        <p:txBody>
          <a:bodyPr wrap="square" rtlCol="0" anchor="ctr"/>
          <a:lstStyle/>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RSA (1977): Security based on integer factorization hardness. Key generation: choose primes p,q; n=pq; φ(n)=(p−1)(q−1); e coprime to φ(n); d=e⁻¹ mod φ(n). Encrypt: C = Mᵉ mod n. Decrypt: M = Cᵈ mod n. Recommended minimum 2048-bit keys (3072-bit for 2030+).</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Elliptic Curve Diffie-Hellman (ECDH): Points on curve E: y²=x³+ax+b over finite field F_p. Key exchange: Shared secret = k_A · k_B · G (where G is generator point). NIST P-256 provides ~128-bit security with 256-bit keys vs RSA's 3072 bits.</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AES (Advanced Encryption Standard): 128/192/256-bit symmetric block cipher. 10/12/14 rounds. SubBytes, ShiftRows, MixColumns, AddRoundKey operations. AES-256-GCM provides authenticated encryption (AEAD) — confidentiality + integrity simultaneously.</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SHA-3 (Keccak): Sponge construction with rate r and capacity c. Output length 224/256/384/512 bits. Pre-image resistance: 2^n, collision resistance: 2^(n/2). Unlike SHA-2, structurally unrelated — provides diversity against structural attacks.</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Zero-Knowledge Proofs: Prover convinces verifier of statement truth without revealing why. Three properties: Completeness (true statements accepted), Soundness (false rejected), Zero-Knowledge (no info leaked). zk-SNARKs: succinct non-interactive ZKP — used in Zcash, Ethereum L2 rollups.</a:t>
            </a:r>
            <a:endParaRPr lang="en-US" sz="1300" dirty="0"/>
          </a:p>
          <a:p>
            <a:pPr marL="342900" indent="-342900">
              <a:spcAft>
                <a:spcPts val="400"/>
              </a:spcAft>
              <a:buSzPct val="100000"/>
              <a:buChar char="•"/>
            </a:pPr>
            <a:r>
              <a:rPr lang="en-US" sz="1300" dirty="0">
                <a:solidFill>
                  <a:srgbClr val="2C3E50"/>
                </a:solidFill>
                <a:latin typeface="Calibri" pitchFamily="34" charset="0"/>
                <a:ea typeface="Calibri" pitchFamily="34" charset="-122"/>
                <a:cs typeface="Calibri" pitchFamily="34" charset="-120"/>
              </a:rPr>
              <a:t>Post-Quantum Cryptography (NIST Round 4): CRYSTALS-Kyber (key encapsulation, lattice), CRYSTALS-Dilithium (signatures, lattice), SPHINCS+ (signatures, hash-based). Classical RSA/ECC broken by Shor's algorithm on quantum computer with sufficient qubits.</a:t>
            </a:r>
            <a:endParaRPr lang="en-US" sz="1300" dirty="0"/>
          </a:p>
          <a:p>
            <a:pPr indent="0" marL="0">
              <a:buNone/>
            </a:pPr>
            <a:endParaRPr lang="en-US" sz="1300" dirty="0"/>
          </a:p>
        </p:txBody>
      </p:sp>
      <p:sp>
        <p:nvSpPr>
          <p:cNvPr id="5" name="Text 3"/>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Reference: NIST SP 800-131A Rev 2; Bernstein &amp; Lange (2017) Post-quantum cryptography. Nature.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E4057"/>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 Structures – Time and Space Complexity Reference</a:t>
            </a:r>
            <a:endParaRPr lang="en-US" sz="1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8595360" cy="914400"/>
        </p:xfrm>
        <a:graphic>
          <a:graphicData uri="http://schemas.openxmlformats.org/drawingml/2006/table">
            <a:tbl>
              <a:tblPr/>
              <a:tblGrid>
                <a:gridCol w="1828800"/>
                <a:gridCol w="1280160"/>
                <a:gridCol w="1280160"/>
                <a:gridCol w="1463040"/>
                <a:gridCol w="1463040"/>
                <a:gridCol w="1280160"/>
              </a:tblGrid>
              <a:tr h="0">
                <a:tc>
                  <a:txBody>
                    <a:bodyPr/>
                    <a:lstStyle/>
                    <a:p>
                      <a:pPr indent="0" marL="0">
                        <a:buNone/>
                      </a:pPr>
                      <a:r>
                        <a:rPr lang="en-US" sz="1100" b="1" dirty="0">
                          <a:solidFill>
                            <a:srgbClr val="FFFFFF"/>
                          </a:solidFill>
                        </a:rPr>
                        <a:t>Structure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Access</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Search</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Insert</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Delete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c>
                  <a:txBody>
                    <a:bodyPr/>
                    <a:lstStyle/>
                    <a:p>
                      <a:pPr indent="0" marL="0">
                        <a:buNone/>
                      </a:pPr>
                      <a:r>
                        <a:rPr lang="en-US" sz="1100" b="1" dirty="0">
                          <a:solidFill>
                            <a:srgbClr val="FFFFFF"/>
                          </a:solidFill>
                        </a:rPr>
                        <a:t>Space</a:t>
                      </a:r>
                      <a:endParaRPr lang="en-US" sz="11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2E4057"/>
                    </a:solidFill>
                  </a:tcPr>
                </a:tc>
              </a:tr>
              <a:tr h="0">
                <a:tc>
                  <a:txBody>
                    <a:bodyPr/>
                    <a:lstStyle/>
                    <a:p>
                      <a:pPr indent="0" marL="0">
                        <a:buNone/>
                      </a:pPr>
                      <a:r>
                        <a:rPr lang="en-US" sz="1000" dirty="0">
                          <a:solidFill>
                            <a:srgbClr val="2C3E50"/>
                          </a:solidFill>
                        </a:rPr>
                        <a:t>Array</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O(1)</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Linked List</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O(1)*</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O(1)*</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Hash Table</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N/A</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O(1) avg</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O(1) avg</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O(1) avg</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BST (balanced)</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AVL Tree</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Heap (binary)</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O(1)†</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B-Tree (order m)</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Trie</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O(k)</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O(k)</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O(k)</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O(k)</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O(n·k)</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2C3E50"/>
                          </a:solidFill>
                        </a:rPr>
                        <a:t>Skip List</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 avg</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c>
                  <a:txBody>
                    <a:bodyPr/>
                    <a:lstStyle/>
                    <a:p>
                      <a:pPr indent="0" marL="0">
                        <a:buNone/>
                      </a:pPr>
                      <a:r>
                        <a:rPr lang="en-US" sz="1000" dirty="0">
                          <a:solidFill>
                            <a:srgbClr val="2C3E50"/>
                          </a:solidFill>
                        </a:rPr>
                        <a:t>O(n log 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EBF5FB"/>
                    </a:solidFill>
                  </a:tcPr>
                </a:tc>
              </a:tr>
              <a:tr h="0">
                <a:tc>
                  <a:txBody>
                    <a:bodyPr/>
                    <a:lstStyle/>
                    <a:p>
                      <a:pPr indent="0" marL="0">
                        <a:buNone/>
                      </a:pPr>
                      <a:r>
                        <a:rPr lang="en-US" sz="1000" dirty="0">
                          <a:solidFill>
                            <a:srgbClr val="2C3E50"/>
                          </a:solidFill>
                        </a:rPr>
                        <a:t>Fibonacci Heap</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N/A</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O(1) amort.</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O(log n) amort.</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c>
                  <a:txBody>
                    <a:bodyPr/>
                    <a:lstStyle/>
                    <a:p>
                      <a:pPr indent="0" marL="0">
                        <a:buNone/>
                      </a:pPr>
                      <a:r>
                        <a:rPr lang="en-US" sz="1000" dirty="0">
                          <a:solidFill>
                            <a:srgbClr val="2C3E50"/>
                          </a:solidFill>
                        </a:rPr>
                        <a:t>O(n)</a:t>
                      </a:r>
                      <a:endParaRPr lang="en-US" sz="1000" dirty="0"/>
                    </a:p>
                  </a:txBody>
                  <a:tcPr marL="91440" marR="91440" marT="45720" marB="45720">
                    <a:lnL w="6350" cap="flat" cmpd="sng" algn="ctr">
                      <a:solidFill>
                        <a:srgbClr val="B3C6D9"/>
                      </a:solidFill>
                      <a:prstDash val="solid"/>
                      <a:round/>
                      <a:headEnd type="none" w="med" len="med"/>
                      <a:tailEnd type="none" w="med" len="med"/>
                    </a:lnL>
                    <a:lnR w="6350" cap="flat" cmpd="sng" algn="ctr">
                      <a:solidFill>
                        <a:srgbClr val="B3C6D9"/>
                      </a:solidFill>
                      <a:prstDash val="solid"/>
                      <a:round/>
                      <a:headEnd type="none" w="med" len="med"/>
                      <a:tailEnd type="none" w="med" len="med"/>
                    </a:lnR>
                    <a:lnT w="6350" cap="flat" cmpd="sng" algn="ctr">
                      <a:solidFill>
                        <a:srgbClr val="B3C6D9"/>
                      </a:solidFill>
                      <a:prstDash val="solid"/>
                      <a:round/>
                      <a:headEnd type="none" w="med" len="med"/>
                      <a:tailEnd type="none" w="med" len="med"/>
                    </a:lnT>
                    <a:lnB w="6350" cap="flat" cmpd="sng" algn="ctr">
                      <a:solidFill>
                        <a:srgbClr val="B3C6D9"/>
                      </a:solidFill>
                      <a:prstDash val="solid"/>
                      <a:round/>
                      <a:headEnd type="none" w="med" len="med"/>
                      <a:tailEnd type="none" w="med" len="med"/>
                    </a:lnB>
                    <a:solidFill>
                      <a:srgbClr val="FFFFFF"/>
                    </a:solidFill>
                  </a:tcPr>
                </a:tc>
              </a:tr>
            </a:tbl>
          </a:graphicData>
        </a:graphic>
      </p:graphicFrame>
      <p:sp>
        <p:nvSpPr>
          <p:cNvPr id="5" name="Text 2"/>
          <p:cNvSpPr/>
          <p:nvPr/>
        </p:nvSpPr>
        <p:spPr>
          <a:xfrm>
            <a:off x="274320" y="4663440"/>
            <a:ext cx="8595360" cy="365760"/>
          </a:xfrm>
          <a:prstGeom prst="rect">
            <a:avLst/>
          </a:prstGeom>
          <a:noFill/>
          <a:ln/>
        </p:spPr>
        <p:txBody>
          <a:bodyPr wrap="square" rtlCol="0" anchor="ctr"/>
          <a:lstStyle/>
          <a:p>
            <a:pPr indent="0" marL="0">
              <a:buNone/>
            </a:pPr>
            <a:r>
              <a:rPr lang="en-US" sz="1000" i="1" dirty="0">
                <a:solidFill>
                  <a:srgbClr val="7F8C8D"/>
                </a:solidFill>
                <a:latin typeface="Calibri" pitchFamily="34" charset="0"/>
                <a:ea typeface="Calibri" pitchFamily="34" charset="-122"/>
                <a:cs typeface="Calibri" pitchFamily="34" charset="-120"/>
              </a:rPr>
              <a:t>* Assumes O(1) access to node pointer. † Min/max only. k = key length. n = number of elements. All complexities are worst-case unless marked 'avg' or 'amort.'</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E4057"/>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7A589"/>
          </a:solidFill>
          <a:ln/>
        </p:spPr>
      </p:sp>
      <p:sp>
        <p:nvSpPr>
          <p:cNvPr id="3" name="Text 1"/>
          <p:cNvSpPr/>
          <p:nvPr/>
        </p:nvSpPr>
        <p:spPr>
          <a:xfrm>
            <a:off x="365760" y="914400"/>
            <a:ext cx="8412480" cy="548640"/>
          </a:xfrm>
          <a:prstGeom prst="rect">
            <a:avLst/>
          </a:prstGeom>
          <a:noFill/>
          <a:ln/>
        </p:spPr>
        <p:txBody>
          <a:bodyPr wrap="square" rtlCol="0" anchor="ctr"/>
          <a:lstStyle/>
          <a:p>
            <a:pPr indent="0" marL="0">
              <a:buNone/>
            </a:pPr>
            <a:r>
              <a:rPr lang="en-US" sz="1600" b="1" spc="500" kern="0" dirty="0">
                <a:solidFill>
                  <a:srgbClr val="17A589"/>
                </a:solidFill>
                <a:latin typeface="Calibri" pitchFamily="34" charset="0"/>
                <a:ea typeface="Calibri" pitchFamily="34" charset="-122"/>
                <a:cs typeface="Calibri" pitchFamily="34" charset="-120"/>
              </a:rPr>
              <a:t>SECTION 11</a:t>
            </a:r>
            <a:endParaRPr lang="en-US" sz="1600" dirty="0"/>
          </a:p>
        </p:txBody>
      </p:sp>
      <p:sp>
        <p:nvSpPr>
          <p:cNvPr id="4" name="Text 2"/>
          <p:cNvSpPr/>
          <p:nvPr/>
        </p:nvSpPr>
        <p:spPr>
          <a:xfrm>
            <a:off x="365760" y="1463040"/>
            <a:ext cx="8412480" cy="146304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Biochemistry &amp; Molecular Biology</a:t>
            </a:r>
            <a:endParaRPr lang="en-US" sz="3400" dirty="0"/>
          </a:p>
        </p:txBody>
      </p:sp>
      <p:sp>
        <p:nvSpPr>
          <p:cNvPr id="5" name="Text 3"/>
          <p:cNvSpPr/>
          <p:nvPr/>
        </p:nvSpPr>
        <p:spPr>
          <a:xfrm>
            <a:off x="365760" y="2926080"/>
            <a:ext cx="8412480" cy="731520"/>
          </a:xfrm>
          <a:prstGeom prst="rect">
            <a:avLst/>
          </a:prstGeom>
          <a:noFill/>
          <a:ln/>
        </p:spPr>
        <p:txBody>
          <a:bodyPr wrap="square" rtlCol="0" anchor="ctr"/>
          <a:lstStyle/>
          <a:p>
            <a:pPr indent="0" marL="0">
              <a:buNone/>
            </a:pPr>
            <a:r>
              <a:rPr lang="en-US" sz="1500" dirty="0">
                <a:solidFill>
                  <a:srgbClr val="A9DFBF"/>
                </a:solidFill>
                <a:latin typeface="Calibri" pitchFamily="34" charset="0"/>
                <a:ea typeface="Calibri" pitchFamily="34" charset="-122"/>
                <a:cs typeface="Calibri" pitchFamily="34" charset="-120"/>
              </a:rPr>
              <a:t>Enzymes, DNA, and Metabolic Pathways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3E50"/>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Enzyme Kinetics – Michaelis-Menten, Lineweaver-Burk &amp; Inhibition</a:t>
            </a:r>
            <a:endParaRPr lang="en-US" sz="2000" dirty="0"/>
          </a:p>
        </p:txBody>
      </p:sp>
      <p:sp>
        <p:nvSpPr>
          <p:cNvPr id="4" name="Shape 2"/>
          <p:cNvSpPr/>
          <p:nvPr/>
        </p:nvSpPr>
        <p:spPr>
          <a:xfrm>
            <a:off x="457200" y="822960"/>
            <a:ext cx="8229600" cy="502920"/>
          </a:xfrm>
          <a:prstGeom prst="rect">
            <a:avLst/>
          </a:prstGeom>
          <a:solidFill>
            <a:srgbClr val="F0F3F4"/>
          </a:solidFill>
          <a:ln w="19050">
            <a:solidFill>
              <a:srgbClr val="17A589"/>
            </a:solidFill>
            <a:prstDash val="solid"/>
          </a:ln>
        </p:spPr>
      </p:sp>
      <p:sp>
        <p:nvSpPr>
          <p:cNvPr id="5" name="Text 3"/>
          <p:cNvSpPr/>
          <p:nvPr/>
        </p:nvSpPr>
        <p:spPr>
          <a:xfrm>
            <a:off x="548640" y="8503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Michaelis-Menten: v = V_max[S] / (K_M + [S])  ;  at [S]=K_M: v = V_max/2</a:t>
            </a:r>
            <a:endParaRPr lang="en-US" sz="1400" dirty="0"/>
          </a:p>
        </p:txBody>
      </p:sp>
      <p:sp>
        <p:nvSpPr>
          <p:cNvPr id="6" name="Shape 4"/>
          <p:cNvSpPr/>
          <p:nvPr/>
        </p:nvSpPr>
        <p:spPr>
          <a:xfrm>
            <a:off x="457200" y="1417320"/>
            <a:ext cx="8229600" cy="502920"/>
          </a:xfrm>
          <a:prstGeom prst="rect">
            <a:avLst/>
          </a:prstGeom>
          <a:solidFill>
            <a:srgbClr val="F0F3F4"/>
          </a:solidFill>
          <a:ln w="19050">
            <a:solidFill>
              <a:srgbClr val="17A589"/>
            </a:solidFill>
            <a:prstDash val="solid"/>
          </a:ln>
        </p:spPr>
      </p:sp>
      <p:sp>
        <p:nvSpPr>
          <p:cNvPr id="7" name="Text 5"/>
          <p:cNvSpPr/>
          <p:nvPr/>
        </p:nvSpPr>
        <p:spPr>
          <a:xfrm>
            <a:off x="548640" y="14447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Lineweaver-Burk (double-reciprocal): 1/v = (K_M/V_max)(1/[S]) + 1/V_max</a:t>
            </a:r>
            <a:endParaRPr lang="en-US" sz="1400" dirty="0"/>
          </a:p>
        </p:txBody>
      </p:sp>
      <p:sp>
        <p:nvSpPr>
          <p:cNvPr id="8" name="Shape 6"/>
          <p:cNvSpPr/>
          <p:nvPr/>
        </p:nvSpPr>
        <p:spPr>
          <a:xfrm>
            <a:off x="457200" y="2011680"/>
            <a:ext cx="8229600" cy="502920"/>
          </a:xfrm>
          <a:prstGeom prst="rect">
            <a:avLst/>
          </a:prstGeom>
          <a:solidFill>
            <a:srgbClr val="F0F3F4"/>
          </a:solidFill>
          <a:ln w="19050">
            <a:solidFill>
              <a:srgbClr val="17A589"/>
            </a:solidFill>
            <a:prstDash val="solid"/>
          </a:ln>
        </p:spPr>
      </p:sp>
      <p:sp>
        <p:nvSpPr>
          <p:cNvPr id="9" name="Text 7"/>
          <p:cNvSpPr/>
          <p:nvPr/>
        </p:nvSpPr>
        <p:spPr>
          <a:xfrm>
            <a:off x="548640" y="203911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Catalytic Efficiency: k_cat/K_M  [M⁻¹s⁻¹]  (diffusion limit ~10⁸–10⁹)</a:t>
            </a:r>
            <a:endParaRPr lang="en-US" sz="1400" dirty="0"/>
          </a:p>
        </p:txBody>
      </p:sp>
      <p:sp>
        <p:nvSpPr>
          <p:cNvPr id="10" name="Shape 8"/>
          <p:cNvSpPr/>
          <p:nvPr/>
        </p:nvSpPr>
        <p:spPr>
          <a:xfrm>
            <a:off x="457200" y="2606040"/>
            <a:ext cx="8229600" cy="502920"/>
          </a:xfrm>
          <a:prstGeom prst="rect">
            <a:avLst/>
          </a:prstGeom>
          <a:solidFill>
            <a:srgbClr val="F0F3F4"/>
          </a:solidFill>
          <a:ln w="19050">
            <a:solidFill>
              <a:srgbClr val="17A589"/>
            </a:solidFill>
            <a:prstDash val="solid"/>
          </a:ln>
        </p:spPr>
      </p:sp>
      <p:sp>
        <p:nvSpPr>
          <p:cNvPr id="11" name="Text 9"/>
          <p:cNvSpPr/>
          <p:nvPr/>
        </p:nvSpPr>
        <p:spPr>
          <a:xfrm>
            <a:off x="548640" y="263347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Competitive Inhibition: K_M_app = K_M(1 + [I]/K_i)  ;  V_max unchanged</a:t>
            </a:r>
            <a:endParaRPr lang="en-US" sz="1400" dirty="0"/>
          </a:p>
        </p:txBody>
      </p:sp>
      <p:sp>
        <p:nvSpPr>
          <p:cNvPr id="12" name="Shape 10"/>
          <p:cNvSpPr/>
          <p:nvPr/>
        </p:nvSpPr>
        <p:spPr>
          <a:xfrm>
            <a:off x="457200" y="3200400"/>
            <a:ext cx="8229600" cy="502920"/>
          </a:xfrm>
          <a:prstGeom prst="rect">
            <a:avLst/>
          </a:prstGeom>
          <a:solidFill>
            <a:srgbClr val="F0F3F4"/>
          </a:solidFill>
          <a:ln w="19050">
            <a:solidFill>
              <a:srgbClr val="17A589"/>
            </a:solidFill>
            <a:prstDash val="solid"/>
          </a:ln>
        </p:spPr>
      </p:sp>
      <p:sp>
        <p:nvSpPr>
          <p:cNvPr id="13" name="Text 11"/>
          <p:cNvSpPr/>
          <p:nvPr/>
        </p:nvSpPr>
        <p:spPr>
          <a:xfrm>
            <a:off x="548640" y="322783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Uncompetitive Inhibition: V_max_app = V_max/(1+[I]/K_i)  ;  K_M_app = K_M/(1+[I]/K_i)</a:t>
            </a:r>
            <a:endParaRPr lang="en-US" sz="1400" dirty="0"/>
          </a:p>
        </p:txBody>
      </p:sp>
      <p:sp>
        <p:nvSpPr>
          <p:cNvPr id="14" name="Shape 12"/>
          <p:cNvSpPr/>
          <p:nvPr/>
        </p:nvSpPr>
        <p:spPr>
          <a:xfrm>
            <a:off x="457200" y="3794760"/>
            <a:ext cx="8229600" cy="502920"/>
          </a:xfrm>
          <a:prstGeom prst="rect">
            <a:avLst/>
          </a:prstGeom>
          <a:solidFill>
            <a:srgbClr val="F0F3F4"/>
          </a:solidFill>
          <a:ln w="19050">
            <a:solidFill>
              <a:srgbClr val="17A589"/>
            </a:solidFill>
            <a:prstDash val="solid"/>
          </a:ln>
        </p:spPr>
      </p:sp>
      <p:sp>
        <p:nvSpPr>
          <p:cNvPr id="15" name="Text 13"/>
          <p:cNvSpPr/>
          <p:nvPr/>
        </p:nvSpPr>
        <p:spPr>
          <a:xfrm>
            <a:off x="548640" y="382219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Non-competitive Inhibition: V_max_app = V_max/(1+[I]/K_i)  ;  K_M unchanged</a:t>
            </a:r>
            <a:endParaRPr lang="en-US" sz="1400" dirty="0"/>
          </a:p>
        </p:txBody>
      </p:sp>
      <p:sp>
        <p:nvSpPr>
          <p:cNvPr id="16" name="Shape 14"/>
          <p:cNvSpPr/>
          <p:nvPr/>
        </p:nvSpPr>
        <p:spPr>
          <a:xfrm>
            <a:off x="457200" y="4389120"/>
            <a:ext cx="8229600" cy="502920"/>
          </a:xfrm>
          <a:prstGeom prst="rect">
            <a:avLst/>
          </a:prstGeom>
          <a:solidFill>
            <a:srgbClr val="F0F3F4"/>
          </a:solidFill>
          <a:ln w="19050">
            <a:solidFill>
              <a:srgbClr val="17A589"/>
            </a:solidFill>
            <a:prstDash val="solid"/>
          </a:ln>
        </p:spPr>
      </p:sp>
      <p:sp>
        <p:nvSpPr>
          <p:cNvPr id="17" name="Text 15"/>
          <p:cNvSpPr/>
          <p:nvPr/>
        </p:nvSpPr>
        <p:spPr>
          <a:xfrm>
            <a:off x="548640" y="4416552"/>
            <a:ext cx="8046720" cy="457200"/>
          </a:xfrm>
          <a:prstGeom prst="rect">
            <a:avLst/>
          </a:prstGeom>
          <a:noFill/>
          <a:ln/>
        </p:spPr>
        <p:txBody>
          <a:bodyPr wrap="square" rtlCol="0" anchor="ctr"/>
          <a:lstStyle/>
          <a:p>
            <a:pPr indent="0" marL="0">
              <a:buNone/>
            </a:pPr>
            <a:r>
              <a:rPr lang="en-US" sz="1400" b="1" dirty="0">
                <a:solidFill>
                  <a:srgbClr val="2E4057"/>
                </a:solidFill>
                <a:latin typeface="Consolas" pitchFamily="34" charset="0"/>
                <a:ea typeface="Consolas" pitchFamily="34" charset="-122"/>
                <a:cs typeface="Consolas" pitchFamily="34" charset="-120"/>
              </a:rPr>
              <a:t>Hill Equation: v = V_max[S]^n / (K₀.₅ⁿ + [S]^n)  ;  n&gt;1: positive cooperativity</a:t>
            </a:r>
            <a:endParaRPr lang="en-US" sz="1400" dirty="0"/>
          </a:p>
        </p:txBody>
      </p:sp>
      <p:sp>
        <p:nvSpPr>
          <p:cNvPr id="18" name="Text 16"/>
          <p:cNvSpPr/>
          <p:nvPr/>
        </p:nvSpPr>
        <p:spPr>
          <a:xfrm>
            <a:off x="457200" y="4983480"/>
            <a:ext cx="8229600" cy="-114300"/>
          </a:xfrm>
          <a:prstGeom prst="rect">
            <a:avLst/>
          </a:prstGeom>
          <a:noFill/>
          <a:ln/>
        </p:spPr>
        <p:txBody>
          <a:bodyPr wrap="square" rtlCol="0" anchor="ctr"/>
          <a:lstStyle/>
          <a:p>
            <a:pPr indent="0" marL="0">
              <a:buNone/>
            </a:pPr>
            <a:r>
              <a:rPr lang="en-US" sz="1200" dirty="0">
                <a:solidFill>
                  <a:srgbClr val="2C3E50"/>
                </a:solidFill>
                <a:latin typeface="Calibri" pitchFamily="34" charset="0"/>
                <a:ea typeface="Calibri" pitchFamily="34" charset="-122"/>
                <a:cs typeface="Calibri" pitchFamily="34" charset="-120"/>
              </a:rPr>
              <a:t>K_M is the substrate concentration at half-maximal velocity — a measure of enzyme-substrate affinity (lower K_M = higher affinity). k_cat (turnover number) is the maximum rate of substrate conversion per active site per unit time. Allosteric enzymes with Hill coefficient n&gt;1 show sigmoidal kinetics and are key regulatory points in metabolic pathways.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7"/>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Major Metabolic Pathways – Location, ATP Yield &amp; Key Enzymes</a:t>
            </a:r>
            <a:endParaRPr lang="en-US" sz="1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914400"/>
        </p:xfrm>
        <a:graphic>
          <a:graphicData uri="http://schemas.openxmlformats.org/drawingml/2006/table">
            <a:tbl>
              <a:tblPr/>
              <a:tblGrid>
                <a:gridCol w="1645920"/>
                <a:gridCol w="1645920"/>
                <a:gridCol w="1645920"/>
                <a:gridCol w="2286000"/>
                <a:gridCol w="1554480"/>
              </a:tblGrid>
              <a:tr h="0">
                <a:tc>
                  <a:txBody>
                    <a:bodyPr/>
                    <a:lstStyle/>
                    <a:p>
                      <a:pPr indent="0" marL="0">
                        <a:buNone/>
                      </a:pPr>
                      <a:r>
                        <a:rPr lang="en-US" sz="1050" b="1" dirty="0">
                          <a:solidFill>
                            <a:srgbClr val="FFFFFF"/>
                          </a:solidFill>
                        </a:rPr>
                        <a:t>Pathway</a:t>
                      </a:r>
                      <a:endParaRPr lang="en-US" sz="105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rPr>
                        <a:t>Location</a:t>
                      </a:r>
                      <a:endParaRPr lang="en-US" sz="105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rPr>
                        <a:t>Net ATP Yield</a:t>
                      </a:r>
                      <a:endParaRPr lang="en-US" sz="105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rPr>
                        <a:t>Key Enzymes</a:t>
                      </a:r>
                      <a:endParaRPr lang="en-US" sz="105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c>
                  <a:txBody>
                    <a:bodyPr/>
                    <a:lstStyle/>
                    <a:p>
                      <a:pPr indent="0" marL="0">
                        <a:buNone/>
                      </a:pPr>
                      <a:r>
                        <a:rPr lang="en-US" sz="1050" b="1" dirty="0">
                          <a:solidFill>
                            <a:srgbClr val="FFFFFF"/>
                          </a:solidFill>
                        </a:rPr>
                        <a:t>Regulation</a:t>
                      </a:r>
                      <a:endParaRPr lang="en-US" sz="105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0D1B2A"/>
                    </a:solidFill>
                  </a:tcPr>
                </a:tc>
              </a:tr>
              <a:tr h="0">
                <a:tc>
                  <a:txBody>
                    <a:bodyPr/>
                    <a:lstStyle/>
                    <a:p>
                      <a:pPr indent="0" marL="0">
                        <a:buNone/>
                      </a:pPr>
                      <a:r>
                        <a:rPr lang="en-US" sz="900" dirty="0">
                          <a:solidFill>
                            <a:srgbClr val="2C3E50"/>
                          </a:solidFill>
                        </a:rPr>
                        <a:t>Glycolysis</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Cytoplasm</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2 ATP net (4 gross)</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Hexokinase, PFK-1, Pyruvate kinase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F2,6-BP; ATP:AMP ratio</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Citric Acid Cycle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Mitochondrial matrix</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2 ATP + 8 NADH + 2 FADH₂</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Isocitrate DH, α-KG DH, SDH</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NADH; ATP; Ca²⁺</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Oxid. Phosphorylation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Inner mito. membrane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~32–34 ATP total</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Complex I–IV; ATP synthase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ADP availability; O₂</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Fatty Acid Oxidation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Mitochondria (mostly)</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Varies by chain length</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Acyl-CoA DH, Enoyl DH</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Malonyl-CoA (inhib)</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Fatty Acid Synthesis</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Cytoplasm</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Consumes 7 ATP + 14 NADPH</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ACC, FAS complex</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Insulin; glucagon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Pentose Phosphate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Cytoplasm</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0 (generates NADPH)</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G6PDH, 6-PGD</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NADP⁺:NADPH ratio</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2C3E50"/>
                          </a:solidFill>
                        </a:rPr>
                        <a:t>Gluconeogenesis</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Liver cytoplasm/mito.</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Consumes 6 ATP equiv.</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PEPCK, FBPase-1, G6Pase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c>
                  <a:txBody>
                    <a:bodyPr/>
                    <a:lstStyle/>
                    <a:p>
                      <a:pPr indent="0" marL="0">
                        <a:buNone/>
                      </a:pPr>
                      <a:r>
                        <a:rPr lang="en-US" sz="900" dirty="0">
                          <a:solidFill>
                            <a:srgbClr val="2C3E50"/>
                          </a:solidFill>
                        </a:rPr>
                        <a:t>Cortisol; glucagon</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EAF2FF"/>
                    </a:solidFill>
                  </a:tcPr>
                </a:tc>
              </a:tr>
              <a:tr h="0">
                <a:tc>
                  <a:txBody>
                    <a:bodyPr/>
                    <a:lstStyle/>
                    <a:p>
                      <a:pPr indent="0" marL="0">
                        <a:buNone/>
                      </a:pPr>
                      <a:r>
                        <a:rPr lang="en-US" sz="900" dirty="0">
                          <a:solidFill>
                            <a:srgbClr val="2C3E50"/>
                          </a:solidFill>
                        </a:rPr>
                        <a:t>Urea Cycle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Liver (both compartments)</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Consumes 4 ATP equiv.</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CPS-I, Arginase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c>
                  <a:txBody>
                    <a:bodyPr/>
                    <a:lstStyle/>
                    <a:p>
                      <a:pPr indent="0" marL="0">
                        <a:buNone/>
                      </a:pPr>
                      <a:r>
                        <a:rPr lang="en-US" sz="900" dirty="0">
                          <a:solidFill>
                            <a:srgbClr val="2C3E50"/>
                          </a:solidFill>
                        </a:rPr>
                        <a:t>N-acetylglutamate</a:t>
                      </a:r>
                      <a:endParaRPr lang="en-US" sz="900" dirty="0"/>
                    </a:p>
                  </a:txBody>
                  <a:tcPr marL="91440" marR="91440" marT="45720" marB="45720">
                    <a:lnL w="6350" cap="flat" cmpd="sng" algn="ctr">
                      <a:solidFill>
                        <a:srgbClr val="BBCDE5"/>
                      </a:solidFill>
                      <a:prstDash val="solid"/>
                      <a:round/>
                      <a:headEnd type="none" w="med" len="med"/>
                      <a:tailEnd type="none" w="med" len="med"/>
                    </a:lnL>
                    <a:lnR w="6350" cap="flat" cmpd="sng" algn="ctr">
                      <a:solidFill>
                        <a:srgbClr val="BBCDE5"/>
                      </a:solidFill>
                      <a:prstDash val="solid"/>
                      <a:round/>
                      <a:headEnd type="none" w="med" len="med"/>
                      <a:tailEnd type="none" w="med" len="med"/>
                    </a:lnR>
                    <a:lnT w="6350" cap="flat" cmpd="sng" algn="ctr">
                      <a:solidFill>
                        <a:srgbClr val="BBCDE5"/>
                      </a:solidFill>
                      <a:prstDash val="solid"/>
                      <a:round/>
                      <a:headEnd type="none" w="med" len="med"/>
                      <a:tailEnd type="none" w="med" len="med"/>
                    </a:lnT>
                    <a:lnB w="6350" cap="flat" cmpd="sng" algn="ctr">
                      <a:solidFill>
                        <a:srgbClr val="BBCD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17A589"/>
          </a:solidFill>
          <a:ln/>
        </p:spPr>
      </p:sp>
      <p:sp>
        <p:nvSpPr>
          <p:cNvPr id="3" name="Text 1"/>
          <p:cNvSpPr/>
          <p:nvPr/>
        </p:nvSpPr>
        <p:spPr>
          <a:xfrm>
            <a:off x="365760" y="274320"/>
            <a:ext cx="841248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Document Index &amp; Content Summary</a:t>
            </a:r>
            <a:endParaRPr lang="en-US" sz="2800" dirty="0"/>
          </a:p>
        </p:txBody>
      </p:sp>
      <p:sp>
        <p:nvSpPr>
          <p:cNvPr id="4" name="Text 2"/>
          <p:cNvSpPr/>
          <p:nvPr/>
        </p:nvSpPr>
        <p:spPr>
          <a:xfrm>
            <a:off x="365760" y="1097280"/>
            <a:ext cx="8412480" cy="2651760"/>
          </a:xfrm>
          <a:prstGeom prst="rect">
            <a:avLst/>
          </a:prstGeom>
          <a:noFill/>
          <a:ln/>
        </p:spPr>
        <p:txBody>
          <a:bodyPr wrap="square" rtlCol="0" anchor="ctr"/>
          <a:lstStyle/>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§1 Classical Mechanics – Slides 3–5 · Newton's Laws, Kinematics, Rotational Dynamics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§2 Thermodynamics – Slides 7–9 · Laws, Ideal Gas Processes, Entropy &amp; Boltzmann</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§3 Electromagnetism – Slides 11–12 · Maxwell's Equations, AC Circuit Analysis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§4 Quantum Mechanics – Slides 14–15 · Schrödinger, Hydrogen Atom, Quantum Numbers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§5 Calculus &amp; ODEs – Slides 17–18 · Fundamental Theorem, Transform Methods, ODE Types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§6 Probability &amp; Statistics – Slides 20–22 · Distributions, Hypothesis Testing, Bayesian</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§7 Linear Algebra – Slides 25–26 · Decompositions, Vector Spaces, Inner Products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§8 Information Theory – Slides 28–29 · Shannon Entropy, Channel Capacity, ECC</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§9 Special Relativity – Slides 31–32 · Lorentz, Relativistic Kinematics, Standard Model</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§10 CS &amp; Algorithms – Slides 34–36 · Complexity Classes, Cryptography, Data Structures</a:t>
            </a:r>
            <a:endParaRPr lang="en-US" sz="1100" dirty="0"/>
          </a:p>
          <a:p>
            <a:pPr marL="342900" indent="-342900">
              <a:spcAft>
                <a:spcPts val="200"/>
              </a:spcAft>
              <a:buSzPct val="100000"/>
              <a:buChar char="•"/>
            </a:pPr>
            <a:r>
              <a:rPr lang="en-US" sz="1100" dirty="0">
                <a:solidFill>
                  <a:srgbClr val="ECF0F1"/>
                </a:solidFill>
                <a:latin typeface="Calibri" pitchFamily="34" charset="0"/>
                <a:ea typeface="Calibri" pitchFamily="34" charset="-122"/>
                <a:cs typeface="Calibri" pitchFamily="34" charset="-120"/>
              </a:rPr>
              <a:t>§11 Biochemistry – Slides 38–39 · Enzyme Kinetics, Metabolic Pathway Reference</a:t>
            </a:r>
            <a:pPr indent="0" marL="0">
              <a:buNone/>
            </a:pPr>
            <a:endParaRPr lang="en-US" sz="1100" dirty="0"/>
          </a:p>
        </p:txBody>
      </p:sp>
      <p:sp>
        <p:nvSpPr>
          <p:cNvPr id="5" name="Text 3"/>
          <p:cNvSpPr/>
          <p:nvPr/>
        </p:nvSpPr>
        <p:spPr>
          <a:xfrm>
            <a:off x="365760" y="4023360"/>
            <a:ext cx="841248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Studymaxing Extraction Test Suite  |  English Edition  |  40 Slides  |  Dense Reference Content</a:t>
            </a:r>
            <a:endParaRPr lang="en-US" sz="1300" dirty="0"/>
          </a:p>
        </p:txBody>
      </p:sp>
      <p:sp>
        <p:nvSpPr>
          <p:cNvPr id="6" name="Text 4"/>
          <p:cNvSpPr/>
          <p:nvPr/>
        </p:nvSpPr>
        <p:spPr>
          <a:xfrm>
            <a:off x="365760" y="4526280"/>
            <a:ext cx="8412480" cy="45720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Generated for system extraction testing. Contains equations, tables, charts, multi-column layouts, mixed font sizes, and hierarchical structures.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Extraction Test – English</dc:title>
  <dc:subject>PptxGenJS Presentation</dc:subject>
  <dc:creator>Studymaxing QA</dc:creator>
  <cp:lastModifiedBy>Studymaxing QA</cp:lastModifiedBy>
  <cp:revision>1</cp:revision>
  <dcterms:created xsi:type="dcterms:W3CDTF">2026-06-05T20:08:28Z</dcterms:created>
  <dcterms:modified xsi:type="dcterms:W3CDTF">2026-06-05T20:08:28Z</dcterms:modified>
</cp:coreProperties>
</file>